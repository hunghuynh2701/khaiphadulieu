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7772400" cy="10058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68" userDrawn="1">
          <p15:clr>
            <a:srgbClr val="A4A3A4"/>
          </p15:clr>
        </p15:guide>
        <p15:guide id="2" pos="24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p:scale>
          <a:sx n="125" d="100"/>
          <a:sy n="125" d="100"/>
        </p:scale>
        <p:origin x="691" y="-1570"/>
      </p:cViewPr>
      <p:guideLst>
        <p:guide orient="horz" pos="3168"/>
        <p:guide pos="2448"/>
      </p:guideLst>
    </p:cSldViewPr>
  </p:slideViewPr>
  <p:notesTextViewPr>
    <p:cViewPr>
      <p:scale>
        <a:sx n="1" d="1"/>
        <a:sy n="1" d="1"/>
      </p:scale>
      <p:origin x="0" y="0"/>
    </p:cViewPr>
  </p:notesTextViewPr>
  <p:sorterViewPr>
    <p:cViewPr varScale="1">
      <p:scale>
        <a:sx n="100" d="100"/>
        <a:sy n="100" d="100"/>
      </p:scale>
      <p:origin x="0" y="-596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060704" y="749808"/>
            <a:ext cx="5443728" cy="188976"/>
          </a:xfrm>
          <a:prstGeom prst="rect">
            <a:avLst/>
          </a:prstGeom>
        </p:spPr>
        <p:txBody>
          <a:bodyPr wrap="none" lIns="0" tIns="0" rIns="0" bIns="0">
            <a:noAutofit/>
          </a:bodyPr>
          <a:lstStyle/>
          <a:p>
            <a:pPr indent="0"/>
            <a:r>
              <a:rPr lang="en-US" sz="1500" b="1">
                <a:latin typeface="Times New Roman"/>
              </a:rPr>
              <a:t>Ex1: Given a collection dataset as following:</a:t>
            </a:r>
          </a:p>
        </p:txBody>
      </p:sp>
      <p:sp>
        <p:nvSpPr>
          <p:cNvPr id="3" name="Rectangle 2"/>
          <p:cNvSpPr/>
          <p:nvPr/>
        </p:nvSpPr>
        <p:spPr>
          <a:xfrm>
            <a:off x="1060704" y="1054608"/>
            <a:ext cx="5443728" cy="1908048"/>
          </a:xfrm>
          <a:prstGeom prst="rect">
            <a:avLst/>
          </a:prstGeom>
        </p:spPr>
        <p:txBody>
          <a:bodyPr lIns="0" tIns="0" rIns="0" bIns="0">
            <a:noAutofit/>
          </a:bodyPr>
          <a:lstStyle/>
          <a:p>
            <a:pPr indent="0">
              <a:lnSpc>
                <a:spcPts val="2232"/>
              </a:lnSpc>
            </a:pPr>
            <a:r>
              <a:rPr lang="vi" sz="1200">
                <a:latin typeface="Times New Roman"/>
              </a:rPr>
              <a:t>Cho tập dữ liệu mẫu và điểm cần phân loại </a:t>
            </a:r>
            <a:r>
              <a:rPr lang="vi" sz="1200" b="1">
                <a:latin typeface="Times New Roman"/>
              </a:rPr>
              <a:t>z = 5.0</a:t>
            </a:r>
            <a:r>
              <a:rPr lang="vi" sz="1200">
                <a:latin typeface="Times New Roman"/>
              </a:rPr>
              <a:t>. Áp dụng thuật toán K-Nearest </a:t>
            </a:r>
            <a:r>
              <a:rPr lang="en-US" sz="1200">
                <a:latin typeface="Times New Roman"/>
              </a:rPr>
              <a:t>Neighbors </a:t>
            </a:r>
            <a:r>
              <a:rPr lang="vi" sz="1200">
                <a:latin typeface="Times New Roman"/>
              </a:rPr>
              <a:t>với k = 1, 3, 5, 9.</a:t>
            </a:r>
          </a:p>
          <a:p>
            <a:pPr indent="0">
              <a:lnSpc>
                <a:spcPts val="2232"/>
              </a:lnSpc>
            </a:pPr>
            <a:r>
              <a:rPr lang="vi" sz="1200">
                <a:latin typeface="Times New Roman"/>
              </a:rPr>
              <a:t>BƯỚC 1: XÁC ĐỊNH CÔNG THỨC</a:t>
            </a:r>
          </a:p>
          <a:p>
            <a:pPr indent="0">
              <a:lnSpc>
                <a:spcPts val="2232"/>
              </a:lnSpc>
            </a:pPr>
            <a:r>
              <a:rPr lang="vi" sz="1200">
                <a:latin typeface="Times New Roman"/>
              </a:rPr>
              <a:t>Sử dụng khoảng cách </a:t>
            </a:r>
            <a:r>
              <a:rPr lang="en-US" sz="1200">
                <a:latin typeface="Times New Roman"/>
              </a:rPr>
              <a:t>Euclidean </a:t>
            </a:r>
            <a:r>
              <a:rPr lang="vi" sz="1200">
                <a:latin typeface="Times New Roman"/>
              </a:rPr>
              <a:t>cho dữ liệu 1 chiều:</a:t>
            </a:r>
          </a:p>
          <a:p>
            <a:pPr indent="0">
              <a:lnSpc>
                <a:spcPts val="2232"/>
              </a:lnSpc>
            </a:pPr>
            <a:r>
              <a:rPr lang="vi" sz="1200" b="1">
                <a:latin typeface="Times New Roman"/>
              </a:rPr>
              <a:t>d(x, z) = |x - z| = |x - 5.0|</a:t>
            </a:r>
          </a:p>
          <a:p>
            <a:pPr indent="0">
              <a:lnSpc>
                <a:spcPts val="2232"/>
              </a:lnSpc>
            </a:pPr>
            <a:r>
              <a:rPr lang="vi" sz="1200">
                <a:latin typeface="Times New Roman"/>
              </a:rPr>
              <a:t>BƯỚC 2: BẢNG TÍHH KHOẢNG CÁCH Tính toán khoảng cách từ z đến từng điểm dữ liệu:</a:t>
            </a:r>
          </a:p>
        </p:txBody>
      </p:sp>
      <p:graphicFrame>
        <p:nvGraphicFramePr>
          <p:cNvPr id="4" name="Table 3"/>
          <p:cNvGraphicFramePr>
            <a:graphicFrameLocks noGrp="1"/>
          </p:cNvGraphicFramePr>
          <p:nvPr/>
        </p:nvGraphicFramePr>
        <p:xfrm>
          <a:off x="1088136" y="3051048"/>
          <a:ext cx="5952744" cy="5614416"/>
        </p:xfrm>
        <a:graphic>
          <a:graphicData uri="http://schemas.openxmlformats.org/drawingml/2006/table">
            <a:tbl>
              <a:tblPr/>
              <a:tblGrid>
                <a:gridCol w="5943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161288">
                  <a:extLst>
                    <a:ext uri="{9D8B030D-6E8A-4147-A177-3AD203B41FA5}">
                      <a16:colId xmlns:a16="http://schemas.microsoft.com/office/drawing/2014/main" val="20002"/>
                    </a:ext>
                  </a:extLst>
                </a:gridCol>
                <a:gridCol w="1743456">
                  <a:extLst>
                    <a:ext uri="{9D8B030D-6E8A-4147-A177-3AD203B41FA5}">
                      <a16:colId xmlns:a16="http://schemas.microsoft.com/office/drawing/2014/main" val="20003"/>
                    </a:ext>
                  </a:extLst>
                </a:gridCol>
                <a:gridCol w="1539240">
                  <a:extLst>
                    <a:ext uri="{9D8B030D-6E8A-4147-A177-3AD203B41FA5}">
                      <a16:colId xmlns:a16="http://schemas.microsoft.com/office/drawing/2014/main" val="20004"/>
                    </a:ext>
                  </a:extLst>
                </a:gridCol>
              </a:tblGrid>
              <a:tr h="505968">
                <a:tc>
                  <a:txBody>
                    <a:bodyPr/>
                    <a:lstStyle/>
                    <a:p>
                      <a:pPr marL="127000" indent="0"/>
                      <a:r>
                        <a:rPr lang="vi" sz="1200" b="1">
                          <a:latin typeface="Times New Roman"/>
                        </a:rPr>
                        <a:t>STT</a:t>
                      </a:r>
                    </a:p>
                  </a:txBody>
                  <a:tcPr marL="0" marR="0" marT="0" marB="0" anchor="ctr">
                    <a:solidFill>
                      <a:srgbClr val="34485D"/>
                    </a:solidFill>
                  </a:tcPr>
                </a:tc>
                <a:tc>
                  <a:txBody>
                    <a:bodyPr/>
                    <a:lstStyle/>
                    <a:p>
                      <a:pPr marL="127000" indent="0"/>
                      <a:r>
                        <a:rPr lang="vi" sz="1200" b="1">
                          <a:latin typeface="Times New Roman"/>
                        </a:rPr>
                        <a:t>Giá trị x</a:t>
                      </a:r>
                    </a:p>
                  </a:txBody>
                  <a:tcPr marL="0" marR="0" marT="0" marB="0" anchor="ctr">
                    <a:solidFill>
                      <a:srgbClr val="34485D"/>
                    </a:solidFill>
                  </a:tcPr>
                </a:tc>
                <a:tc>
                  <a:txBody>
                    <a:bodyPr/>
                    <a:lstStyle/>
                    <a:p>
                      <a:pPr marL="114300" indent="0"/>
                      <a:r>
                        <a:rPr lang="vi" sz="1200" b="1">
                          <a:latin typeface="Times New Roman"/>
                        </a:rPr>
                        <a:t>Lớp </a:t>
                      </a:r>
                      <a:r>
                        <a:rPr lang="en-US" sz="1200" b="1">
                          <a:latin typeface="Times New Roman"/>
                        </a:rPr>
                        <a:t>(Class)</a:t>
                      </a:r>
                    </a:p>
                  </a:txBody>
                  <a:tcPr marL="0" marR="0" marT="0" marB="0" anchor="ctr">
                    <a:solidFill>
                      <a:srgbClr val="34485D"/>
                    </a:solidFill>
                  </a:tcPr>
                </a:tc>
                <a:tc>
                  <a:txBody>
                    <a:bodyPr/>
                    <a:lstStyle/>
                    <a:p>
                      <a:pPr marL="127000" indent="0"/>
                      <a:r>
                        <a:rPr lang="vi" sz="1200" b="1">
                          <a:latin typeface="Times New Roman"/>
                        </a:rPr>
                        <a:t>Tính toán (|x - 5.0|)</a:t>
                      </a:r>
                    </a:p>
                  </a:txBody>
                  <a:tcPr marL="0" marR="0" marT="0" marB="0" anchor="ctr">
                    <a:solidFill>
                      <a:srgbClr val="34485D"/>
                    </a:solidFill>
                  </a:tcPr>
                </a:tc>
                <a:tc>
                  <a:txBody>
                    <a:bodyPr/>
                    <a:lstStyle/>
                    <a:p>
                      <a:pPr marL="114300" indent="0"/>
                      <a:r>
                        <a:rPr lang="vi" sz="1200" b="1">
                          <a:latin typeface="Times New Roman"/>
                        </a:rPr>
                        <a:t>Khoảng cách (d)</a:t>
                      </a:r>
                    </a:p>
                  </a:txBody>
                  <a:tcPr marL="0" marR="0" marT="0" marB="0" anchor="ctr">
                    <a:solidFill>
                      <a:srgbClr val="34485D"/>
                    </a:solidFill>
                  </a:tcPr>
                </a:tc>
                <a:extLst>
                  <a:ext uri="{0D108BD9-81ED-4DB2-BD59-A6C34878D82A}">
                    <a16:rowId xmlns:a16="http://schemas.microsoft.com/office/drawing/2014/main" val="10000"/>
                  </a:ext>
                </a:extLst>
              </a:tr>
              <a:tr h="490728">
                <a:tc>
                  <a:txBody>
                    <a:bodyPr/>
                    <a:lstStyle/>
                    <a:p>
                      <a:pPr marL="127000" indent="0"/>
                      <a:r>
                        <a:rPr lang="vi" sz="1200">
                          <a:latin typeface="Times New Roman"/>
                        </a:rPr>
                        <a:t>1</a:t>
                      </a:r>
                    </a:p>
                  </a:txBody>
                  <a:tcPr marL="0" marR="0" marT="0" marB="0" anchor="ctr"/>
                </a:tc>
                <a:tc>
                  <a:txBody>
                    <a:bodyPr/>
                    <a:lstStyle/>
                    <a:p>
                      <a:pPr marL="127000" indent="0"/>
                      <a:r>
                        <a:rPr lang="vi" sz="1200">
                          <a:latin typeface="Times New Roman"/>
                        </a:rPr>
                        <a:t>0.5</a:t>
                      </a:r>
                    </a:p>
                  </a:txBody>
                  <a:tcPr marL="0" marR="0" marT="0" marB="0" anchor="ctr"/>
                </a:tc>
                <a:tc>
                  <a:txBody>
                    <a:bodyPr/>
                    <a:lstStyle/>
                    <a:p>
                      <a:pPr marL="114300" indent="0"/>
                      <a:r>
                        <a:rPr lang="vi" sz="1200" b="1">
                          <a:latin typeface="Times New Roman"/>
                        </a:rPr>
                        <a:t>-</a:t>
                      </a:r>
                    </a:p>
                  </a:txBody>
                  <a:tcPr marL="0" marR="0" marT="0" marB="0" anchor="ctr"/>
                </a:tc>
                <a:tc>
                  <a:txBody>
                    <a:bodyPr/>
                    <a:lstStyle/>
                    <a:p>
                      <a:pPr marL="127000" indent="0"/>
                      <a:r>
                        <a:rPr lang="vi" sz="1200">
                          <a:latin typeface="Times New Roman"/>
                        </a:rPr>
                        <a:t>|0.5 - 5.0|</a:t>
                      </a:r>
                    </a:p>
                  </a:txBody>
                  <a:tcPr marL="0" marR="0" marT="0" marB="0" anchor="ctr"/>
                </a:tc>
                <a:tc>
                  <a:txBody>
                    <a:bodyPr/>
                    <a:lstStyle/>
                    <a:p>
                      <a:pPr marL="114300" indent="0"/>
                      <a:r>
                        <a:rPr lang="vi" sz="1200">
                          <a:latin typeface="Times New Roman"/>
                        </a:rPr>
                        <a:t>4.5</a:t>
                      </a:r>
                    </a:p>
                  </a:txBody>
                  <a:tcPr marL="0" marR="0" marT="0" marB="0" anchor="ctr"/>
                </a:tc>
                <a:extLst>
                  <a:ext uri="{0D108BD9-81ED-4DB2-BD59-A6C34878D82A}">
                    <a16:rowId xmlns:a16="http://schemas.microsoft.com/office/drawing/2014/main" val="10001"/>
                  </a:ext>
                </a:extLst>
              </a:tr>
              <a:tr h="521208">
                <a:tc>
                  <a:txBody>
                    <a:bodyPr/>
                    <a:lstStyle/>
                    <a:p>
                      <a:pPr marL="127000" indent="0"/>
                      <a:r>
                        <a:rPr lang="vi" sz="1200">
                          <a:latin typeface="Times New Roman"/>
                        </a:rPr>
                        <a:t>2</a:t>
                      </a:r>
                    </a:p>
                  </a:txBody>
                  <a:tcPr marL="0" marR="0" marT="0" marB="0" anchor="ctr"/>
                </a:tc>
                <a:tc>
                  <a:txBody>
                    <a:bodyPr/>
                    <a:lstStyle/>
                    <a:p>
                      <a:pPr marL="127000" indent="0"/>
                      <a:r>
                        <a:rPr lang="vi" sz="1200">
                          <a:latin typeface="Times New Roman"/>
                        </a:rPr>
                        <a:t>3.0</a:t>
                      </a:r>
                    </a:p>
                  </a:txBody>
                  <a:tcPr marL="0" marR="0" marT="0" marB="0" anchor="ctr"/>
                </a:tc>
                <a:tc>
                  <a:txBody>
                    <a:bodyPr/>
                    <a:lstStyle/>
                    <a:p>
                      <a:pPr marL="114300" indent="0"/>
                      <a:r>
                        <a:rPr lang="vi" sz="1200" b="1">
                          <a:latin typeface="Times New Roman"/>
                        </a:rPr>
                        <a:t>-</a:t>
                      </a:r>
                    </a:p>
                  </a:txBody>
                  <a:tcPr marL="0" marR="0" marT="0" marB="0" anchor="ctr"/>
                </a:tc>
                <a:tc>
                  <a:txBody>
                    <a:bodyPr/>
                    <a:lstStyle/>
                    <a:p>
                      <a:pPr marL="127000" indent="0"/>
                      <a:r>
                        <a:rPr lang="vi" sz="1200">
                          <a:latin typeface="Times New Roman"/>
                        </a:rPr>
                        <a:t>|3.0 - 5.0|</a:t>
                      </a:r>
                    </a:p>
                  </a:txBody>
                  <a:tcPr marL="0" marR="0" marT="0" marB="0" anchor="ctr"/>
                </a:tc>
                <a:tc>
                  <a:txBody>
                    <a:bodyPr/>
                    <a:lstStyle/>
                    <a:p>
                      <a:pPr marL="114300" indent="0"/>
                      <a:r>
                        <a:rPr lang="vi" sz="1200">
                          <a:latin typeface="Times New Roman"/>
                        </a:rPr>
                        <a:t>2.0</a:t>
                      </a:r>
                    </a:p>
                  </a:txBody>
                  <a:tcPr marL="0" marR="0" marT="0" marB="0" anchor="ctr"/>
                </a:tc>
                <a:extLst>
                  <a:ext uri="{0D108BD9-81ED-4DB2-BD59-A6C34878D82A}">
                    <a16:rowId xmlns:a16="http://schemas.microsoft.com/office/drawing/2014/main" val="10002"/>
                  </a:ext>
                </a:extLst>
              </a:tr>
              <a:tr h="524256">
                <a:tc>
                  <a:txBody>
                    <a:bodyPr/>
                    <a:lstStyle/>
                    <a:p>
                      <a:pPr marL="127000" indent="0"/>
                      <a:r>
                        <a:rPr lang="vi" sz="1200">
                          <a:latin typeface="Times New Roman"/>
                        </a:rPr>
                        <a:t>3</a:t>
                      </a:r>
                    </a:p>
                  </a:txBody>
                  <a:tcPr marL="0" marR="0" marT="0" marB="0" anchor="ctr"/>
                </a:tc>
                <a:tc>
                  <a:txBody>
                    <a:bodyPr/>
                    <a:lstStyle/>
                    <a:p>
                      <a:pPr marL="127000" indent="0"/>
                      <a:r>
                        <a:rPr lang="vi" sz="1200">
                          <a:latin typeface="Times New Roman"/>
                        </a:rPr>
                        <a:t>4.5</a:t>
                      </a:r>
                    </a:p>
                  </a:txBody>
                  <a:tcPr marL="0" marR="0" marT="0" marB="0" anchor="ctr"/>
                </a:tc>
                <a:tc>
                  <a:txBody>
                    <a:bodyPr/>
                    <a:lstStyle/>
                    <a:p>
                      <a:pPr marL="114300" indent="0"/>
                      <a:r>
                        <a:rPr lang="vi" sz="1200" b="1">
                          <a:latin typeface="Times New Roman"/>
                        </a:rPr>
                        <a:t>+</a:t>
                      </a:r>
                    </a:p>
                  </a:txBody>
                  <a:tcPr marL="0" marR="0" marT="0" marB="0" anchor="ctr"/>
                </a:tc>
                <a:tc>
                  <a:txBody>
                    <a:bodyPr/>
                    <a:lstStyle/>
                    <a:p>
                      <a:pPr marL="127000" indent="0"/>
                      <a:r>
                        <a:rPr lang="vi" sz="1200">
                          <a:latin typeface="Times New Roman"/>
                        </a:rPr>
                        <a:t>|4.5 - 5.0|</a:t>
                      </a:r>
                    </a:p>
                  </a:txBody>
                  <a:tcPr marL="0" marR="0" marT="0" marB="0" anchor="ctr"/>
                </a:tc>
                <a:tc>
                  <a:txBody>
                    <a:bodyPr/>
                    <a:lstStyle/>
                    <a:p>
                      <a:pPr marL="114300" indent="0"/>
                      <a:r>
                        <a:rPr lang="vi" sz="1200">
                          <a:latin typeface="Times New Roman"/>
                        </a:rPr>
                        <a:t>0.5</a:t>
                      </a:r>
                    </a:p>
                  </a:txBody>
                  <a:tcPr marL="0" marR="0" marT="0" marB="0" anchor="ctr"/>
                </a:tc>
                <a:extLst>
                  <a:ext uri="{0D108BD9-81ED-4DB2-BD59-A6C34878D82A}">
                    <a16:rowId xmlns:a16="http://schemas.microsoft.com/office/drawing/2014/main" val="10003"/>
                  </a:ext>
                </a:extLst>
              </a:tr>
              <a:tr h="521208">
                <a:tc>
                  <a:txBody>
                    <a:bodyPr/>
                    <a:lstStyle/>
                    <a:p>
                      <a:pPr marL="127000" indent="0"/>
                      <a:r>
                        <a:rPr lang="vi" sz="1200">
                          <a:latin typeface="Times New Roman"/>
                        </a:rPr>
                        <a:t>4</a:t>
                      </a:r>
                    </a:p>
                  </a:txBody>
                  <a:tcPr marL="0" marR="0" marT="0" marB="0" anchor="ctr"/>
                </a:tc>
                <a:tc>
                  <a:txBody>
                    <a:bodyPr/>
                    <a:lstStyle/>
                    <a:p>
                      <a:pPr marL="127000" indent="0"/>
                      <a:r>
                        <a:rPr lang="vi" sz="1200">
                          <a:latin typeface="Times New Roman"/>
                        </a:rPr>
                        <a:t>4.6</a:t>
                      </a:r>
                    </a:p>
                  </a:txBody>
                  <a:tcPr marL="0" marR="0" marT="0" marB="0" anchor="ctr"/>
                </a:tc>
                <a:tc>
                  <a:txBody>
                    <a:bodyPr/>
                    <a:lstStyle/>
                    <a:p>
                      <a:pPr marL="114300" indent="0"/>
                      <a:r>
                        <a:rPr lang="vi" sz="1200" b="1">
                          <a:latin typeface="Times New Roman"/>
                        </a:rPr>
                        <a:t>+</a:t>
                      </a:r>
                    </a:p>
                  </a:txBody>
                  <a:tcPr marL="0" marR="0" marT="0" marB="0" anchor="ctr"/>
                </a:tc>
                <a:tc>
                  <a:txBody>
                    <a:bodyPr/>
                    <a:lstStyle/>
                    <a:p>
                      <a:pPr marL="127000" indent="0"/>
                      <a:r>
                        <a:rPr lang="vi" sz="1200">
                          <a:latin typeface="Times New Roman"/>
                        </a:rPr>
                        <a:t>|4.6 - 5.0|</a:t>
                      </a:r>
                    </a:p>
                  </a:txBody>
                  <a:tcPr marL="0" marR="0" marT="0" marB="0" anchor="ctr"/>
                </a:tc>
                <a:tc>
                  <a:txBody>
                    <a:bodyPr/>
                    <a:lstStyle/>
                    <a:p>
                      <a:pPr marL="114300" indent="0"/>
                      <a:r>
                        <a:rPr lang="vi" sz="1200">
                          <a:latin typeface="Times New Roman"/>
                        </a:rPr>
                        <a:t>0.4</a:t>
                      </a:r>
                    </a:p>
                  </a:txBody>
                  <a:tcPr marL="0" marR="0" marT="0" marB="0" anchor="ctr"/>
                </a:tc>
                <a:extLst>
                  <a:ext uri="{0D108BD9-81ED-4DB2-BD59-A6C34878D82A}">
                    <a16:rowId xmlns:a16="http://schemas.microsoft.com/office/drawing/2014/main" val="10004"/>
                  </a:ext>
                </a:extLst>
              </a:tr>
              <a:tr h="524256">
                <a:tc>
                  <a:txBody>
                    <a:bodyPr/>
                    <a:lstStyle/>
                    <a:p>
                      <a:pPr marL="127000" indent="0"/>
                      <a:r>
                        <a:rPr lang="vi" sz="1200">
                          <a:latin typeface="Times New Roman"/>
                        </a:rPr>
                        <a:t>5</a:t>
                      </a:r>
                    </a:p>
                  </a:txBody>
                  <a:tcPr marL="0" marR="0" marT="0" marB="0" anchor="ctr"/>
                </a:tc>
                <a:tc>
                  <a:txBody>
                    <a:bodyPr/>
                    <a:lstStyle/>
                    <a:p>
                      <a:pPr marL="127000" indent="0"/>
                      <a:r>
                        <a:rPr lang="vi" sz="1200">
                          <a:latin typeface="Times New Roman"/>
                        </a:rPr>
                        <a:t>4.9</a:t>
                      </a:r>
                    </a:p>
                  </a:txBody>
                  <a:tcPr marL="0" marR="0" marT="0" marB="0" anchor="ctr"/>
                </a:tc>
                <a:tc>
                  <a:txBody>
                    <a:bodyPr/>
                    <a:lstStyle/>
                    <a:p>
                      <a:pPr marL="114300" indent="0"/>
                      <a:r>
                        <a:rPr lang="vi" sz="1200" b="1">
                          <a:latin typeface="Times New Roman"/>
                        </a:rPr>
                        <a:t>+</a:t>
                      </a:r>
                    </a:p>
                  </a:txBody>
                  <a:tcPr marL="0" marR="0" marT="0" marB="0" anchor="ctr"/>
                </a:tc>
                <a:tc>
                  <a:txBody>
                    <a:bodyPr/>
                    <a:lstStyle/>
                    <a:p>
                      <a:pPr marL="127000" indent="0"/>
                      <a:r>
                        <a:rPr lang="vi" sz="1200">
                          <a:latin typeface="Times New Roman"/>
                        </a:rPr>
                        <a:t>|4.9 - 5.0|</a:t>
                      </a:r>
                    </a:p>
                  </a:txBody>
                  <a:tcPr marL="0" marR="0" marT="0" marB="0" anchor="ctr"/>
                </a:tc>
                <a:tc>
                  <a:txBody>
                    <a:bodyPr/>
                    <a:lstStyle/>
                    <a:p>
                      <a:pPr marL="114300" indent="0"/>
                      <a:r>
                        <a:rPr lang="vi" sz="1200">
                          <a:latin typeface="Times New Roman"/>
                        </a:rPr>
                        <a:t>0.1</a:t>
                      </a:r>
                    </a:p>
                  </a:txBody>
                  <a:tcPr marL="0" marR="0" marT="0" marB="0" anchor="ctr"/>
                </a:tc>
                <a:extLst>
                  <a:ext uri="{0D108BD9-81ED-4DB2-BD59-A6C34878D82A}">
                    <a16:rowId xmlns:a16="http://schemas.microsoft.com/office/drawing/2014/main" val="10005"/>
                  </a:ext>
                </a:extLst>
              </a:tr>
              <a:tr h="521208">
                <a:tc>
                  <a:txBody>
                    <a:bodyPr/>
                    <a:lstStyle/>
                    <a:p>
                      <a:pPr marL="127000" indent="0"/>
                      <a:r>
                        <a:rPr lang="vi" sz="1200">
                          <a:latin typeface="Times New Roman"/>
                        </a:rPr>
                        <a:t>6</a:t>
                      </a:r>
                    </a:p>
                  </a:txBody>
                  <a:tcPr marL="0" marR="0" marT="0" marB="0" anchor="ctr"/>
                </a:tc>
                <a:tc>
                  <a:txBody>
                    <a:bodyPr/>
                    <a:lstStyle/>
                    <a:p>
                      <a:pPr marL="127000" indent="0"/>
                      <a:r>
                        <a:rPr lang="vi" sz="1200">
                          <a:latin typeface="Times New Roman"/>
                        </a:rPr>
                        <a:t>5.2</a:t>
                      </a:r>
                    </a:p>
                  </a:txBody>
                  <a:tcPr marL="0" marR="0" marT="0" marB="0" anchor="ctr"/>
                </a:tc>
                <a:tc>
                  <a:txBody>
                    <a:bodyPr/>
                    <a:lstStyle/>
                    <a:p>
                      <a:pPr marL="114300" indent="0"/>
                      <a:r>
                        <a:rPr lang="vi" sz="1200" b="1">
                          <a:latin typeface="Times New Roman"/>
                        </a:rPr>
                        <a:t>-</a:t>
                      </a:r>
                    </a:p>
                  </a:txBody>
                  <a:tcPr marL="0" marR="0" marT="0" marB="0" anchor="ctr"/>
                </a:tc>
                <a:tc>
                  <a:txBody>
                    <a:bodyPr/>
                    <a:lstStyle/>
                    <a:p>
                      <a:pPr marL="127000" indent="0"/>
                      <a:r>
                        <a:rPr lang="vi" sz="1200">
                          <a:latin typeface="Times New Roman"/>
                        </a:rPr>
                        <a:t>|5.2 - 5.0|</a:t>
                      </a:r>
                    </a:p>
                  </a:txBody>
                  <a:tcPr marL="0" marR="0" marT="0" marB="0" anchor="ctr"/>
                </a:tc>
                <a:tc>
                  <a:txBody>
                    <a:bodyPr/>
                    <a:lstStyle/>
                    <a:p>
                      <a:pPr marL="114300" indent="0"/>
                      <a:r>
                        <a:rPr lang="vi" sz="1200">
                          <a:latin typeface="Times New Roman"/>
                        </a:rPr>
                        <a:t>0.2</a:t>
                      </a:r>
                    </a:p>
                  </a:txBody>
                  <a:tcPr marL="0" marR="0" marT="0" marB="0" anchor="ctr"/>
                </a:tc>
                <a:extLst>
                  <a:ext uri="{0D108BD9-81ED-4DB2-BD59-A6C34878D82A}">
                    <a16:rowId xmlns:a16="http://schemas.microsoft.com/office/drawing/2014/main" val="10006"/>
                  </a:ext>
                </a:extLst>
              </a:tr>
              <a:tr h="524256">
                <a:tc>
                  <a:txBody>
                    <a:bodyPr/>
                    <a:lstStyle/>
                    <a:p>
                      <a:pPr marL="127000" indent="0"/>
                      <a:r>
                        <a:rPr lang="vi" sz="1200">
                          <a:latin typeface="Times New Roman"/>
                        </a:rPr>
                        <a:t>7</a:t>
                      </a:r>
                    </a:p>
                  </a:txBody>
                  <a:tcPr marL="0" marR="0" marT="0" marB="0" anchor="ctr"/>
                </a:tc>
                <a:tc>
                  <a:txBody>
                    <a:bodyPr/>
                    <a:lstStyle/>
                    <a:p>
                      <a:pPr marL="127000" indent="0"/>
                      <a:r>
                        <a:rPr lang="vi" sz="1200">
                          <a:latin typeface="Times New Roman"/>
                        </a:rPr>
                        <a:t>5.3</a:t>
                      </a:r>
                    </a:p>
                  </a:txBody>
                  <a:tcPr marL="0" marR="0" marT="0" marB="0" anchor="ctr"/>
                </a:tc>
                <a:tc>
                  <a:txBody>
                    <a:bodyPr/>
                    <a:lstStyle/>
                    <a:p>
                      <a:pPr marL="114300" indent="0"/>
                      <a:r>
                        <a:rPr lang="vi" sz="1200" b="1">
                          <a:latin typeface="Times New Roman"/>
                        </a:rPr>
                        <a:t>-</a:t>
                      </a:r>
                    </a:p>
                  </a:txBody>
                  <a:tcPr marL="0" marR="0" marT="0" marB="0" anchor="ctr"/>
                </a:tc>
                <a:tc>
                  <a:txBody>
                    <a:bodyPr/>
                    <a:lstStyle/>
                    <a:p>
                      <a:pPr marL="127000" indent="0"/>
                      <a:r>
                        <a:rPr lang="vi" sz="1200">
                          <a:latin typeface="Times New Roman"/>
                        </a:rPr>
                        <a:t>|5.3 - 5.0|</a:t>
                      </a:r>
                    </a:p>
                  </a:txBody>
                  <a:tcPr marL="0" marR="0" marT="0" marB="0" anchor="ctr"/>
                </a:tc>
                <a:tc>
                  <a:txBody>
                    <a:bodyPr/>
                    <a:lstStyle/>
                    <a:p>
                      <a:pPr marL="114300" indent="0"/>
                      <a:r>
                        <a:rPr lang="vi" sz="1200">
                          <a:latin typeface="Times New Roman"/>
                        </a:rPr>
                        <a:t>0.3</a:t>
                      </a:r>
                    </a:p>
                  </a:txBody>
                  <a:tcPr marL="0" marR="0" marT="0" marB="0" anchor="ctr"/>
                </a:tc>
                <a:extLst>
                  <a:ext uri="{0D108BD9-81ED-4DB2-BD59-A6C34878D82A}">
                    <a16:rowId xmlns:a16="http://schemas.microsoft.com/office/drawing/2014/main" val="10007"/>
                  </a:ext>
                </a:extLst>
              </a:tr>
              <a:tr h="521208">
                <a:tc>
                  <a:txBody>
                    <a:bodyPr/>
                    <a:lstStyle/>
                    <a:p>
                      <a:pPr marL="127000" indent="0"/>
                      <a:r>
                        <a:rPr lang="vi" sz="1200">
                          <a:latin typeface="Times New Roman"/>
                        </a:rPr>
                        <a:t>8</a:t>
                      </a:r>
                    </a:p>
                  </a:txBody>
                  <a:tcPr marL="0" marR="0" marT="0" marB="0" anchor="ctr"/>
                </a:tc>
                <a:tc>
                  <a:txBody>
                    <a:bodyPr/>
                    <a:lstStyle/>
                    <a:p>
                      <a:pPr marL="127000" indent="0"/>
                      <a:r>
                        <a:rPr lang="vi" sz="1200">
                          <a:latin typeface="Times New Roman"/>
                        </a:rPr>
                        <a:t>5.5</a:t>
                      </a:r>
                    </a:p>
                  </a:txBody>
                  <a:tcPr marL="0" marR="0" marT="0" marB="0" anchor="ctr"/>
                </a:tc>
                <a:tc>
                  <a:txBody>
                    <a:bodyPr/>
                    <a:lstStyle/>
                    <a:p>
                      <a:pPr marL="114300" indent="0"/>
                      <a:r>
                        <a:rPr lang="vi" sz="1200" b="1">
                          <a:latin typeface="Times New Roman"/>
                        </a:rPr>
                        <a:t>+</a:t>
                      </a:r>
                    </a:p>
                  </a:txBody>
                  <a:tcPr marL="0" marR="0" marT="0" marB="0" anchor="ctr"/>
                </a:tc>
                <a:tc>
                  <a:txBody>
                    <a:bodyPr/>
                    <a:lstStyle/>
                    <a:p>
                      <a:pPr marL="127000" indent="0"/>
                      <a:r>
                        <a:rPr lang="vi" sz="1200">
                          <a:latin typeface="Times New Roman"/>
                        </a:rPr>
                        <a:t>|5.5 - 5.0|</a:t>
                      </a:r>
                    </a:p>
                  </a:txBody>
                  <a:tcPr marL="0" marR="0" marT="0" marB="0" anchor="ctr"/>
                </a:tc>
                <a:tc>
                  <a:txBody>
                    <a:bodyPr/>
                    <a:lstStyle/>
                    <a:p>
                      <a:pPr marL="114300" indent="0"/>
                      <a:r>
                        <a:rPr lang="vi" sz="1200">
                          <a:latin typeface="Times New Roman"/>
                        </a:rPr>
                        <a:t>0.5</a:t>
                      </a:r>
                    </a:p>
                  </a:txBody>
                  <a:tcPr marL="0" marR="0" marT="0" marB="0" anchor="ctr"/>
                </a:tc>
                <a:extLst>
                  <a:ext uri="{0D108BD9-81ED-4DB2-BD59-A6C34878D82A}">
                    <a16:rowId xmlns:a16="http://schemas.microsoft.com/office/drawing/2014/main" val="10008"/>
                  </a:ext>
                </a:extLst>
              </a:tr>
              <a:tr h="557784">
                <a:tc>
                  <a:txBody>
                    <a:bodyPr/>
                    <a:lstStyle/>
                    <a:p>
                      <a:pPr marL="127000" indent="0"/>
                      <a:r>
                        <a:rPr lang="vi" sz="1200">
                          <a:latin typeface="Times New Roman"/>
                        </a:rPr>
                        <a:t>9</a:t>
                      </a:r>
                    </a:p>
                  </a:txBody>
                  <a:tcPr marL="0" marR="0" marT="0" marB="0" anchor="ctr"/>
                </a:tc>
                <a:tc>
                  <a:txBody>
                    <a:bodyPr/>
                    <a:lstStyle/>
                    <a:p>
                      <a:pPr marL="127000" indent="0"/>
                      <a:r>
                        <a:rPr lang="vi" sz="1200">
                          <a:latin typeface="Times New Roman"/>
                        </a:rPr>
                        <a:t>7.0</a:t>
                      </a:r>
                    </a:p>
                  </a:txBody>
                  <a:tcPr marL="0" marR="0" marT="0" marB="0" anchor="ctr"/>
                </a:tc>
                <a:tc>
                  <a:txBody>
                    <a:bodyPr/>
                    <a:lstStyle/>
                    <a:p>
                      <a:pPr marL="114300" indent="0"/>
                      <a:r>
                        <a:rPr lang="vi" sz="1200" b="1">
                          <a:latin typeface="Times New Roman"/>
                        </a:rPr>
                        <a:t>-</a:t>
                      </a:r>
                    </a:p>
                  </a:txBody>
                  <a:tcPr marL="0" marR="0" marT="0" marB="0" anchor="ctr"/>
                </a:tc>
                <a:tc>
                  <a:txBody>
                    <a:bodyPr/>
                    <a:lstStyle/>
                    <a:p>
                      <a:pPr marL="127000" indent="0"/>
                      <a:r>
                        <a:rPr lang="vi" sz="1200">
                          <a:latin typeface="Times New Roman"/>
                        </a:rPr>
                        <a:t>|7.0 - 5.0|</a:t>
                      </a:r>
                    </a:p>
                  </a:txBody>
                  <a:tcPr marL="0" marR="0" marT="0" marB="0" anchor="ctr"/>
                </a:tc>
                <a:tc>
                  <a:txBody>
                    <a:bodyPr/>
                    <a:lstStyle/>
                    <a:p>
                      <a:pPr marL="114300" indent="0"/>
                      <a:r>
                        <a:rPr lang="vi" sz="1200">
                          <a:latin typeface="Times New Roman"/>
                        </a:rPr>
                        <a:t>2.0</a:t>
                      </a:r>
                    </a:p>
                  </a:txBody>
                  <a:tcPr marL="0" marR="0" marT="0" marB="0" anchor="ctr"/>
                </a:tc>
                <a:extLst>
                  <a:ext uri="{0D108BD9-81ED-4DB2-BD59-A6C34878D82A}">
                    <a16:rowId xmlns:a16="http://schemas.microsoft.com/office/drawing/2014/main" val="10009"/>
                  </a:ext>
                </a:extLst>
              </a:tr>
              <a:tr h="402336">
                <a:tc>
                  <a:txBody>
                    <a:bodyPr/>
                    <a:lstStyle/>
                    <a:p>
                      <a:pPr marL="127000" indent="0"/>
                      <a:r>
                        <a:rPr lang="vi" sz="1200">
                          <a:latin typeface="Times New Roman"/>
                        </a:rPr>
                        <a:t>10</a:t>
                      </a:r>
                    </a:p>
                  </a:txBody>
                  <a:tcPr marL="0" marR="0" marT="0" marB="0" anchor="b"/>
                </a:tc>
                <a:tc>
                  <a:txBody>
                    <a:bodyPr/>
                    <a:lstStyle/>
                    <a:p>
                      <a:pPr marL="127000" indent="0"/>
                      <a:r>
                        <a:rPr lang="vi" sz="1200">
                          <a:latin typeface="Times New Roman"/>
                        </a:rPr>
                        <a:t>9.5</a:t>
                      </a:r>
                    </a:p>
                  </a:txBody>
                  <a:tcPr marL="0" marR="0" marT="0" marB="0" anchor="b"/>
                </a:tc>
                <a:tc>
                  <a:txBody>
                    <a:bodyPr/>
                    <a:lstStyle/>
                    <a:p>
                      <a:endParaRPr sz="1900"/>
                    </a:p>
                  </a:txBody>
                  <a:tcPr marL="0" marR="0" marT="0" marB="0"/>
                </a:tc>
                <a:tc>
                  <a:txBody>
                    <a:bodyPr/>
                    <a:lstStyle/>
                    <a:p>
                      <a:pPr marL="127000" indent="0"/>
                      <a:r>
                        <a:rPr lang="vi" sz="1200">
                          <a:latin typeface="Times New Roman"/>
                        </a:rPr>
                        <a:t>|9.5 - 5.0|</a:t>
                      </a:r>
                    </a:p>
                  </a:txBody>
                  <a:tcPr marL="0" marR="0" marT="0" marB="0" anchor="b"/>
                </a:tc>
                <a:tc>
                  <a:txBody>
                    <a:bodyPr/>
                    <a:lstStyle/>
                    <a:p>
                      <a:pPr marL="114300" indent="0"/>
                      <a:r>
                        <a:rPr lang="vi" sz="1200">
                          <a:latin typeface="Times New Roman"/>
                        </a:rPr>
                        <a:t>4.5</a:t>
                      </a:r>
                    </a:p>
                  </a:txBody>
                  <a:tcPr marL="0" marR="0" marT="0" marB="0" anchor="b"/>
                </a:tc>
                <a:extLst>
                  <a:ext uri="{0D108BD9-81ED-4DB2-BD59-A6C34878D82A}">
                    <a16:rowId xmlns:a16="http://schemas.microsoft.com/office/drawing/2014/main" val="10010"/>
                  </a:ext>
                </a:extLst>
              </a:tr>
            </a:tbl>
          </a:graphicData>
        </a:graphic>
      </p:graphicFrame>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066800" y="707136"/>
            <a:ext cx="4303776" cy="8351520"/>
          </a:xfrm>
          <a:prstGeom prst="rect">
            <a:avLst/>
          </a:prstGeom>
        </p:spPr>
        <p:txBody>
          <a:bodyPr lIns="0" tIns="0" rIns="0" bIns="0">
            <a:noAutofit/>
          </a:bodyPr>
          <a:lstStyle/>
          <a:p>
            <a:pPr indent="0">
              <a:lnSpc>
                <a:spcPts val="2232"/>
              </a:lnSpc>
            </a:pPr>
            <a:r>
              <a:rPr lang="vi" sz="1200">
                <a:latin typeface="Times New Roman"/>
              </a:rPr>
              <a:t>BƯỚC 3: SẮP XẾP LÁNG GIỀNG</a:t>
            </a:r>
          </a:p>
          <a:p>
            <a:pPr indent="0">
              <a:lnSpc>
                <a:spcPts val="2232"/>
              </a:lnSpc>
            </a:pPr>
            <a:r>
              <a:rPr lang="vi" sz="1200">
                <a:latin typeface="Times New Roman"/>
              </a:rPr>
              <a:t>Sắp xếp danh sách theo khoảng cách từ </a:t>
            </a:r>
            <a:r>
              <a:rPr lang="vi" sz="1200" b="1">
                <a:latin typeface="Times New Roman"/>
              </a:rPr>
              <a:t>nhỏ đến lớn</a:t>
            </a:r>
            <a:r>
              <a:rPr lang="vi" sz="1200">
                <a:latin typeface="Times New Roman"/>
              </a:rPr>
              <a:t>:</a:t>
            </a:r>
          </a:p>
          <a:p>
            <a:pPr marL="247904" indent="0" algn="just">
              <a:lnSpc>
                <a:spcPts val="2232"/>
              </a:lnSpc>
            </a:pPr>
            <a:r>
              <a:rPr lang="vi" sz="1200">
                <a:latin typeface="Times New Roman"/>
              </a:rPr>
              <a:t>1.    x = 4.9 (d=0.1) ^ </a:t>
            </a:r>
            <a:r>
              <a:rPr lang="vi" sz="1200" b="1">
                <a:latin typeface="Times New Roman"/>
              </a:rPr>
              <a:t>+</a:t>
            </a:r>
          </a:p>
          <a:p>
            <a:pPr marL="247904" indent="0" algn="just">
              <a:lnSpc>
                <a:spcPts val="2232"/>
              </a:lnSpc>
            </a:pPr>
            <a:r>
              <a:rPr lang="vi" sz="1200">
                <a:latin typeface="Times New Roman"/>
              </a:rPr>
              <a:t>2.    x = 5.2 (d=0.2) ^ </a:t>
            </a:r>
            <a:r>
              <a:rPr lang="vi" sz="1200" b="1">
                <a:latin typeface="Times New Roman"/>
              </a:rPr>
              <a:t>-</a:t>
            </a:r>
          </a:p>
          <a:p>
            <a:pPr marL="247904" indent="0" algn="just">
              <a:lnSpc>
                <a:spcPts val="2232"/>
              </a:lnSpc>
            </a:pPr>
            <a:r>
              <a:rPr lang="vi" sz="1200">
                <a:latin typeface="Times New Roman"/>
              </a:rPr>
              <a:t>3.    x = 5.3 (d=0.3) ^ </a:t>
            </a:r>
            <a:r>
              <a:rPr lang="vi" sz="1200" b="1">
                <a:latin typeface="Times New Roman"/>
              </a:rPr>
              <a:t>-</a:t>
            </a:r>
          </a:p>
          <a:p>
            <a:pPr marL="247904" indent="0" algn="just">
              <a:lnSpc>
                <a:spcPts val="2232"/>
              </a:lnSpc>
            </a:pPr>
            <a:r>
              <a:rPr lang="vi" sz="1200">
                <a:latin typeface="Times New Roman"/>
              </a:rPr>
              <a:t>4.    x = 4.6 (d=0.4) ^ </a:t>
            </a:r>
            <a:r>
              <a:rPr lang="vi" sz="1200" b="1">
                <a:latin typeface="Times New Roman"/>
              </a:rPr>
              <a:t>+</a:t>
            </a:r>
          </a:p>
          <a:p>
            <a:pPr marL="247904" indent="0" algn="just">
              <a:lnSpc>
                <a:spcPts val="2232"/>
              </a:lnSpc>
            </a:pPr>
            <a:r>
              <a:rPr lang="vi" sz="1200">
                <a:latin typeface="Times New Roman"/>
              </a:rPr>
              <a:t>5.    x = 4.5 (d=0.5) ^ </a:t>
            </a:r>
            <a:r>
              <a:rPr lang="vi" sz="1200" b="1">
                <a:latin typeface="Times New Roman"/>
              </a:rPr>
              <a:t>+</a:t>
            </a:r>
          </a:p>
          <a:p>
            <a:pPr marL="247904" indent="0" algn="just">
              <a:lnSpc>
                <a:spcPts val="2232"/>
              </a:lnSpc>
            </a:pPr>
            <a:r>
              <a:rPr lang="vi" sz="1200">
                <a:latin typeface="Times New Roman"/>
              </a:rPr>
              <a:t>6.    x = 5.5 (d=0.5) ^ </a:t>
            </a:r>
            <a:r>
              <a:rPr lang="vi" sz="1200" b="1">
                <a:latin typeface="Times New Roman"/>
              </a:rPr>
              <a:t>+</a:t>
            </a:r>
          </a:p>
          <a:p>
            <a:pPr marL="247904" indent="0" algn="just">
              <a:lnSpc>
                <a:spcPts val="2232"/>
              </a:lnSpc>
            </a:pPr>
            <a:r>
              <a:rPr lang="vi" sz="1200">
                <a:latin typeface="Times New Roman"/>
              </a:rPr>
              <a:t>7.    x = 3.0 (d=2.0) ^ </a:t>
            </a:r>
            <a:r>
              <a:rPr lang="vi" sz="1200" b="1">
                <a:latin typeface="Times New Roman"/>
              </a:rPr>
              <a:t>-</a:t>
            </a:r>
          </a:p>
          <a:p>
            <a:pPr marL="247904" indent="0" algn="just">
              <a:lnSpc>
                <a:spcPts val="2232"/>
              </a:lnSpc>
            </a:pPr>
            <a:r>
              <a:rPr lang="vi" sz="1200">
                <a:latin typeface="Times New Roman"/>
              </a:rPr>
              <a:t>8.    x = 7.0 (d=2.0) ^ </a:t>
            </a:r>
            <a:r>
              <a:rPr lang="vi" sz="1200" b="1">
                <a:latin typeface="Times New Roman"/>
              </a:rPr>
              <a:t>-</a:t>
            </a:r>
          </a:p>
          <a:p>
            <a:pPr marL="247904" indent="0" algn="just">
              <a:lnSpc>
                <a:spcPts val="2232"/>
              </a:lnSpc>
            </a:pPr>
            <a:r>
              <a:rPr lang="vi" sz="1200">
                <a:latin typeface="Times New Roman"/>
              </a:rPr>
              <a:t>9.    x = 0.5 (d=4.5) ^ </a:t>
            </a:r>
            <a:r>
              <a:rPr lang="vi" sz="1200" b="1">
                <a:latin typeface="Times New Roman"/>
              </a:rPr>
              <a:t>-</a:t>
            </a:r>
          </a:p>
          <a:p>
            <a:pPr marL="247904" indent="0" algn="just">
              <a:lnSpc>
                <a:spcPts val="2232"/>
              </a:lnSpc>
            </a:pPr>
            <a:r>
              <a:rPr lang="vi" sz="1200">
                <a:latin typeface="Times New Roman"/>
              </a:rPr>
              <a:t>10.    x = 9.5 (d=4.5) ^ </a:t>
            </a:r>
            <a:r>
              <a:rPr lang="vi" sz="1200" b="1">
                <a:latin typeface="Times New Roman"/>
              </a:rPr>
              <a:t>-</a:t>
            </a:r>
          </a:p>
          <a:p>
            <a:pPr indent="0">
              <a:lnSpc>
                <a:spcPts val="2232"/>
              </a:lnSpc>
            </a:pPr>
            <a:r>
              <a:rPr lang="vi" sz="1200">
                <a:latin typeface="Times New Roman"/>
              </a:rPr>
              <a:t>BƯỚC 4: PHÂN LOẠI </a:t>
            </a:r>
            <a:r>
              <a:rPr lang="en-US" sz="1200">
                <a:latin typeface="Times New Roman"/>
              </a:rPr>
              <a:t>(MAJORITY VOTE)</a:t>
            </a:r>
          </a:p>
          <a:p>
            <a:pPr marR="2990596" indent="0" algn="r">
              <a:lnSpc>
                <a:spcPts val="2232"/>
              </a:lnSpc>
            </a:pPr>
            <a:r>
              <a:rPr lang="vi" sz="1200" b="1">
                <a:latin typeface="Times New Roman"/>
              </a:rPr>
              <a:t>Trường hợp K = 1</a:t>
            </a:r>
          </a:p>
          <a:p>
            <a:pPr indent="0">
              <a:lnSpc>
                <a:spcPts val="2232"/>
              </a:lnSpc>
            </a:pPr>
            <a:r>
              <a:rPr lang="vi" sz="1200">
                <a:latin typeface="Times New Roman"/>
              </a:rPr>
              <a:t>Lấy 1 láng giềng gần nhất: </a:t>
            </a:r>
            <a:r>
              <a:rPr lang="vi" sz="1200" b="1">
                <a:latin typeface="Times New Roman"/>
              </a:rPr>
              <a:t>x=4.9 (+)</a:t>
            </a:r>
          </a:p>
          <a:p>
            <a:pPr indent="0">
              <a:lnSpc>
                <a:spcPts val="2232"/>
              </a:lnSpc>
            </a:pPr>
            <a:r>
              <a:rPr lang="vi" sz="1200">
                <a:latin typeface="Times New Roman"/>
              </a:rPr>
              <a:t>Kết quả: 1 phiếu (+), 0 phiếu (-).</a:t>
            </a:r>
          </a:p>
          <a:p>
            <a:pPr marL="247904" indent="0" algn="just">
              <a:spcAft>
                <a:spcPts val="840"/>
              </a:spcAft>
            </a:pPr>
            <a:r>
              <a:rPr lang="vi" sz="1200" b="1">
                <a:latin typeface="Times New Roman"/>
              </a:rPr>
              <a:t>Kết luận: Lớp +</a:t>
            </a:r>
          </a:p>
          <a:p>
            <a:pPr marR="2990596" indent="0" algn="r">
              <a:spcAft>
                <a:spcPts val="630"/>
              </a:spcAft>
            </a:pPr>
            <a:r>
              <a:rPr lang="vi" sz="1200" b="1">
                <a:latin typeface="Times New Roman"/>
              </a:rPr>
              <a:t>Trường hợp K = 3</a:t>
            </a:r>
          </a:p>
          <a:p>
            <a:pPr indent="0">
              <a:spcAft>
                <a:spcPts val="630"/>
              </a:spcAft>
            </a:pPr>
            <a:r>
              <a:rPr lang="vi" sz="1200">
                <a:latin typeface="Times New Roman"/>
              </a:rPr>
              <a:t>Lấy 3 láng giềng: 4.9(+), 5.2(-), 5.3(-)</a:t>
            </a:r>
          </a:p>
          <a:p>
            <a:pPr indent="0">
              <a:lnSpc>
                <a:spcPts val="2424"/>
              </a:lnSpc>
            </a:pPr>
            <a:r>
              <a:rPr lang="vi" sz="1200">
                <a:latin typeface="Times New Roman"/>
              </a:rPr>
              <a:t>Kết quả: 1 phiếu (+), </a:t>
            </a:r>
            <a:r>
              <a:rPr lang="vi" sz="1200" b="1">
                <a:latin typeface="Times New Roman"/>
              </a:rPr>
              <a:t>2 phiếu (-)</a:t>
            </a:r>
            <a:r>
              <a:rPr lang="vi" sz="1200">
                <a:latin typeface="Times New Roman"/>
              </a:rPr>
              <a:t>.</a:t>
            </a:r>
          </a:p>
          <a:p>
            <a:pPr marR="2990596" indent="0" algn="r">
              <a:lnSpc>
                <a:spcPts val="2424"/>
              </a:lnSpc>
            </a:pPr>
            <a:r>
              <a:rPr lang="vi" sz="1200" b="1">
                <a:latin typeface="Times New Roman"/>
              </a:rPr>
              <a:t>Kết luận: Lớp -Trường hợp K = 5</a:t>
            </a:r>
          </a:p>
          <a:p>
            <a:pPr indent="0">
              <a:spcAft>
                <a:spcPts val="630"/>
              </a:spcAft>
            </a:pPr>
            <a:r>
              <a:rPr lang="vi" sz="1200">
                <a:latin typeface="Times New Roman"/>
              </a:rPr>
              <a:t>Lấy 5 láng giềng: 4.9(+), 5.2(-), 5.3(-), 4.6(+), 4.5(+)</a:t>
            </a:r>
          </a:p>
          <a:p>
            <a:pPr indent="0">
              <a:spcAft>
                <a:spcPts val="840"/>
              </a:spcAft>
            </a:pPr>
            <a:r>
              <a:rPr lang="vi" sz="1200">
                <a:latin typeface="Times New Roman"/>
              </a:rPr>
              <a:t>Kết quả: </a:t>
            </a:r>
            <a:r>
              <a:rPr lang="vi" sz="1200" b="1">
                <a:latin typeface="Times New Roman"/>
              </a:rPr>
              <a:t>3 phiếu (+)</a:t>
            </a:r>
            <a:r>
              <a:rPr lang="vi" sz="1200">
                <a:latin typeface="Times New Roman"/>
              </a:rPr>
              <a:t>, 2 phiếu (-).</a:t>
            </a:r>
          </a:p>
          <a:p>
            <a:pPr marL="247904" indent="0" algn="just">
              <a:spcAft>
                <a:spcPts val="840"/>
              </a:spcAft>
            </a:pPr>
            <a:r>
              <a:rPr lang="vi" sz="1200" b="1">
                <a:latin typeface="Times New Roman"/>
              </a:rPr>
              <a:t>Kết luận: Lớp +</a:t>
            </a:r>
          </a:p>
          <a:p>
            <a:pPr marR="2990596" indent="0" algn="r">
              <a:lnSpc>
                <a:spcPts val="2232"/>
              </a:lnSpc>
            </a:pPr>
            <a:r>
              <a:rPr lang="vi" sz="1200" b="1">
                <a:latin typeface="Times New Roman"/>
              </a:rPr>
              <a:t>Trường hợp K = 9</a:t>
            </a:r>
          </a:p>
          <a:p>
            <a:pPr indent="0">
              <a:lnSpc>
                <a:spcPts val="2232"/>
              </a:lnSpc>
            </a:pPr>
            <a:r>
              <a:rPr lang="vi" sz="1200">
                <a:latin typeface="Times New Roman"/>
              </a:rPr>
              <a:t>Lấy 9 láng giềng (bỏ 1 điểm xa nhất là d=4.5). Tổng hợp còn lại: Kết quả: 4 phiếu (+), </a:t>
            </a:r>
            <a:r>
              <a:rPr lang="vi" sz="1200" b="1">
                <a:latin typeface="Times New Roman"/>
              </a:rPr>
              <a:t>5 phiếu (-)</a:t>
            </a:r>
            <a:r>
              <a:rPr lang="vi" sz="1200">
                <a:latin typeface="Times New Roman"/>
              </a:rPr>
              <a:t>.</a:t>
            </a:r>
          </a:p>
          <a:p>
            <a:pPr marL="247904" indent="0" algn="just"/>
            <a:r>
              <a:rPr lang="vi" sz="1200" b="1">
                <a:latin typeface="Times New Roman"/>
              </a:rPr>
              <a:t>Kết luận: Lớp -</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066800" y="749808"/>
            <a:ext cx="5888736" cy="188976"/>
          </a:xfrm>
          <a:prstGeom prst="rect">
            <a:avLst/>
          </a:prstGeom>
        </p:spPr>
        <p:txBody>
          <a:bodyPr wrap="none" lIns="0" tIns="0" rIns="0" bIns="0">
            <a:noAutofit/>
          </a:bodyPr>
          <a:lstStyle/>
          <a:p>
            <a:pPr indent="0"/>
            <a:r>
              <a:rPr lang="en-US" sz="1500" b="1">
                <a:latin typeface="Times New Roman"/>
              </a:rPr>
              <a:t>Ex2: Given a collection dataset as following:</a:t>
            </a:r>
          </a:p>
        </p:txBody>
      </p:sp>
      <p:sp>
        <p:nvSpPr>
          <p:cNvPr id="3" name="Rectangle 2"/>
          <p:cNvSpPr/>
          <p:nvPr/>
        </p:nvSpPr>
        <p:spPr>
          <a:xfrm>
            <a:off x="1066800" y="1088136"/>
            <a:ext cx="5888736" cy="1591056"/>
          </a:xfrm>
          <a:prstGeom prst="rect">
            <a:avLst/>
          </a:prstGeom>
        </p:spPr>
        <p:txBody>
          <a:bodyPr lIns="0" tIns="0" rIns="0" bIns="0">
            <a:noAutofit/>
          </a:bodyPr>
          <a:lstStyle/>
          <a:p>
            <a:pPr indent="0" algn="just">
              <a:lnSpc>
                <a:spcPts val="2232"/>
              </a:lnSpc>
            </a:pPr>
            <a:r>
              <a:rPr lang="en-US" sz="1200" b="1">
                <a:latin typeface="Times New Roman"/>
              </a:rPr>
              <a:t>1.    </a:t>
            </a:r>
            <a:r>
              <a:rPr lang="vi" sz="1200" b="1">
                <a:latin typeface="Times New Roman"/>
              </a:rPr>
              <a:t>Công thức và Dữ liệu</a:t>
            </a:r>
          </a:p>
          <a:p>
            <a:pPr indent="0" algn="just">
              <a:lnSpc>
                <a:spcPts val="2232"/>
              </a:lnSpc>
            </a:pPr>
            <a:r>
              <a:rPr lang="vi" sz="1200" b="1">
                <a:latin typeface="Times New Roman"/>
              </a:rPr>
              <a:t>Điểm cần dự đoán </a:t>
            </a:r>
            <a:r>
              <a:rPr lang="en-US" sz="1200" b="1">
                <a:latin typeface="Times New Roman"/>
              </a:rPr>
              <a:t>(Query Point): </a:t>
            </a:r>
            <a:r>
              <a:rPr lang="vi" sz="1200">
                <a:latin typeface="Times New Roman"/>
              </a:rPr>
              <a:t>Q = (7, 5)</a:t>
            </a:r>
          </a:p>
          <a:p>
            <a:pPr indent="0" algn="just">
              <a:lnSpc>
                <a:spcPts val="2232"/>
              </a:lnSpc>
            </a:pPr>
            <a:r>
              <a:rPr lang="vi" sz="1200" b="1">
                <a:latin typeface="Times New Roman"/>
              </a:rPr>
              <a:t>Khoảng cách d = V[ (x</a:t>
            </a:r>
            <a:r>
              <a:rPr lang="vi" sz="800" b="1">
                <a:latin typeface="Times New Roman"/>
              </a:rPr>
              <a:t>i </a:t>
            </a:r>
            <a:r>
              <a:rPr lang="vi" sz="1200" b="1">
                <a:latin typeface="Times New Roman"/>
              </a:rPr>
              <a:t>- 7)</a:t>
            </a:r>
            <a:r>
              <a:rPr lang="vi" sz="800" b="1" baseline="30000">
                <a:latin typeface="Times New Roman"/>
              </a:rPr>
              <a:t>2</a:t>
            </a:r>
            <a:r>
              <a:rPr lang="vi" sz="800" b="1">
                <a:latin typeface="Times New Roman"/>
              </a:rPr>
              <a:t> </a:t>
            </a:r>
            <a:r>
              <a:rPr lang="vi" sz="1200" b="1">
                <a:latin typeface="Times New Roman"/>
              </a:rPr>
              <a:t>+ (y</a:t>
            </a:r>
            <a:r>
              <a:rPr lang="vi" sz="800" b="1">
                <a:latin typeface="Times New Roman"/>
              </a:rPr>
              <a:t>i </a:t>
            </a:r>
            <a:r>
              <a:rPr lang="vi" sz="1200" b="1">
                <a:latin typeface="Times New Roman"/>
              </a:rPr>
              <a:t>- 5)</a:t>
            </a:r>
            <a:r>
              <a:rPr lang="vi" sz="800" b="1" baseline="30000">
                <a:latin typeface="Times New Roman"/>
              </a:rPr>
              <a:t>2</a:t>
            </a:r>
            <a:r>
              <a:rPr lang="vi" sz="800" b="1">
                <a:latin typeface="Times New Roman"/>
              </a:rPr>
              <a:t> </a:t>
            </a:r>
            <a:r>
              <a:rPr lang="vi" sz="1200" b="1">
                <a:latin typeface="Times New Roman"/>
              </a:rPr>
              <a:t>]</a:t>
            </a:r>
          </a:p>
          <a:p>
            <a:pPr indent="0" algn="just">
              <a:lnSpc>
                <a:spcPts val="2232"/>
              </a:lnSpc>
            </a:pPr>
            <a:r>
              <a:rPr lang="vi" sz="1200" b="1">
                <a:latin typeface="Times New Roman"/>
              </a:rPr>
              <a:t>2.    Câu (a): Tính toán khoảng cách và xếp hạng</a:t>
            </a:r>
          </a:p>
          <a:p>
            <a:pPr indent="0" algn="just">
              <a:lnSpc>
                <a:spcPts val="2232"/>
              </a:lnSpc>
            </a:pPr>
            <a:r>
              <a:rPr lang="vi" sz="1200">
                <a:latin typeface="Times New Roman"/>
              </a:rPr>
              <a:t>Tính khoảng cách từ Q(7,5) đến các điểm dữ liệu. Bảng dưới đây liệt kê 9 điểm gần nhất (đã sắp xếp tăng dần):</a:t>
            </a:r>
          </a:p>
        </p:txBody>
      </p:sp>
      <p:graphicFrame>
        <p:nvGraphicFramePr>
          <p:cNvPr id="4" name="Table 3"/>
          <p:cNvGraphicFramePr>
            <a:graphicFrameLocks noGrp="1"/>
          </p:cNvGraphicFramePr>
          <p:nvPr/>
        </p:nvGraphicFramePr>
        <p:xfrm>
          <a:off x="1078992" y="2755392"/>
          <a:ext cx="5974080" cy="4764024"/>
        </p:xfrm>
        <a:graphic>
          <a:graphicData uri="http://schemas.openxmlformats.org/drawingml/2006/table">
            <a:tbl>
              <a:tblPr/>
              <a:tblGrid>
                <a:gridCol w="545592">
                  <a:extLst>
                    <a:ext uri="{9D8B030D-6E8A-4147-A177-3AD203B41FA5}">
                      <a16:colId xmlns:a16="http://schemas.microsoft.com/office/drawing/2014/main" val="20000"/>
                    </a:ext>
                  </a:extLst>
                </a:gridCol>
                <a:gridCol w="527304">
                  <a:extLst>
                    <a:ext uri="{9D8B030D-6E8A-4147-A177-3AD203B41FA5}">
                      <a16:colId xmlns:a16="http://schemas.microsoft.com/office/drawing/2014/main" val="20001"/>
                    </a:ext>
                  </a:extLst>
                </a:gridCol>
                <a:gridCol w="981456">
                  <a:extLst>
                    <a:ext uri="{9D8B030D-6E8A-4147-A177-3AD203B41FA5}">
                      <a16:colId xmlns:a16="http://schemas.microsoft.com/office/drawing/2014/main" val="20002"/>
                    </a:ext>
                  </a:extLst>
                </a:gridCol>
                <a:gridCol w="539496">
                  <a:extLst>
                    <a:ext uri="{9D8B030D-6E8A-4147-A177-3AD203B41FA5}">
                      <a16:colId xmlns:a16="http://schemas.microsoft.com/office/drawing/2014/main" val="20003"/>
                    </a:ext>
                  </a:extLst>
                </a:gridCol>
                <a:gridCol w="2465832">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737616">
                <a:tc>
                  <a:txBody>
                    <a:bodyPr/>
                    <a:lstStyle/>
                    <a:p>
                      <a:pPr marL="88900" indent="0"/>
                      <a:r>
                        <a:rPr lang="vi" sz="1200" b="1">
                          <a:latin typeface="Times New Roman"/>
                        </a:rPr>
                        <a:t>Hạng</a:t>
                      </a:r>
                    </a:p>
                  </a:txBody>
                  <a:tcPr marL="0" marR="0" marT="0" marB="0" anchor="ctr"/>
                </a:tc>
                <a:tc>
                  <a:txBody>
                    <a:bodyPr/>
                    <a:lstStyle/>
                    <a:p>
                      <a:pPr indent="0"/>
                      <a:r>
                        <a:rPr lang="vi" sz="1200" b="1">
                          <a:latin typeface="Times New Roman"/>
                        </a:rPr>
                        <a:t>Điểm</a:t>
                      </a:r>
                    </a:p>
                  </a:txBody>
                  <a:tcPr marL="0" marR="0" marT="0" marB="0" anchor="ctr"/>
                </a:tc>
                <a:tc>
                  <a:txBody>
                    <a:bodyPr/>
                    <a:lstStyle/>
                    <a:p>
                      <a:pPr indent="0">
                        <a:spcAft>
                          <a:spcPts val="840"/>
                        </a:spcAft>
                      </a:pPr>
                      <a:r>
                        <a:rPr lang="vi" sz="1200" b="1">
                          <a:latin typeface="Times New Roman"/>
                        </a:rPr>
                        <a:t>Tọa độ (x,</a:t>
                      </a:r>
                    </a:p>
                    <a:p>
                      <a:pPr indent="0"/>
                      <a:r>
                        <a:rPr lang="vi" sz="1200" b="1">
                          <a:latin typeface="Times New Roman"/>
                        </a:rPr>
                        <a:t>y)</a:t>
                      </a:r>
                    </a:p>
                  </a:txBody>
                  <a:tcPr marL="0" marR="0" marT="0" marB="0" anchor="ctr"/>
                </a:tc>
                <a:tc>
                  <a:txBody>
                    <a:bodyPr/>
                    <a:lstStyle/>
                    <a:p>
                      <a:pPr indent="0"/>
                      <a:r>
                        <a:rPr lang="vi" sz="1200" b="1">
                          <a:latin typeface="Times New Roman"/>
                        </a:rPr>
                        <a:t>Nhãn</a:t>
                      </a:r>
                    </a:p>
                  </a:txBody>
                  <a:tcPr marL="0" marR="0" marT="0" marB="0" anchor="ctr"/>
                </a:tc>
                <a:tc>
                  <a:txBody>
                    <a:bodyPr/>
                    <a:lstStyle/>
                    <a:p>
                      <a:pPr indent="0">
                        <a:spcAft>
                          <a:spcPts val="630"/>
                        </a:spcAft>
                      </a:pPr>
                      <a:r>
                        <a:rPr lang="vi" sz="1200" b="1">
                          <a:latin typeface="Times New Roman"/>
                        </a:rPr>
                        <a:t>Chi tiết tính toán: V[ (x-7)</a:t>
                      </a:r>
                      <a:r>
                        <a:rPr lang="vi" sz="1200" b="1" baseline="30000">
                          <a:latin typeface="Times New Roman"/>
                        </a:rPr>
                        <a:t>2</a:t>
                      </a:r>
                      <a:r>
                        <a:rPr lang="vi" sz="1200" b="1">
                          <a:latin typeface="Times New Roman"/>
                        </a:rPr>
                        <a:t> + (y-</a:t>
                      </a:r>
                    </a:p>
                    <a:p>
                      <a:pPr indent="0"/>
                      <a:r>
                        <a:rPr lang="vi" sz="1200" b="1">
                          <a:latin typeface="Times New Roman"/>
                        </a:rPr>
                        <a:t>5)</a:t>
                      </a:r>
                      <a:r>
                        <a:rPr lang="vi" sz="1200" b="1" baseline="30000">
                          <a:latin typeface="Times New Roman"/>
                        </a:rPr>
                        <a:t>2</a:t>
                      </a:r>
                      <a:r>
                        <a:rPr lang="vi" sz="1200" b="1">
                          <a:latin typeface="Times New Roman"/>
                        </a:rPr>
                        <a:t> ]</a:t>
                      </a:r>
                    </a:p>
                  </a:txBody>
                  <a:tcPr marL="0" marR="0" marT="0" marB="0" anchor="ctr"/>
                </a:tc>
                <a:tc>
                  <a:txBody>
                    <a:bodyPr/>
                    <a:lstStyle/>
                    <a:p>
                      <a:pPr marL="88900" indent="0">
                        <a:spcAft>
                          <a:spcPts val="840"/>
                        </a:spcAft>
                      </a:pPr>
                      <a:r>
                        <a:rPr lang="vi" sz="1200" b="1">
                          <a:latin typeface="Times New Roman"/>
                        </a:rPr>
                        <a:t>Kết quả</a:t>
                      </a:r>
                    </a:p>
                    <a:p>
                      <a:pPr marL="88900" indent="0"/>
                      <a:r>
                        <a:rPr lang="vi" sz="1200" b="1">
                          <a:latin typeface="Times New Roman"/>
                        </a:rPr>
                        <a:t>(d)</a:t>
                      </a:r>
                    </a:p>
                  </a:txBody>
                  <a:tcPr marL="0" marR="0" marT="0" marB="0" anchor="ctr"/>
                </a:tc>
                <a:extLst>
                  <a:ext uri="{0D108BD9-81ED-4DB2-BD59-A6C34878D82A}">
                    <a16:rowId xmlns:a16="http://schemas.microsoft.com/office/drawing/2014/main" val="10000"/>
                  </a:ext>
                </a:extLst>
              </a:tr>
              <a:tr h="448056">
                <a:tc>
                  <a:txBody>
                    <a:bodyPr/>
                    <a:lstStyle/>
                    <a:p>
                      <a:pPr marL="88900" indent="0"/>
                      <a:r>
                        <a:rPr lang="vi" sz="1200">
                          <a:latin typeface="Times New Roman"/>
                        </a:rPr>
                        <a:t>1</a:t>
                      </a:r>
                    </a:p>
                  </a:txBody>
                  <a:tcPr marL="0" marR="0" marT="0" marB="0" anchor="ctr"/>
                </a:tc>
                <a:tc>
                  <a:txBody>
                    <a:bodyPr/>
                    <a:lstStyle/>
                    <a:p>
                      <a:pPr indent="0"/>
                      <a:r>
                        <a:rPr lang="vi" sz="1200">
                          <a:latin typeface="Times New Roman"/>
                        </a:rPr>
                        <a:t>P</a:t>
                      </a:r>
                      <a:r>
                        <a:rPr lang="vi" sz="800">
                          <a:latin typeface="Times New Roman"/>
                        </a:rPr>
                        <a:t>3</a:t>
                      </a:r>
                    </a:p>
                  </a:txBody>
                  <a:tcPr marL="0" marR="0" marT="0" marB="0"/>
                </a:tc>
                <a:tc>
                  <a:txBody>
                    <a:bodyPr/>
                    <a:lstStyle/>
                    <a:p>
                      <a:pPr indent="0"/>
                      <a:r>
                        <a:rPr lang="vi" sz="1200">
                          <a:latin typeface="Times New Roman"/>
                        </a:rPr>
                        <a:t>(7, 4)</a:t>
                      </a:r>
                    </a:p>
                  </a:txBody>
                  <a:tcPr marL="0" marR="0" marT="0" marB="0"/>
                </a:tc>
                <a:tc>
                  <a:txBody>
                    <a:bodyPr/>
                    <a:lstStyle/>
                    <a:p>
                      <a:pPr indent="0"/>
                      <a:r>
                        <a:rPr lang="vi" sz="1200" b="1">
                          <a:latin typeface="Times New Roman"/>
                        </a:rPr>
                        <a:t>+</a:t>
                      </a:r>
                    </a:p>
                  </a:txBody>
                  <a:tcPr marL="0" marR="0" marT="0" marB="0" anchor="ctr"/>
                </a:tc>
                <a:tc>
                  <a:txBody>
                    <a:bodyPr/>
                    <a:lstStyle/>
                    <a:p>
                      <a:pPr indent="0"/>
                      <a:r>
                        <a:rPr lang="vi" sz="1200">
                          <a:latin typeface="Times New Roman"/>
                        </a:rPr>
                        <a:t>V[ (7-7)</a:t>
                      </a:r>
                      <a:r>
                        <a:rPr lang="vi" sz="1200" baseline="30000">
                          <a:latin typeface="Times New Roman"/>
                        </a:rPr>
                        <a:t>2</a:t>
                      </a:r>
                      <a:r>
                        <a:rPr lang="vi" sz="1200">
                          <a:latin typeface="Times New Roman"/>
                        </a:rPr>
                        <a:t> + (4-5)</a:t>
                      </a:r>
                      <a:r>
                        <a:rPr lang="vi" sz="1200" baseline="30000">
                          <a:latin typeface="Times New Roman"/>
                        </a:rPr>
                        <a:t>2</a:t>
                      </a:r>
                      <a:r>
                        <a:rPr lang="vi" sz="1200">
                          <a:latin typeface="Times New Roman"/>
                        </a:rPr>
                        <a:t> ] = V[0 + 1]</a:t>
                      </a:r>
                    </a:p>
                  </a:txBody>
                  <a:tcPr marL="0" marR="0" marT="0" marB="0"/>
                </a:tc>
                <a:tc>
                  <a:txBody>
                    <a:bodyPr/>
                    <a:lstStyle/>
                    <a:p>
                      <a:pPr marL="88900" indent="0"/>
                      <a:r>
                        <a:rPr lang="vi" sz="1200">
                          <a:latin typeface="Times New Roman"/>
                        </a:rPr>
                        <a:t>1.00</a:t>
                      </a:r>
                    </a:p>
                  </a:txBody>
                  <a:tcPr marL="0" marR="0" marT="0" marB="0" anchor="ctr"/>
                </a:tc>
                <a:extLst>
                  <a:ext uri="{0D108BD9-81ED-4DB2-BD59-A6C34878D82A}">
                    <a16:rowId xmlns:a16="http://schemas.microsoft.com/office/drawing/2014/main" val="10001"/>
                  </a:ext>
                </a:extLst>
              </a:tr>
              <a:tr h="445008">
                <a:tc>
                  <a:txBody>
                    <a:bodyPr/>
                    <a:lstStyle/>
                    <a:p>
                      <a:pPr marL="88900" indent="0"/>
                      <a:r>
                        <a:rPr lang="vi" sz="1200">
                          <a:latin typeface="Times New Roman"/>
                        </a:rPr>
                        <a:t>2</a:t>
                      </a:r>
                    </a:p>
                  </a:txBody>
                  <a:tcPr marL="0" marR="0" marT="0" marB="0" anchor="ctr"/>
                </a:tc>
                <a:tc>
                  <a:txBody>
                    <a:bodyPr/>
                    <a:lstStyle/>
                    <a:p>
                      <a:pPr indent="0"/>
                      <a:r>
                        <a:rPr lang="vi" sz="1200">
                          <a:latin typeface="Times New Roman"/>
                        </a:rPr>
                        <a:t>P</a:t>
                      </a:r>
                      <a:r>
                        <a:rPr lang="vi" sz="800">
                          <a:latin typeface="Times New Roman"/>
                        </a:rPr>
                        <a:t>19</a:t>
                      </a:r>
                    </a:p>
                  </a:txBody>
                  <a:tcPr marL="0" marR="0" marT="0" marB="0"/>
                </a:tc>
                <a:tc>
                  <a:txBody>
                    <a:bodyPr/>
                    <a:lstStyle/>
                    <a:p>
                      <a:pPr indent="0"/>
                      <a:r>
                        <a:rPr lang="vi" sz="1200">
                          <a:latin typeface="Times New Roman"/>
                        </a:rPr>
                        <a:t>(7, 4)</a:t>
                      </a:r>
                    </a:p>
                  </a:txBody>
                  <a:tcPr marL="0" marR="0" marT="0" marB="0"/>
                </a:tc>
                <a:tc>
                  <a:txBody>
                    <a:bodyPr/>
                    <a:lstStyle/>
                    <a:p>
                      <a:pPr indent="0"/>
                      <a:r>
                        <a:rPr lang="vi" sz="1200" b="1">
                          <a:latin typeface="Times New Roman"/>
                        </a:rPr>
                        <a:t>-</a:t>
                      </a:r>
                    </a:p>
                  </a:txBody>
                  <a:tcPr marL="0" marR="0" marT="0" marB="0" anchor="ctr"/>
                </a:tc>
                <a:tc>
                  <a:txBody>
                    <a:bodyPr/>
                    <a:lstStyle/>
                    <a:p>
                      <a:pPr indent="0"/>
                      <a:r>
                        <a:rPr lang="vi" sz="1200">
                          <a:latin typeface="Times New Roman"/>
                        </a:rPr>
                        <a:t>V[ (7-7)</a:t>
                      </a:r>
                      <a:r>
                        <a:rPr lang="vi" sz="1200" baseline="30000">
                          <a:latin typeface="Times New Roman"/>
                        </a:rPr>
                        <a:t>2</a:t>
                      </a:r>
                      <a:r>
                        <a:rPr lang="vi" sz="1200">
                          <a:latin typeface="Times New Roman"/>
                        </a:rPr>
                        <a:t> + (4-5)</a:t>
                      </a:r>
                      <a:r>
                        <a:rPr lang="vi" sz="1200" baseline="30000">
                          <a:latin typeface="Times New Roman"/>
                        </a:rPr>
                        <a:t>2</a:t>
                      </a:r>
                      <a:r>
                        <a:rPr lang="vi" sz="1200">
                          <a:latin typeface="Times New Roman"/>
                        </a:rPr>
                        <a:t> ] = V[0 + 1]</a:t>
                      </a:r>
                    </a:p>
                  </a:txBody>
                  <a:tcPr marL="0" marR="0" marT="0" marB="0"/>
                </a:tc>
                <a:tc>
                  <a:txBody>
                    <a:bodyPr/>
                    <a:lstStyle/>
                    <a:p>
                      <a:pPr marL="88900" indent="0"/>
                      <a:r>
                        <a:rPr lang="vi" sz="1200">
                          <a:latin typeface="Times New Roman"/>
                        </a:rPr>
                        <a:t>1.00</a:t>
                      </a:r>
                    </a:p>
                  </a:txBody>
                  <a:tcPr marL="0" marR="0" marT="0" marB="0" anchor="ctr"/>
                </a:tc>
                <a:extLst>
                  <a:ext uri="{0D108BD9-81ED-4DB2-BD59-A6C34878D82A}">
                    <a16:rowId xmlns:a16="http://schemas.microsoft.com/office/drawing/2014/main" val="10002"/>
                  </a:ext>
                </a:extLst>
              </a:tr>
              <a:tr h="448056">
                <a:tc>
                  <a:txBody>
                    <a:bodyPr/>
                    <a:lstStyle/>
                    <a:p>
                      <a:pPr marL="88900" indent="0"/>
                      <a:r>
                        <a:rPr lang="vi" sz="1200">
                          <a:latin typeface="Times New Roman"/>
                        </a:rPr>
                        <a:t>3</a:t>
                      </a:r>
                    </a:p>
                  </a:txBody>
                  <a:tcPr marL="0" marR="0" marT="0" marB="0" anchor="ctr"/>
                </a:tc>
                <a:tc>
                  <a:txBody>
                    <a:bodyPr/>
                    <a:lstStyle/>
                    <a:p>
                      <a:pPr indent="0"/>
                      <a:r>
                        <a:rPr lang="vi" sz="1200">
                          <a:latin typeface="Times New Roman"/>
                        </a:rPr>
                        <a:t>P</a:t>
                      </a:r>
                      <a:r>
                        <a:rPr lang="vi" sz="800">
                          <a:latin typeface="Times New Roman"/>
                        </a:rPr>
                        <a:t>5</a:t>
                      </a:r>
                    </a:p>
                  </a:txBody>
                  <a:tcPr marL="0" marR="0" marT="0" marB="0" anchor="ctr"/>
                </a:tc>
                <a:tc>
                  <a:txBody>
                    <a:bodyPr/>
                    <a:lstStyle/>
                    <a:p>
                      <a:pPr indent="0"/>
                      <a:r>
                        <a:rPr lang="vi" sz="1200">
                          <a:latin typeface="Times New Roman"/>
                        </a:rPr>
                        <a:t>(6, 5)</a:t>
                      </a:r>
                    </a:p>
                  </a:txBody>
                  <a:tcPr marL="0" marR="0" marT="0" marB="0" anchor="ctr"/>
                </a:tc>
                <a:tc>
                  <a:txBody>
                    <a:bodyPr/>
                    <a:lstStyle/>
                    <a:p>
                      <a:pPr indent="0"/>
                      <a:r>
                        <a:rPr lang="vi" sz="1200" b="1">
                          <a:latin typeface="Times New Roman"/>
                        </a:rPr>
                        <a:t>+</a:t>
                      </a:r>
                    </a:p>
                  </a:txBody>
                  <a:tcPr marL="0" marR="0" marT="0" marB="0" anchor="ctr"/>
                </a:tc>
                <a:tc>
                  <a:txBody>
                    <a:bodyPr/>
                    <a:lstStyle/>
                    <a:p>
                      <a:pPr indent="0"/>
                      <a:r>
                        <a:rPr lang="vi" sz="1200">
                          <a:latin typeface="Times New Roman"/>
                        </a:rPr>
                        <a:t>V[ (6-7)</a:t>
                      </a:r>
                      <a:r>
                        <a:rPr lang="vi" sz="1200" baseline="30000">
                          <a:latin typeface="Times New Roman"/>
                        </a:rPr>
                        <a:t>2</a:t>
                      </a:r>
                      <a:r>
                        <a:rPr lang="vi" sz="1200">
                          <a:latin typeface="Times New Roman"/>
                        </a:rPr>
                        <a:t> + (5-5)</a:t>
                      </a:r>
                      <a:r>
                        <a:rPr lang="vi" sz="1200" baseline="30000">
                          <a:latin typeface="Times New Roman"/>
                        </a:rPr>
                        <a:t>2</a:t>
                      </a:r>
                      <a:r>
                        <a:rPr lang="vi" sz="1200">
                          <a:latin typeface="Times New Roman"/>
                        </a:rPr>
                        <a:t> ] = V[1 + 0]</a:t>
                      </a:r>
                    </a:p>
                  </a:txBody>
                  <a:tcPr marL="0" marR="0" marT="0" marB="0" anchor="ctr"/>
                </a:tc>
                <a:tc>
                  <a:txBody>
                    <a:bodyPr/>
                    <a:lstStyle/>
                    <a:p>
                      <a:pPr marL="88900" indent="0"/>
                      <a:r>
                        <a:rPr lang="vi" sz="1200">
                          <a:latin typeface="Times New Roman"/>
                        </a:rPr>
                        <a:t>1.00</a:t>
                      </a:r>
                    </a:p>
                  </a:txBody>
                  <a:tcPr marL="0" marR="0" marT="0" marB="0" anchor="ctr"/>
                </a:tc>
                <a:extLst>
                  <a:ext uri="{0D108BD9-81ED-4DB2-BD59-A6C34878D82A}">
                    <a16:rowId xmlns:a16="http://schemas.microsoft.com/office/drawing/2014/main" val="10003"/>
                  </a:ext>
                </a:extLst>
              </a:tr>
              <a:tr h="448056">
                <a:tc>
                  <a:txBody>
                    <a:bodyPr/>
                    <a:lstStyle/>
                    <a:p>
                      <a:pPr marL="88900" indent="0"/>
                      <a:r>
                        <a:rPr lang="vi" sz="1200">
                          <a:latin typeface="Times New Roman"/>
                        </a:rPr>
                        <a:t>4</a:t>
                      </a:r>
                    </a:p>
                  </a:txBody>
                  <a:tcPr marL="0" marR="0" marT="0" marB="0" anchor="ctr"/>
                </a:tc>
                <a:tc>
                  <a:txBody>
                    <a:bodyPr/>
                    <a:lstStyle/>
                    <a:p>
                      <a:pPr indent="0"/>
                      <a:r>
                        <a:rPr lang="vi" sz="1200">
                          <a:latin typeface="Times New Roman"/>
                        </a:rPr>
                        <a:t>P</a:t>
                      </a:r>
                      <a:r>
                        <a:rPr lang="vi" sz="800">
                          <a:latin typeface="Times New Roman"/>
                        </a:rPr>
                        <a:t>13</a:t>
                      </a:r>
                    </a:p>
                  </a:txBody>
                  <a:tcPr marL="0" marR="0" marT="0" marB="0" anchor="ctr"/>
                </a:tc>
                <a:tc>
                  <a:txBody>
                    <a:bodyPr/>
                    <a:lstStyle/>
                    <a:p>
                      <a:pPr indent="0"/>
                      <a:r>
                        <a:rPr lang="vi" sz="1200">
                          <a:latin typeface="Times New Roman"/>
                        </a:rPr>
                        <a:t>(7, 6)</a:t>
                      </a:r>
                    </a:p>
                  </a:txBody>
                  <a:tcPr marL="0" marR="0" marT="0" marB="0" anchor="ctr"/>
                </a:tc>
                <a:tc>
                  <a:txBody>
                    <a:bodyPr/>
                    <a:lstStyle/>
                    <a:p>
                      <a:pPr indent="0"/>
                      <a:r>
                        <a:rPr lang="vi" sz="1200" b="1">
                          <a:latin typeface="Times New Roman"/>
                        </a:rPr>
                        <a:t>-</a:t>
                      </a:r>
                    </a:p>
                  </a:txBody>
                  <a:tcPr marL="0" marR="0" marT="0" marB="0" anchor="ctr"/>
                </a:tc>
                <a:tc>
                  <a:txBody>
                    <a:bodyPr/>
                    <a:lstStyle/>
                    <a:p>
                      <a:pPr indent="0"/>
                      <a:r>
                        <a:rPr lang="vi" sz="1200">
                          <a:latin typeface="Times New Roman"/>
                        </a:rPr>
                        <a:t>V[ (7-7)</a:t>
                      </a:r>
                      <a:r>
                        <a:rPr lang="vi" sz="1200" baseline="30000">
                          <a:latin typeface="Times New Roman"/>
                        </a:rPr>
                        <a:t>2</a:t>
                      </a:r>
                      <a:r>
                        <a:rPr lang="vi" sz="1200">
                          <a:latin typeface="Times New Roman"/>
                        </a:rPr>
                        <a:t> + (6-5)</a:t>
                      </a:r>
                      <a:r>
                        <a:rPr lang="vi" sz="1200" baseline="30000">
                          <a:latin typeface="Times New Roman"/>
                        </a:rPr>
                        <a:t>2</a:t>
                      </a:r>
                      <a:r>
                        <a:rPr lang="vi" sz="1200">
                          <a:latin typeface="Times New Roman"/>
                        </a:rPr>
                        <a:t> ] = V[0 + 1]</a:t>
                      </a:r>
                    </a:p>
                  </a:txBody>
                  <a:tcPr marL="0" marR="0" marT="0" marB="0" anchor="ctr"/>
                </a:tc>
                <a:tc>
                  <a:txBody>
                    <a:bodyPr/>
                    <a:lstStyle/>
                    <a:p>
                      <a:pPr marL="88900" indent="0"/>
                      <a:r>
                        <a:rPr lang="vi" sz="1200">
                          <a:latin typeface="Times New Roman"/>
                        </a:rPr>
                        <a:t>1.00</a:t>
                      </a:r>
                    </a:p>
                  </a:txBody>
                  <a:tcPr marL="0" marR="0" marT="0" marB="0" anchor="ctr"/>
                </a:tc>
                <a:extLst>
                  <a:ext uri="{0D108BD9-81ED-4DB2-BD59-A6C34878D82A}">
                    <a16:rowId xmlns:a16="http://schemas.microsoft.com/office/drawing/2014/main" val="10004"/>
                  </a:ext>
                </a:extLst>
              </a:tr>
              <a:tr h="445008">
                <a:tc>
                  <a:txBody>
                    <a:bodyPr/>
                    <a:lstStyle/>
                    <a:p>
                      <a:pPr marL="88900" indent="0"/>
                      <a:r>
                        <a:rPr lang="vi" sz="1200">
                          <a:latin typeface="Times New Roman"/>
                        </a:rPr>
                        <a:t>5</a:t>
                      </a:r>
                    </a:p>
                  </a:txBody>
                  <a:tcPr marL="0" marR="0" marT="0" marB="0" anchor="ctr"/>
                </a:tc>
                <a:tc>
                  <a:txBody>
                    <a:bodyPr/>
                    <a:lstStyle/>
                    <a:p>
                      <a:pPr indent="0"/>
                      <a:r>
                        <a:rPr lang="vi" sz="1200">
                          <a:latin typeface="Times New Roman"/>
                        </a:rPr>
                        <a:t>P</a:t>
                      </a:r>
                      <a:r>
                        <a:rPr lang="vi" sz="800">
                          <a:latin typeface="Times New Roman"/>
                        </a:rPr>
                        <a:t>17</a:t>
                      </a:r>
                    </a:p>
                  </a:txBody>
                  <a:tcPr marL="0" marR="0" marT="0" marB="0" anchor="ctr"/>
                </a:tc>
                <a:tc>
                  <a:txBody>
                    <a:bodyPr/>
                    <a:lstStyle/>
                    <a:p>
                      <a:pPr indent="0"/>
                      <a:r>
                        <a:rPr lang="vi" sz="1200">
                          <a:latin typeface="Times New Roman"/>
                        </a:rPr>
                        <a:t>(8, 5)</a:t>
                      </a:r>
                    </a:p>
                  </a:txBody>
                  <a:tcPr marL="0" marR="0" marT="0" marB="0" anchor="ctr"/>
                </a:tc>
                <a:tc>
                  <a:txBody>
                    <a:bodyPr/>
                    <a:lstStyle/>
                    <a:p>
                      <a:pPr indent="0"/>
                      <a:r>
                        <a:rPr lang="vi" sz="1200" b="1">
                          <a:latin typeface="Times New Roman"/>
                        </a:rPr>
                        <a:t>-</a:t>
                      </a:r>
                    </a:p>
                  </a:txBody>
                  <a:tcPr marL="0" marR="0" marT="0" marB="0" anchor="ctr"/>
                </a:tc>
                <a:tc>
                  <a:txBody>
                    <a:bodyPr/>
                    <a:lstStyle/>
                    <a:p>
                      <a:pPr indent="0"/>
                      <a:r>
                        <a:rPr lang="vi" sz="1200">
                          <a:latin typeface="Times New Roman"/>
                        </a:rPr>
                        <a:t>V[ (8-7)</a:t>
                      </a:r>
                      <a:r>
                        <a:rPr lang="vi" sz="1200" baseline="30000">
                          <a:latin typeface="Times New Roman"/>
                        </a:rPr>
                        <a:t>2</a:t>
                      </a:r>
                      <a:r>
                        <a:rPr lang="vi" sz="1200">
                          <a:latin typeface="Times New Roman"/>
                        </a:rPr>
                        <a:t> + (5-5)</a:t>
                      </a:r>
                      <a:r>
                        <a:rPr lang="vi" sz="1200" baseline="30000">
                          <a:latin typeface="Times New Roman"/>
                        </a:rPr>
                        <a:t>2</a:t>
                      </a:r>
                      <a:r>
                        <a:rPr lang="vi" sz="1200">
                          <a:latin typeface="Times New Roman"/>
                        </a:rPr>
                        <a:t> ] = V[1 + 0]</a:t>
                      </a:r>
                    </a:p>
                  </a:txBody>
                  <a:tcPr marL="0" marR="0" marT="0" marB="0" anchor="ctr"/>
                </a:tc>
                <a:tc>
                  <a:txBody>
                    <a:bodyPr/>
                    <a:lstStyle/>
                    <a:p>
                      <a:pPr marL="88900" indent="0"/>
                      <a:r>
                        <a:rPr lang="vi" sz="1200">
                          <a:latin typeface="Times New Roman"/>
                        </a:rPr>
                        <a:t>1.00</a:t>
                      </a:r>
                    </a:p>
                  </a:txBody>
                  <a:tcPr marL="0" marR="0" marT="0" marB="0" anchor="ctr"/>
                </a:tc>
                <a:extLst>
                  <a:ext uri="{0D108BD9-81ED-4DB2-BD59-A6C34878D82A}">
                    <a16:rowId xmlns:a16="http://schemas.microsoft.com/office/drawing/2014/main" val="10005"/>
                  </a:ext>
                </a:extLst>
              </a:tr>
              <a:tr h="448056">
                <a:tc>
                  <a:txBody>
                    <a:bodyPr/>
                    <a:lstStyle/>
                    <a:p>
                      <a:pPr marL="88900" indent="0"/>
                      <a:r>
                        <a:rPr lang="vi" sz="1200">
                          <a:latin typeface="Times New Roman"/>
                        </a:rPr>
                        <a:t>6</a:t>
                      </a:r>
                    </a:p>
                  </a:txBody>
                  <a:tcPr marL="0" marR="0" marT="0" marB="0" anchor="ctr"/>
                </a:tc>
                <a:tc>
                  <a:txBody>
                    <a:bodyPr/>
                    <a:lstStyle/>
                    <a:p>
                      <a:pPr indent="0"/>
                      <a:r>
                        <a:rPr lang="vi" sz="1200">
                          <a:latin typeface="Times New Roman"/>
                        </a:rPr>
                        <a:t>P</a:t>
                      </a:r>
                      <a:r>
                        <a:rPr lang="vi" sz="800">
                          <a:latin typeface="Times New Roman"/>
                        </a:rPr>
                        <a:t>18</a:t>
                      </a:r>
                    </a:p>
                  </a:txBody>
                  <a:tcPr marL="0" marR="0" marT="0" marB="0" anchor="ctr"/>
                </a:tc>
                <a:tc>
                  <a:txBody>
                    <a:bodyPr/>
                    <a:lstStyle/>
                    <a:p>
                      <a:pPr indent="0"/>
                      <a:r>
                        <a:rPr lang="vi" sz="1200" baseline="30000">
                          <a:latin typeface="Times New Roman"/>
                        </a:rPr>
                        <a:t>(6, 6)</a:t>
                      </a:r>
                    </a:p>
                  </a:txBody>
                  <a:tcPr marL="0" marR="0" marT="0" marB="0" anchor="ctr"/>
                </a:tc>
                <a:tc>
                  <a:txBody>
                    <a:bodyPr/>
                    <a:lstStyle/>
                    <a:p>
                      <a:pPr indent="0"/>
                      <a:r>
                        <a:rPr lang="vi" sz="1200" b="1">
                          <a:latin typeface="Times New Roman"/>
                        </a:rPr>
                        <a:t>-</a:t>
                      </a:r>
                    </a:p>
                  </a:txBody>
                  <a:tcPr marL="0" marR="0" marT="0" marB="0" anchor="ctr"/>
                </a:tc>
                <a:tc>
                  <a:txBody>
                    <a:bodyPr/>
                    <a:lstStyle/>
                    <a:p>
                      <a:pPr indent="0"/>
                      <a:r>
                        <a:rPr lang="vi" sz="1200">
                          <a:latin typeface="Times New Roman"/>
                        </a:rPr>
                        <a:t>V[ (6-7)</a:t>
                      </a:r>
                      <a:r>
                        <a:rPr lang="vi" sz="1200" baseline="30000">
                          <a:latin typeface="Times New Roman"/>
                        </a:rPr>
                        <a:t>2</a:t>
                      </a:r>
                      <a:r>
                        <a:rPr lang="vi" sz="1200">
                          <a:latin typeface="Times New Roman"/>
                        </a:rPr>
                        <a:t> + (6-5)</a:t>
                      </a:r>
                      <a:r>
                        <a:rPr lang="vi" sz="1200" baseline="30000">
                          <a:latin typeface="Times New Roman"/>
                        </a:rPr>
                        <a:t>2</a:t>
                      </a:r>
                      <a:r>
                        <a:rPr lang="vi" sz="1200">
                          <a:latin typeface="Times New Roman"/>
                        </a:rPr>
                        <a:t> ] = V[1 + 1]</a:t>
                      </a:r>
                    </a:p>
                  </a:txBody>
                  <a:tcPr marL="0" marR="0" marT="0" marB="0"/>
                </a:tc>
                <a:tc>
                  <a:txBody>
                    <a:bodyPr/>
                    <a:lstStyle/>
                    <a:p>
                      <a:pPr marL="88900" indent="0"/>
                      <a:r>
                        <a:rPr lang="vi" sz="1200">
                          <a:latin typeface="Times New Roman"/>
                        </a:rPr>
                        <a:t>1.41</a:t>
                      </a:r>
                    </a:p>
                  </a:txBody>
                  <a:tcPr marL="0" marR="0" marT="0" marB="0" anchor="ctr"/>
                </a:tc>
                <a:extLst>
                  <a:ext uri="{0D108BD9-81ED-4DB2-BD59-A6C34878D82A}">
                    <a16:rowId xmlns:a16="http://schemas.microsoft.com/office/drawing/2014/main" val="10006"/>
                  </a:ext>
                </a:extLst>
              </a:tr>
              <a:tr h="445008">
                <a:tc>
                  <a:txBody>
                    <a:bodyPr/>
                    <a:lstStyle/>
                    <a:p>
                      <a:pPr marL="88900" indent="0"/>
                      <a:r>
                        <a:rPr lang="vi" sz="1200">
                          <a:latin typeface="Times New Roman"/>
                        </a:rPr>
                        <a:t>7</a:t>
                      </a:r>
                    </a:p>
                  </a:txBody>
                  <a:tcPr marL="0" marR="0" marT="0" marB="0" anchor="ctr"/>
                </a:tc>
                <a:tc>
                  <a:txBody>
                    <a:bodyPr/>
                    <a:lstStyle/>
                    <a:p>
                      <a:pPr indent="0"/>
                      <a:r>
                        <a:rPr lang="vi" sz="1200">
                          <a:latin typeface="Times New Roman"/>
                        </a:rPr>
                        <a:t>P 6</a:t>
                      </a:r>
                    </a:p>
                  </a:txBody>
                  <a:tcPr marL="0" marR="0" marT="0" marB="0" anchor="ctr"/>
                </a:tc>
                <a:tc>
                  <a:txBody>
                    <a:bodyPr/>
                    <a:lstStyle/>
                    <a:p>
                      <a:pPr indent="0"/>
                      <a:r>
                        <a:rPr lang="vi" sz="1200">
                          <a:latin typeface="Times New Roman"/>
                        </a:rPr>
                        <a:t>(5, 6)</a:t>
                      </a:r>
                    </a:p>
                  </a:txBody>
                  <a:tcPr marL="0" marR="0" marT="0" marB="0" anchor="ctr"/>
                </a:tc>
                <a:tc>
                  <a:txBody>
                    <a:bodyPr/>
                    <a:lstStyle/>
                    <a:p>
                      <a:pPr indent="0"/>
                      <a:r>
                        <a:rPr lang="vi" sz="1200" b="1">
                          <a:latin typeface="Times New Roman"/>
                        </a:rPr>
                        <a:t>+</a:t>
                      </a:r>
                    </a:p>
                  </a:txBody>
                  <a:tcPr marL="0" marR="0" marT="0" marB="0" anchor="ctr"/>
                </a:tc>
                <a:tc>
                  <a:txBody>
                    <a:bodyPr/>
                    <a:lstStyle/>
                    <a:p>
                      <a:pPr indent="0"/>
                      <a:r>
                        <a:rPr lang="vi" sz="1200">
                          <a:latin typeface="Times New Roman"/>
                        </a:rPr>
                        <a:t>V[ (5-7)</a:t>
                      </a:r>
                      <a:r>
                        <a:rPr lang="vi" sz="1200" baseline="30000">
                          <a:latin typeface="Times New Roman"/>
                        </a:rPr>
                        <a:t>2</a:t>
                      </a:r>
                      <a:r>
                        <a:rPr lang="vi" sz="1200">
                          <a:latin typeface="Times New Roman"/>
                        </a:rPr>
                        <a:t> + (6-5)</a:t>
                      </a:r>
                      <a:r>
                        <a:rPr lang="vi" sz="1200" baseline="30000">
                          <a:latin typeface="Times New Roman"/>
                        </a:rPr>
                        <a:t>2</a:t>
                      </a:r>
                      <a:r>
                        <a:rPr lang="vi" sz="1200">
                          <a:latin typeface="Times New Roman"/>
                        </a:rPr>
                        <a:t> ] = V[4 + 1]</a:t>
                      </a:r>
                    </a:p>
                  </a:txBody>
                  <a:tcPr marL="0" marR="0" marT="0" marB="0" anchor="ctr"/>
                </a:tc>
                <a:tc>
                  <a:txBody>
                    <a:bodyPr/>
                    <a:lstStyle/>
                    <a:p>
                      <a:pPr marL="88900" indent="0"/>
                      <a:r>
                        <a:rPr lang="vi" sz="1200">
                          <a:latin typeface="Times New Roman"/>
                        </a:rPr>
                        <a:t>2.24</a:t>
                      </a:r>
                    </a:p>
                  </a:txBody>
                  <a:tcPr marL="0" marR="0" marT="0" marB="0" anchor="ctr"/>
                </a:tc>
                <a:extLst>
                  <a:ext uri="{0D108BD9-81ED-4DB2-BD59-A6C34878D82A}">
                    <a16:rowId xmlns:a16="http://schemas.microsoft.com/office/drawing/2014/main" val="10007"/>
                  </a:ext>
                </a:extLst>
              </a:tr>
              <a:tr h="448056">
                <a:tc>
                  <a:txBody>
                    <a:bodyPr/>
                    <a:lstStyle/>
                    <a:p>
                      <a:pPr marL="88900" indent="0"/>
                      <a:r>
                        <a:rPr lang="vi" sz="1200">
                          <a:latin typeface="Times New Roman"/>
                        </a:rPr>
                        <a:t>8</a:t>
                      </a:r>
                    </a:p>
                  </a:txBody>
                  <a:tcPr marL="0" marR="0" marT="0" marB="0" anchor="ctr"/>
                </a:tc>
                <a:tc>
                  <a:txBody>
                    <a:bodyPr/>
                    <a:lstStyle/>
                    <a:p>
                      <a:pPr indent="0"/>
                      <a:r>
                        <a:rPr lang="vi" sz="1200">
                          <a:latin typeface="Times New Roman"/>
                        </a:rPr>
                        <a:t>P</a:t>
                      </a:r>
                      <a:r>
                        <a:rPr lang="vi" sz="800">
                          <a:latin typeface="Times New Roman"/>
                        </a:rPr>
                        <a:t>16</a:t>
                      </a:r>
                    </a:p>
                  </a:txBody>
                  <a:tcPr marL="0" marR="0" marT="0" marB="0" anchor="ctr"/>
                </a:tc>
                <a:tc>
                  <a:txBody>
                    <a:bodyPr/>
                    <a:lstStyle/>
                    <a:p>
                      <a:pPr indent="0"/>
                      <a:r>
                        <a:rPr lang="vi" sz="1200">
                          <a:latin typeface="Times New Roman"/>
                        </a:rPr>
                        <a:t>(5, 4)</a:t>
                      </a:r>
                    </a:p>
                  </a:txBody>
                  <a:tcPr marL="0" marR="0" marT="0" marB="0" anchor="ctr"/>
                </a:tc>
                <a:tc>
                  <a:txBody>
                    <a:bodyPr/>
                    <a:lstStyle/>
                    <a:p>
                      <a:pPr indent="0"/>
                      <a:r>
                        <a:rPr lang="vi" sz="1200" b="1">
                          <a:latin typeface="Times New Roman"/>
                        </a:rPr>
                        <a:t>-</a:t>
                      </a:r>
                    </a:p>
                  </a:txBody>
                  <a:tcPr marL="0" marR="0" marT="0" marB="0" anchor="ctr"/>
                </a:tc>
                <a:tc>
                  <a:txBody>
                    <a:bodyPr/>
                    <a:lstStyle/>
                    <a:p>
                      <a:pPr indent="0"/>
                      <a:r>
                        <a:rPr lang="vi" sz="1200">
                          <a:latin typeface="Times New Roman"/>
                        </a:rPr>
                        <a:t>V[ (5-7)</a:t>
                      </a:r>
                      <a:r>
                        <a:rPr lang="vi" sz="1200" baseline="30000">
                          <a:latin typeface="Times New Roman"/>
                        </a:rPr>
                        <a:t>2</a:t>
                      </a:r>
                      <a:r>
                        <a:rPr lang="vi" sz="1200">
                          <a:latin typeface="Times New Roman"/>
                        </a:rPr>
                        <a:t> + (4-5)</a:t>
                      </a:r>
                      <a:r>
                        <a:rPr lang="vi" sz="1200" baseline="30000">
                          <a:latin typeface="Times New Roman"/>
                        </a:rPr>
                        <a:t>2</a:t>
                      </a:r>
                      <a:r>
                        <a:rPr lang="vi" sz="1200">
                          <a:latin typeface="Times New Roman"/>
                        </a:rPr>
                        <a:t> ] = V[4 + 1]</a:t>
                      </a:r>
                    </a:p>
                  </a:txBody>
                  <a:tcPr marL="0" marR="0" marT="0" marB="0" anchor="ctr"/>
                </a:tc>
                <a:tc>
                  <a:txBody>
                    <a:bodyPr/>
                    <a:lstStyle/>
                    <a:p>
                      <a:pPr marL="88900" indent="0"/>
                      <a:r>
                        <a:rPr lang="vi" sz="1200">
                          <a:latin typeface="Times New Roman"/>
                        </a:rPr>
                        <a:t>2.24</a:t>
                      </a:r>
                    </a:p>
                  </a:txBody>
                  <a:tcPr marL="0" marR="0" marT="0" marB="0" anchor="ctr"/>
                </a:tc>
                <a:extLst>
                  <a:ext uri="{0D108BD9-81ED-4DB2-BD59-A6C34878D82A}">
                    <a16:rowId xmlns:a16="http://schemas.microsoft.com/office/drawing/2014/main" val="10008"/>
                  </a:ext>
                </a:extLst>
              </a:tr>
              <a:tr h="451104">
                <a:tc>
                  <a:txBody>
                    <a:bodyPr/>
                    <a:lstStyle/>
                    <a:p>
                      <a:pPr marL="88900" indent="0"/>
                      <a:r>
                        <a:rPr lang="vi" sz="1200">
                          <a:latin typeface="Times New Roman"/>
                        </a:rPr>
                        <a:t>9</a:t>
                      </a:r>
                    </a:p>
                  </a:txBody>
                  <a:tcPr marL="0" marR="0" marT="0" marB="0" anchor="ctr"/>
                </a:tc>
                <a:tc>
                  <a:txBody>
                    <a:bodyPr/>
                    <a:lstStyle/>
                    <a:p>
                      <a:pPr indent="0"/>
                      <a:r>
                        <a:rPr lang="vi" sz="1200">
                          <a:latin typeface="Times New Roman"/>
                        </a:rPr>
                        <a:t>P</a:t>
                      </a:r>
                      <a:r>
                        <a:rPr lang="vi" sz="800">
                          <a:latin typeface="Times New Roman"/>
                        </a:rPr>
                        <a:t>15</a:t>
                      </a:r>
                    </a:p>
                  </a:txBody>
                  <a:tcPr marL="0" marR="0" marT="0" marB="0" anchor="ctr"/>
                </a:tc>
                <a:tc>
                  <a:txBody>
                    <a:bodyPr/>
                    <a:lstStyle/>
                    <a:p>
                      <a:pPr indent="0"/>
                      <a:r>
                        <a:rPr lang="vi" sz="1200">
                          <a:latin typeface="Times New Roman"/>
                        </a:rPr>
                        <a:t>(9, 7)</a:t>
                      </a:r>
                    </a:p>
                  </a:txBody>
                  <a:tcPr marL="0" marR="0" marT="0" marB="0" anchor="ctr"/>
                </a:tc>
                <a:tc>
                  <a:txBody>
                    <a:bodyPr/>
                    <a:lstStyle/>
                    <a:p>
                      <a:pPr indent="0"/>
                      <a:r>
                        <a:rPr lang="vi" sz="1200" b="1">
                          <a:latin typeface="Times New Roman"/>
                        </a:rPr>
                        <a:t>-</a:t>
                      </a:r>
                    </a:p>
                  </a:txBody>
                  <a:tcPr marL="0" marR="0" marT="0" marB="0" anchor="ctr"/>
                </a:tc>
                <a:tc>
                  <a:txBody>
                    <a:bodyPr/>
                    <a:lstStyle/>
                    <a:p>
                      <a:pPr indent="0"/>
                      <a:r>
                        <a:rPr lang="vi" sz="1200">
                          <a:latin typeface="Times New Roman"/>
                        </a:rPr>
                        <a:t>V[ (9-7)</a:t>
                      </a:r>
                      <a:r>
                        <a:rPr lang="vi" sz="1200" baseline="30000">
                          <a:latin typeface="Times New Roman"/>
                        </a:rPr>
                        <a:t>2</a:t>
                      </a:r>
                      <a:r>
                        <a:rPr lang="vi" sz="1200">
                          <a:latin typeface="Times New Roman"/>
                        </a:rPr>
                        <a:t> + (7-5)</a:t>
                      </a:r>
                      <a:r>
                        <a:rPr lang="vi" sz="1200" baseline="30000">
                          <a:latin typeface="Times New Roman"/>
                        </a:rPr>
                        <a:t>2</a:t>
                      </a:r>
                      <a:r>
                        <a:rPr lang="vi" sz="1200">
                          <a:latin typeface="Times New Roman"/>
                        </a:rPr>
                        <a:t> ] = V[4 + 4]</a:t>
                      </a:r>
                    </a:p>
                  </a:txBody>
                  <a:tcPr marL="0" marR="0" marT="0" marB="0" anchor="ctr"/>
                </a:tc>
                <a:tc>
                  <a:txBody>
                    <a:bodyPr/>
                    <a:lstStyle/>
                    <a:p>
                      <a:pPr marL="88900" indent="0"/>
                      <a:r>
                        <a:rPr lang="vi" sz="1200">
                          <a:latin typeface="Times New Roman"/>
                        </a:rPr>
                        <a:t>2.83</a:t>
                      </a:r>
                    </a:p>
                  </a:txBody>
                  <a:tcPr marL="0" marR="0" marT="0" marB="0" anchor="ctr"/>
                </a:tc>
                <a:extLst>
                  <a:ext uri="{0D108BD9-81ED-4DB2-BD59-A6C34878D82A}">
                    <a16:rowId xmlns:a16="http://schemas.microsoft.com/office/drawing/2014/main" val="10009"/>
                  </a:ext>
                </a:extLst>
              </a:tr>
            </a:tbl>
          </a:graphicData>
        </a:graphic>
      </p:graphicFrame>
      <p:sp>
        <p:nvSpPr>
          <p:cNvPr id="5" name="Rectangle 4"/>
          <p:cNvSpPr/>
          <p:nvPr/>
        </p:nvSpPr>
        <p:spPr>
          <a:xfrm>
            <a:off x="1066800" y="7507224"/>
            <a:ext cx="1825752" cy="222504"/>
          </a:xfrm>
          <a:prstGeom prst="rect">
            <a:avLst/>
          </a:prstGeom>
        </p:spPr>
        <p:txBody>
          <a:bodyPr wrap="none" lIns="0" tIns="0" rIns="0" bIns="0">
            <a:noAutofit/>
          </a:bodyPr>
          <a:lstStyle/>
          <a:p>
            <a:pPr indent="0"/>
            <a:r>
              <a:rPr lang="vi" sz="1200" b="1">
                <a:latin typeface="Times New Roman"/>
              </a:rPr>
              <a:t>Kết quả phân lớp Câu (a)</a:t>
            </a:r>
          </a:p>
        </p:txBody>
      </p:sp>
      <p:sp>
        <p:nvSpPr>
          <p:cNvPr id="6" name="Rectangle 5"/>
          <p:cNvSpPr/>
          <p:nvPr/>
        </p:nvSpPr>
        <p:spPr>
          <a:xfrm>
            <a:off x="1298448" y="7790688"/>
            <a:ext cx="5650992" cy="1359408"/>
          </a:xfrm>
          <a:prstGeom prst="rect">
            <a:avLst/>
          </a:prstGeom>
        </p:spPr>
        <p:txBody>
          <a:bodyPr lIns="0" tIns="0" rIns="0" bIns="0">
            <a:noAutofit/>
          </a:bodyPr>
          <a:lstStyle/>
          <a:p>
            <a:pPr indent="0" algn="just">
              <a:spcBef>
                <a:spcPts val="420"/>
              </a:spcBef>
              <a:spcAft>
                <a:spcPts val="420"/>
              </a:spcAft>
            </a:pPr>
            <a:r>
              <a:rPr lang="vi" sz="1200" b="1">
                <a:latin typeface="Times New Roman"/>
              </a:rPr>
              <a:t>•    k=1: </a:t>
            </a:r>
            <a:r>
              <a:rPr lang="vi" sz="1200">
                <a:latin typeface="Times New Roman"/>
              </a:rPr>
              <a:t>Điểm gần nhất là P</a:t>
            </a:r>
            <a:r>
              <a:rPr lang="vi" sz="800">
                <a:latin typeface="Times New Roman"/>
              </a:rPr>
              <a:t>3</a:t>
            </a:r>
            <a:r>
              <a:rPr lang="vi" sz="1200">
                <a:latin typeface="Times New Roman"/>
              </a:rPr>
              <a:t> (+). ^ </a:t>
            </a:r>
            <a:r>
              <a:rPr lang="vi" sz="1200" b="1">
                <a:latin typeface="Times New Roman"/>
              </a:rPr>
              <a:t>Dự đoán: </a:t>
            </a:r>
            <a:r>
              <a:rPr lang="en-US" sz="1200" b="1">
                <a:latin typeface="Times New Roman"/>
              </a:rPr>
              <a:t>Class </a:t>
            </a:r>
            <a:r>
              <a:rPr lang="vi" sz="1200" b="1">
                <a:latin typeface="Times New Roman"/>
              </a:rPr>
              <a:t>(+)</a:t>
            </a:r>
            <a:r>
              <a:rPr lang="vi" sz="1200">
                <a:latin typeface="Times New Roman"/>
              </a:rPr>
              <a:t>.</a:t>
            </a:r>
          </a:p>
          <a:p>
            <a:pPr marL="250952" indent="-228600">
              <a:lnSpc>
                <a:spcPts val="2520"/>
              </a:lnSpc>
            </a:pPr>
            <a:r>
              <a:rPr lang="vi" sz="1200" b="1">
                <a:latin typeface="Times New Roman"/>
              </a:rPr>
              <a:t>•    k=3: </a:t>
            </a:r>
            <a:r>
              <a:rPr lang="vi" sz="1200">
                <a:latin typeface="Times New Roman"/>
              </a:rPr>
              <a:t>3 điểm gần nhất: P</a:t>
            </a:r>
            <a:r>
              <a:rPr lang="vi" sz="800">
                <a:latin typeface="Times New Roman"/>
              </a:rPr>
              <a:t>3</a:t>
            </a:r>
            <a:r>
              <a:rPr lang="vi" sz="1200">
                <a:latin typeface="Times New Roman"/>
              </a:rPr>
              <a:t>(+), P</a:t>
            </a:r>
            <a:r>
              <a:rPr lang="vi" sz="800">
                <a:latin typeface="Times New Roman"/>
              </a:rPr>
              <a:t>19</a:t>
            </a:r>
            <a:r>
              <a:rPr lang="vi" sz="1200">
                <a:latin typeface="Times New Roman"/>
              </a:rPr>
              <a:t>(-), P</a:t>
            </a:r>
            <a:r>
              <a:rPr lang="vi" sz="800">
                <a:latin typeface="Times New Roman"/>
              </a:rPr>
              <a:t>5</a:t>
            </a:r>
            <a:r>
              <a:rPr lang="vi" sz="1200">
                <a:latin typeface="Times New Roman"/>
              </a:rPr>
              <a:t>(+). Tỉ số: 2(+) vs 1(-). ^ </a:t>
            </a:r>
            <a:r>
              <a:rPr lang="vi" sz="1200" b="1">
                <a:latin typeface="Times New Roman"/>
              </a:rPr>
              <a:t>Dự đoán: </a:t>
            </a:r>
            <a:r>
              <a:rPr lang="en-US" sz="1200" b="1">
                <a:latin typeface="Times New Roman"/>
              </a:rPr>
              <a:t>Class </a:t>
            </a:r>
            <a:r>
              <a:rPr lang="vi" sz="1200" b="1">
                <a:latin typeface="Times New Roman"/>
              </a:rPr>
              <a:t>(+)</a:t>
            </a:r>
            <a:r>
              <a:rPr lang="vi" sz="1200">
                <a:latin typeface="Times New Roman"/>
              </a:rPr>
              <a:t>.</a:t>
            </a:r>
          </a:p>
          <a:p>
            <a:pPr marL="250952" indent="-228600">
              <a:lnSpc>
                <a:spcPts val="2520"/>
              </a:lnSpc>
            </a:pPr>
            <a:r>
              <a:rPr lang="vi" sz="1200" b="1">
                <a:latin typeface="Times New Roman"/>
              </a:rPr>
              <a:t>•    k=5: </a:t>
            </a:r>
            <a:r>
              <a:rPr lang="vi" sz="1200">
                <a:latin typeface="Times New Roman"/>
              </a:rPr>
              <a:t>5 điểm gần nhất: Thêm P13(-), P</a:t>
            </a:r>
            <a:r>
              <a:rPr lang="vi" sz="800">
                <a:latin typeface="Times New Roman"/>
              </a:rPr>
              <a:t>17</a:t>
            </a:r>
            <a:r>
              <a:rPr lang="vi" sz="1200">
                <a:latin typeface="Times New Roman"/>
              </a:rPr>
              <a:t>(-). Tổng: 2(+) vs 3(-). ^ </a:t>
            </a:r>
            <a:r>
              <a:rPr lang="vi" sz="1200" b="1">
                <a:latin typeface="Times New Roman"/>
              </a:rPr>
              <a:t>Dự đoán: </a:t>
            </a:r>
            <a:r>
              <a:rPr lang="en-US" sz="1200" b="1">
                <a:latin typeface="Times New Roman"/>
              </a:rPr>
              <a:t>Class </a:t>
            </a:r>
            <a:r>
              <a:rPr lang="vi" sz="1200" b="1">
                <a:latin typeface="Times New Roman"/>
              </a:rPr>
              <a:t>(-)</a:t>
            </a:r>
            <a:r>
              <a:rPr lang="vi" sz="1200">
                <a:latin typeface="Times New Roman"/>
              </a:rPr>
              <a:t>.</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066800" y="707136"/>
            <a:ext cx="4901184" cy="1072896"/>
          </a:xfrm>
          <a:prstGeom prst="rect">
            <a:avLst/>
          </a:prstGeom>
        </p:spPr>
        <p:txBody>
          <a:bodyPr lIns="0" tIns="0" rIns="0" bIns="0">
            <a:noAutofit/>
          </a:bodyPr>
          <a:lstStyle/>
          <a:p>
            <a:pPr marL="254000" indent="0" algn="just">
              <a:lnSpc>
                <a:spcPts val="2232"/>
              </a:lnSpc>
            </a:pPr>
            <a:r>
              <a:rPr lang="en-US" sz="1200" b="1">
                <a:latin typeface="Times New Roman"/>
              </a:rPr>
              <a:t>•    k=9: </a:t>
            </a:r>
            <a:r>
              <a:rPr lang="en-US" sz="1200">
                <a:latin typeface="Times New Roman"/>
              </a:rPr>
              <a:t>9 </a:t>
            </a:r>
            <a:r>
              <a:rPr lang="vi" sz="1200">
                <a:latin typeface="Times New Roman"/>
              </a:rPr>
              <a:t>điểm gần nhất: 3(+) vs 6(-). ^ </a:t>
            </a:r>
            <a:r>
              <a:rPr lang="vi" sz="1200" b="1">
                <a:latin typeface="Times New Roman"/>
              </a:rPr>
              <a:t>Dự đoán: </a:t>
            </a:r>
            <a:r>
              <a:rPr lang="en-US" sz="1200" b="1">
                <a:latin typeface="Times New Roman"/>
              </a:rPr>
              <a:t>Class </a:t>
            </a:r>
            <a:r>
              <a:rPr lang="vi" sz="1200" b="1">
                <a:latin typeface="Times New Roman"/>
              </a:rPr>
              <a:t>(-)</a:t>
            </a:r>
            <a:r>
              <a:rPr lang="vi" sz="1200">
                <a:latin typeface="Times New Roman"/>
              </a:rPr>
              <a:t>.</a:t>
            </a:r>
          </a:p>
          <a:p>
            <a:pPr indent="0" algn="just">
              <a:lnSpc>
                <a:spcPts val="2232"/>
              </a:lnSpc>
            </a:pPr>
            <a:r>
              <a:rPr lang="vi" sz="1200" b="1">
                <a:latin typeface="Times New Roman"/>
              </a:rPr>
              <a:t>3. Câu (b): Đánh giá mô hình </a:t>
            </a:r>
            <a:r>
              <a:rPr lang="en-US" sz="1200" b="1">
                <a:latin typeface="Times New Roman"/>
              </a:rPr>
              <a:t>(Train </a:t>
            </a:r>
            <a:r>
              <a:rPr lang="vi" sz="1200" b="1">
                <a:latin typeface="Times New Roman"/>
              </a:rPr>
              <a:t>80% - </a:t>
            </a:r>
            <a:r>
              <a:rPr lang="en-US" sz="1200" b="1">
                <a:latin typeface="Times New Roman"/>
              </a:rPr>
              <a:t>Test </a:t>
            </a:r>
            <a:r>
              <a:rPr lang="vi" sz="1200" b="1">
                <a:latin typeface="Times New Roman"/>
              </a:rPr>
              <a:t>20%)</a:t>
            </a:r>
          </a:p>
          <a:p>
            <a:pPr indent="0">
              <a:lnSpc>
                <a:spcPts val="2232"/>
              </a:lnSpc>
            </a:pPr>
            <a:r>
              <a:rPr lang="vi" sz="1200">
                <a:latin typeface="Times New Roman"/>
              </a:rPr>
              <a:t>Chọn 4 điểm sau làm tập </a:t>
            </a:r>
            <a:r>
              <a:rPr lang="en-US" sz="1200">
                <a:latin typeface="Times New Roman"/>
              </a:rPr>
              <a:t>Test </a:t>
            </a:r>
            <a:r>
              <a:rPr lang="vi" sz="1200">
                <a:latin typeface="Times New Roman"/>
              </a:rPr>
              <a:t>(đại diện cho 20% dữ liệu): </a:t>
            </a:r>
            <a:r>
              <a:rPr lang="vi" sz="1200" b="1">
                <a:latin typeface="Times New Roman"/>
              </a:rPr>
              <a:t>P</a:t>
            </a:r>
            <a:r>
              <a:rPr lang="vi" sz="800" b="1">
                <a:latin typeface="Times New Roman"/>
              </a:rPr>
              <a:t>7</a:t>
            </a:r>
            <a:r>
              <a:rPr lang="vi" sz="1200" b="1">
                <a:latin typeface="Times New Roman"/>
              </a:rPr>
              <a:t>, P</a:t>
            </a:r>
            <a:r>
              <a:rPr lang="vi" sz="800" b="1">
                <a:latin typeface="Times New Roman"/>
              </a:rPr>
              <a:t>s</a:t>
            </a:r>
            <a:r>
              <a:rPr lang="vi" sz="1200" b="1">
                <a:latin typeface="Times New Roman"/>
              </a:rPr>
              <a:t>, P</a:t>
            </a:r>
            <a:r>
              <a:rPr lang="vi" sz="800" b="1">
                <a:latin typeface="Times New Roman"/>
              </a:rPr>
              <a:t>19</a:t>
            </a:r>
            <a:r>
              <a:rPr lang="vi" sz="1200" b="1">
                <a:latin typeface="Times New Roman"/>
              </a:rPr>
              <a:t>, P</a:t>
            </a:r>
            <a:r>
              <a:rPr lang="vi" sz="800" b="1">
                <a:latin typeface="Times New Roman"/>
              </a:rPr>
              <a:t>20</a:t>
            </a:r>
            <a:r>
              <a:rPr lang="vi" sz="1200">
                <a:latin typeface="Times New Roman"/>
              </a:rPr>
              <a:t>. Tập </a:t>
            </a:r>
            <a:r>
              <a:rPr lang="en-US" sz="1200">
                <a:latin typeface="Times New Roman"/>
              </a:rPr>
              <a:t>Train </a:t>
            </a:r>
            <a:r>
              <a:rPr lang="vi" sz="1200">
                <a:latin typeface="Times New Roman"/>
              </a:rPr>
              <a:t>bao gồm 16 điểm còn lại.</a:t>
            </a:r>
          </a:p>
        </p:txBody>
      </p:sp>
      <p:sp>
        <p:nvSpPr>
          <p:cNvPr id="3" name="Rectangle 2"/>
          <p:cNvSpPr/>
          <p:nvPr/>
        </p:nvSpPr>
        <p:spPr>
          <a:xfrm>
            <a:off x="1066800" y="1847088"/>
            <a:ext cx="2703576" cy="222504"/>
          </a:xfrm>
          <a:prstGeom prst="rect">
            <a:avLst/>
          </a:prstGeom>
        </p:spPr>
        <p:txBody>
          <a:bodyPr wrap="none" lIns="0" tIns="0" rIns="0" bIns="0">
            <a:noAutofit/>
          </a:bodyPr>
          <a:lstStyle/>
          <a:p>
            <a:pPr indent="0"/>
            <a:r>
              <a:rPr lang="vi" sz="1200" b="1">
                <a:latin typeface="Times New Roman"/>
              </a:rPr>
              <a:t>Bảng chi tiết tính toán (Ví dụ với k=3)</a:t>
            </a:r>
          </a:p>
        </p:txBody>
      </p:sp>
      <p:graphicFrame>
        <p:nvGraphicFramePr>
          <p:cNvPr id="4" name="Table 3"/>
          <p:cNvGraphicFramePr>
            <a:graphicFrameLocks noGrp="1"/>
          </p:cNvGraphicFramePr>
          <p:nvPr/>
        </p:nvGraphicFramePr>
        <p:xfrm>
          <a:off x="1078992" y="2142744"/>
          <a:ext cx="5974080" cy="4809744"/>
        </p:xfrm>
        <a:graphic>
          <a:graphicData uri="http://schemas.openxmlformats.org/drawingml/2006/table">
            <a:tbl>
              <a:tblPr/>
              <a:tblGrid>
                <a:gridCol w="47244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62484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gridCol w="682752">
                  <a:extLst>
                    <a:ext uri="{9D8B030D-6E8A-4147-A177-3AD203B41FA5}">
                      <a16:colId xmlns:a16="http://schemas.microsoft.com/office/drawing/2014/main" val="20004"/>
                    </a:ext>
                  </a:extLst>
                </a:gridCol>
                <a:gridCol w="655320">
                  <a:extLst>
                    <a:ext uri="{9D8B030D-6E8A-4147-A177-3AD203B41FA5}">
                      <a16:colId xmlns:a16="http://schemas.microsoft.com/office/drawing/2014/main" val="20005"/>
                    </a:ext>
                  </a:extLst>
                </a:gridCol>
                <a:gridCol w="749808">
                  <a:extLst>
                    <a:ext uri="{9D8B030D-6E8A-4147-A177-3AD203B41FA5}">
                      <a16:colId xmlns:a16="http://schemas.microsoft.com/office/drawing/2014/main" val="20006"/>
                    </a:ext>
                  </a:extLst>
                </a:gridCol>
              </a:tblGrid>
              <a:tr h="737616">
                <a:tc>
                  <a:txBody>
                    <a:bodyPr/>
                    <a:lstStyle/>
                    <a:p>
                      <a:pPr marL="88900" indent="0"/>
                      <a:r>
                        <a:rPr lang="vi" sz="1200" b="1">
                          <a:latin typeface="Times New Roman"/>
                        </a:rPr>
                        <a:t>STT</a:t>
                      </a:r>
                    </a:p>
                  </a:txBody>
                  <a:tcPr marL="0" marR="0" marT="0" marB="0" anchor="ctr"/>
                </a:tc>
                <a:tc>
                  <a:txBody>
                    <a:bodyPr/>
                    <a:lstStyle/>
                    <a:p>
                      <a:pPr indent="0">
                        <a:spcAft>
                          <a:spcPts val="840"/>
                        </a:spcAft>
                      </a:pPr>
                      <a:r>
                        <a:rPr lang="vi" sz="1200" b="1">
                          <a:latin typeface="Times New Roman"/>
                        </a:rPr>
                        <a:t>Điểm</a:t>
                      </a:r>
                    </a:p>
                    <a:p>
                      <a:pPr indent="0"/>
                      <a:r>
                        <a:rPr lang="en-US" sz="1200" b="1">
                          <a:latin typeface="Times New Roman"/>
                        </a:rPr>
                        <a:t>Test</a:t>
                      </a:r>
                    </a:p>
                  </a:txBody>
                  <a:tcPr marL="0" marR="0" marT="0" marB="0" anchor="ctr"/>
                </a:tc>
                <a:tc>
                  <a:txBody>
                    <a:bodyPr/>
                    <a:lstStyle/>
                    <a:p>
                      <a:pPr indent="0">
                        <a:spcAft>
                          <a:spcPts val="630"/>
                        </a:spcAft>
                      </a:pPr>
                      <a:r>
                        <a:rPr lang="vi" sz="1200" b="1">
                          <a:latin typeface="Times New Roman"/>
                        </a:rPr>
                        <a:t>Thực</a:t>
                      </a:r>
                    </a:p>
                    <a:p>
                      <a:pPr indent="0"/>
                      <a:r>
                        <a:rPr lang="vi" sz="1200" b="1">
                          <a:latin typeface="Times New Roman"/>
                        </a:rPr>
                        <a:t>tế</a:t>
                      </a:r>
                    </a:p>
                  </a:txBody>
                  <a:tcPr marL="0" marR="0" marT="0" marB="0" anchor="ctr"/>
                </a:tc>
                <a:tc>
                  <a:txBody>
                    <a:bodyPr/>
                    <a:lstStyle/>
                    <a:p>
                      <a:pPr indent="0"/>
                      <a:r>
                        <a:rPr lang="vi" sz="400">
                          <a:latin typeface="Times New Roman"/>
                        </a:rPr>
                        <a:t>^ X ^ • </a:t>
                      </a:r>
                      <a:r>
                        <a:rPr lang="en-US" sz="400">
                          <a:latin typeface="Times New Roman"/>
                        </a:rPr>
                        <a:t>A A </a:t>
                      </a:r>
                      <a:r>
                        <a:rPr lang="vi" sz="400">
                          <a:latin typeface="Times New Roman"/>
                        </a:rPr>
                        <a:t>1 </a:t>
                      </a:r>
                      <a:r>
                        <a:rPr lang="en-US" sz="400">
                          <a:latin typeface="Times New Roman"/>
                        </a:rPr>
                        <a:t>A </a:t>
                      </a:r>
                      <a:r>
                        <a:rPr lang="vi" sz="400">
                          <a:latin typeface="Times New Roman"/>
                        </a:rPr>
                        <a:t>.</a:t>
                      </a:r>
                    </a:p>
                    <a:p>
                      <a:pPr indent="0">
                        <a:lnSpc>
                          <a:spcPts val="2232"/>
                        </a:lnSpc>
                      </a:pPr>
                      <a:r>
                        <a:rPr lang="vi" sz="1200" b="1">
                          <a:latin typeface="Times New Roman"/>
                        </a:rPr>
                        <a:t>3 Láng giêng gân nhât (trong tập </a:t>
                      </a:r>
                      <a:r>
                        <a:rPr lang="en-US" sz="1200" b="1">
                          <a:latin typeface="Times New Roman"/>
                        </a:rPr>
                        <a:t>Train)</a:t>
                      </a:r>
                    </a:p>
                  </a:txBody>
                  <a:tcPr marL="0" marR="0" marT="0" marB="0" anchor="ctr"/>
                </a:tc>
                <a:tc>
                  <a:txBody>
                    <a:bodyPr/>
                    <a:lstStyle/>
                    <a:p>
                      <a:pPr indent="0">
                        <a:spcAft>
                          <a:spcPts val="840"/>
                        </a:spcAft>
                      </a:pPr>
                      <a:r>
                        <a:rPr lang="vi" sz="1200" b="1">
                          <a:latin typeface="Times New Roman"/>
                        </a:rPr>
                        <a:t>Bâu</a:t>
                      </a:r>
                    </a:p>
                    <a:p>
                      <a:pPr indent="0"/>
                      <a:r>
                        <a:rPr lang="vi" sz="1200" b="1">
                          <a:latin typeface="Times New Roman"/>
                        </a:rPr>
                        <a:t>chọn</a:t>
                      </a:r>
                    </a:p>
                  </a:txBody>
                  <a:tcPr marL="0" marR="0" marT="0" marB="0" anchor="ctr"/>
                </a:tc>
                <a:tc>
                  <a:txBody>
                    <a:bodyPr/>
                    <a:lstStyle/>
                    <a:p>
                      <a:pPr indent="0">
                        <a:spcAft>
                          <a:spcPts val="840"/>
                        </a:spcAft>
                      </a:pPr>
                      <a:r>
                        <a:rPr lang="vi" sz="1200" b="1">
                          <a:latin typeface="Times New Roman"/>
                        </a:rPr>
                        <a:t>Dự</a:t>
                      </a:r>
                    </a:p>
                    <a:p>
                      <a:pPr indent="0"/>
                      <a:r>
                        <a:rPr lang="vi" sz="1200" b="1">
                          <a:latin typeface="Times New Roman"/>
                        </a:rPr>
                        <a:t>đoán</a:t>
                      </a:r>
                    </a:p>
                  </a:txBody>
                  <a:tcPr marL="0" marR="0" marT="0" marB="0" anchor="ctr"/>
                </a:tc>
                <a:tc>
                  <a:txBody>
                    <a:bodyPr/>
                    <a:lstStyle/>
                    <a:p>
                      <a:pPr indent="0">
                        <a:spcAft>
                          <a:spcPts val="840"/>
                        </a:spcAft>
                      </a:pPr>
                      <a:r>
                        <a:rPr lang="vi" sz="1200" b="1">
                          <a:latin typeface="Times New Roman"/>
                        </a:rPr>
                        <a:t>Đánh</a:t>
                      </a:r>
                    </a:p>
                    <a:p>
                      <a:pPr indent="0"/>
                      <a:r>
                        <a:rPr lang="vi" sz="1200" b="1">
                          <a:latin typeface="Times New Roman"/>
                        </a:rPr>
                        <a:t>giá</a:t>
                      </a:r>
                    </a:p>
                  </a:txBody>
                  <a:tcPr marL="0" marR="0" marT="0" marB="0" anchor="ctr"/>
                </a:tc>
                <a:extLst>
                  <a:ext uri="{0D108BD9-81ED-4DB2-BD59-A6C34878D82A}">
                    <a16:rowId xmlns:a16="http://schemas.microsoft.com/office/drawing/2014/main" val="10000"/>
                  </a:ext>
                </a:extLst>
              </a:tr>
              <a:tr h="1018032">
                <a:tc>
                  <a:txBody>
                    <a:bodyPr/>
                    <a:lstStyle/>
                    <a:p>
                      <a:pPr marL="88900" indent="0"/>
                      <a:r>
                        <a:rPr lang="vi" sz="1200">
                          <a:latin typeface="Times New Roman"/>
                        </a:rPr>
                        <a:t>1</a:t>
                      </a:r>
                    </a:p>
                  </a:txBody>
                  <a:tcPr marL="0" marR="0" marT="0" marB="0" anchor="ctr"/>
                </a:tc>
                <a:tc>
                  <a:txBody>
                    <a:bodyPr/>
                    <a:lstStyle/>
                    <a:p>
                      <a:pPr indent="0"/>
                      <a:r>
                        <a:rPr lang="vi" sz="1200">
                          <a:latin typeface="Times New Roman"/>
                        </a:rPr>
                        <a:t>P</a:t>
                      </a:r>
                      <a:r>
                        <a:rPr lang="vi" sz="800">
                          <a:latin typeface="Times New Roman"/>
                        </a:rPr>
                        <a:t>7</a:t>
                      </a:r>
                      <a:r>
                        <a:rPr lang="vi" sz="1200">
                          <a:latin typeface="Times New Roman"/>
                        </a:rPr>
                        <a:t>(3, 7)</a:t>
                      </a:r>
                    </a:p>
                  </a:txBody>
                  <a:tcPr marL="0" marR="0" marT="0" marB="0" anchor="ctr"/>
                </a:tc>
                <a:tc>
                  <a:txBody>
                    <a:bodyPr/>
                    <a:lstStyle/>
                    <a:p>
                      <a:pPr indent="0"/>
                      <a:r>
                        <a:rPr lang="vi" sz="1200" b="1">
                          <a:latin typeface="Times New Roman"/>
                        </a:rPr>
                        <a:t>+</a:t>
                      </a:r>
                    </a:p>
                  </a:txBody>
                  <a:tcPr marL="0" marR="0" marT="0" marB="0" anchor="ctr"/>
                </a:tc>
                <a:tc>
                  <a:txBody>
                    <a:bodyPr/>
                    <a:lstStyle/>
                    <a:p>
                      <a:pPr indent="0" algn="just">
                        <a:lnSpc>
                          <a:spcPts val="2232"/>
                        </a:lnSpc>
                      </a:pPr>
                      <a:r>
                        <a:rPr lang="vi" sz="1200">
                          <a:latin typeface="Times New Roman"/>
                        </a:rPr>
                        <a:t>1.    P2(3,7,+) [d=0]</a:t>
                      </a:r>
                    </a:p>
                    <a:p>
                      <a:pPr indent="0" algn="just">
                        <a:lnSpc>
                          <a:spcPts val="2232"/>
                        </a:lnSpc>
                      </a:pPr>
                      <a:r>
                        <a:rPr lang="vi" sz="1200">
                          <a:latin typeface="Times New Roman"/>
                        </a:rPr>
                        <a:t>2.    P10(4,4,-) [d=3.16]</a:t>
                      </a:r>
                    </a:p>
                    <a:p>
                      <a:pPr indent="0" algn="just">
                        <a:lnSpc>
                          <a:spcPts val="2232"/>
                        </a:lnSpc>
                      </a:pPr>
                      <a:r>
                        <a:rPr lang="vi" sz="1200">
                          <a:latin typeface="Times New Roman"/>
                        </a:rPr>
                        <a:t>3.    P1(4,3,+) [d=4.12]</a:t>
                      </a:r>
                    </a:p>
                  </a:txBody>
                  <a:tcPr marL="0" marR="0" marT="0" marB="0" anchor="ctr"/>
                </a:tc>
                <a:tc>
                  <a:txBody>
                    <a:bodyPr/>
                    <a:lstStyle/>
                    <a:p>
                      <a:pPr indent="0">
                        <a:lnSpc>
                          <a:spcPts val="2400"/>
                        </a:lnSpc>
                      </a:pPr>
                      <a:r>
                        <a:rPr lang="vi" sz="1200">
                          <a:latin typeface="Times New Roman"/>
                        </a:rPr>
                        <a:t>2(+) / 1(-)</a:t>
                      </a:r>
                    </a:p>
                  </a:txBody>
                  <a:tcPr marL="0" marR="0" marT="0" marB="0" anchor="ctr"/>
                </a:tc>
                <a:tc>
                  <a:txBody>
                    <a:bodyPr/>
                    <a:lstStyle/>
                    <a:p>
                      <a:pPr indent="0"/>
                      <a:r>
                        <a:rPr lang="vi" sz="1200" b="1">
                          <a:latin typeface="Times New Roman"/>
                        </a:rPr>
                        <a:t>+</a:t>
                      </a:r>
                    </a:p>
                  </a:txBody>
                  <a:tcPr marL="0" marR="0" marT="0" marB="0" anchor="ctr"/>
                </a:tc>
                <a:tc>
                  <a:txBody>
                    <a:bodyPr/>
                    <a:lstStyle/>
                    <a:p>
                      <a:pPr indent="0">
                        <a:spcAft>
                          <a:spcPts val="840"/>
                        </a:spcAft>
                      </a:pPr>
                      <a:r>
                        <a:rPr lang="vi" sz="1200">
                          <a:latin typeface="Times New Roman"/>
                        </a:rPr>
                        <a:t>Đúng</a:t>
                      </a:r>
                    </a:p>
                    <a:p>
                      <a:pPr indent="0"/>
                      <a:r>
                        <a:rPr lang="vi" sz="1200">
                          <a:latin typeface="Times New Roman"/>
                        </a:rPr>
                        <a:t>(TP)</a:t>
                      </a:r>
                    </a:p>
                  </a:txBody>
                  <a:tcPr marL="0" marR="0" marT="0" marB="0" anchor="ctr"/>
                </a:tc>
                <a:extLst>
                  <a:ext uri="{0D108BD9-81ED-4DB2-BD59-A6C34878D82A}">
                    <a16:rowId xmlns:a16="http://schemas.microsoft.com/office/drawing/2014/main" val="10001"/>
                  </a:ext>
                </a:extLst>
              </a:tr>
              <a:tr h="1014984">
                <a:tc>
                  <a:txBody>
                    <a:bodyPr/>
                    <a:lstStyle/>
                    <a:p>
                      <a:pPr marL="88900" indent="0"/>
                      <a:r>
                        <a:rPr lang="vi" sz="1200">
                          <a:latin typeface="Times New Roman"/>
                        </a:rPr>
                        <a:t>2</a:t>
                      </a:r>
                    </a:p>
                  </a:txBody>
                  <a:tcPr marL="0" marR="0" marT="0" marB="0" anchor="ctr"/>
                </a:tc>
                <a:tc>
                  <a:txBody>
                    <a:bodyPr/>
                    <a:lstStyle/>
                    <a:p>
                      <a:pPr indent="0"/>
                      <a:r>
                        <a:rPr lang="vi" sz="1200">
                          <a:latin typeface="Times New Roman"/>
                        </a:rPr>
                        <a:t>P8(6, 2)</a:t>
                      </a:r>
                    </a:p>
                  </a:txBody>
                  <a:tcPr marL="0" marR="0" marT="0" marB="0" anchor="ctr"/>
                </a:tc>
                <a:tc>
                  <a:txBody>
                    <a:bodyPr/>
                    <a:lstStyle/>
                    <a:p>
                      <a:pPr indent="0"/>
                      <a:r>
                        <a:rPr lang="vi" sz="1200" b="1">
                          <a:latin typeface="Times New Roman"/>
                        </a:rPr>
                        <a:t>+</a:t>
                      </a:r>
                    </a:p>
                  </a:txBody>
                  <a:tcPr marL="0" marR="0" marT="0" marB="0" anchor="ctr"/>
                </a:tc>
                <a:tc>
                  <a:txBody>
                    <a:bodyPr/>
                    <a:lstStyle/>
                    <a:p>
                      <a:pPr indent="0" algn="just">
                        <a:lnSpc>
                          <a:spcPts val="2232"/>
                        </a:lnSpc>
                      </a:pPr>
                      <a:r>
                        <a:rPr lang="vi" sz="1200">
                          <a:latin typeface="Times New Roman"/>
                        </a:rPr>
                        <a:t>1.    P4(4,1,+) [d=2.24]</a:t>
                      </a:r>
                    </a:p>
                    <a:p>
                      <a:pPr indent="0" algn="just">
                        <a:lnSpc>
                          <a:spcPts val="2232"/>
                        </a:lnSpc>
                      </a:pPr>
                      <a:r>
                        <a:rPr lang="vi" sz="1200">
                          <a:latin typeface="Times New Roman"/>
                        </a:rPr>
                        <a:t>2.    P1(4,3,+) [d=2.24]</a:t>
                      </a:r>
                    </a:p>
                    <a:p>
                      <a:pPr indent="0" algn="just">
                        <a:lnSpc>
                          <a:spcPts val="2232"/>
                        </a:lnSpc>
                      </a:pPr>
                      <a:r>
                        <a:rPr lang="vi" sz="1200">
                          <a:latin typeface="Times New Roman"/>
                        </a:rPr>
                        <a:t>3.    P5(6,5,+) [d=3.00]</a:t>
                      </a:r>
                    </a:p>
                  </a:txBody>
                  <a:tcPr marL="0" marR="0" marT="0" marB="0" anchor="ctr"/>
                </a:tc>
                <a:tc>
                  <a:txBody>
                    <a:bodyPr/>
                    <a:lstStyle/>
                    <a:p>
                      <a:pPr indent="0">
                        <a:lnSpc>
                          <a:spcPts val="2304"/>
                        </a:lnSpc>
                      </a:pPr>
                      <a:r>
                        <a:rPr lang="vi" sz="1200">
                          <a:latin typeface="Times New Roman"/>
                        </a:rPr>
                        <a:t>3(+) / 0(-)</a:t>
                      </a:r>
                    </a:p>
                  </a:txBody>
                  <a:tcPr marL="0" marR="0" marT="0" marB="0" anchor="ctr"/>
                </a:tc>
                <a:tc>
                  <a:txBody>
                    <a:bodyPr/>
                    <a:lstStyle/>
                    <a:p>
                      <a:pPr indent="0"/>
                      <a:r>
                        <a:rPr lang="vi" sz="1200" b="1">
                          <a:latin typeface="Times New Roman"/>
                        </a:rPr>
                        <a:t>+</a:t>
                      </a:r>
                    </a:p>
                  </a:txBody>
                  <a:tcPr marL="0" marR="0" marT="0" marB="0" anchor="ctr"/>
                </a:tc>
                <a:tc>
                  <a:txBody>
                    <a:bodyPr/>
                    <a:lstStyle/>
                    <a:p>
                      <a:pPr indent="0">
                        <a:spcAft>
                          <a:spcPts val="840"/>
                        </a:spcAft>
                      </a:pPr>
                      <a:r>
                        <a:rPr lang="vi" sz="1200">
                          <a:latin typeface="Times New Roman"/>
                        </a:rPr>
                        <a:t>Đúng</a:t>
                      </a:r>
                    </a:p>
                    <a:p>
                      <a:pPr indent="0"/>
                      <a:r>
                        <a:rPr lang="vi" sz="1200">
                          <a:latin typeface="Times New Roman"/>
                        </a:rPr>
                        <a:t>(TP)</a:t>
                      </a:r>
                    </a:p>
                  </a:txBody>
                  <a:tcPr marL="0" marR="0" marT="0" marB="0" anchor="ctr"/>
                </a:tc>
                <a:extLst>
                  <a:ext uri="{0D108BD9-81ED-4DB2-BD59-A6C34878D82A}">
                    <a16:rowId xmlns:a16="http://schemas.microsoft.com/office/drawing/2014/main" val="10002"/>
                  </a:ext>
                </a:extLst>
              </a:tr>
              <a:tr h="1014984">
                <a:tc>
                  <a:txBody>
                    <a:bodyPr/>
                    <a:lstStyle/>
                    <a:p>
                      <a:pPr marL="88900" indent="0"/>
                      <a:r>
                        <a:rPr lang="vi" sz="1200">
                          <a:latin typeface="Times New Roman"/>
                        </a:rPr>
                        <a:t>3</a:t>
                      </a:r>
                    </a:p>
                  </a:txBody>
                  <a:tcPr marL="0" marR="0" marT="0" marB="0" anchor="ctr"/>
                </a:tc>
                <a:tc>
                  <a:txBody>
                    <a:bodyPr/>
                    <a:lstStyle/>
                    <a:p>
                      <a:pPr indent="0">
                        <a:lnSpc>
                          <a:spcPts val="2352"/>
                        </a:lnSpc>
                      </a:pPr>
                      <a:r>
                        <a:rPr lang="vi" sz="1200">
                          <a:latin typeface="Times New Roman"/>
                        </a:rPr>
                        <a:t>P</a:t>
                      </a:r>
                      <a:r>
                        <a:rPr lang="vi" sz="800">
                          <a:latin typeface="Times New Roman"/>
                        </a:rPr>
                        <a:t>19</a:t>
                      </a:r>
                      <a:r>
                        <a:rPr lang="vi" sz="1200">
                          <a:latin typeface="Times New Roman"/>
                        </a:rPr>
                        <a:t> (7, 4)</a:t>
                      </a:r>
                    </a:p>
                  </a:txBody>
                  <a:tcPr marL="0" marR="0" marT="0" marB="0" anchor="ctr"/>
                </a:tc>
                <a:tc>
                  <a:txBody>
                    <a:bodyPr/>
                    <a:lstStyle/>
                    <a:p>
                      <a:pPr indent="0"/>
                      <a:r>
                        <a:rPr lang="vi" sz="1200" b="1">
                          <a:latin typeface="Times New Roman"/>
                        </a:rPr>
                        <a:t>-</a:t>
                      </a:r>
                    </a:p>
                  </a:txBody>
                  <a:tcPr marL="0" marR="0" marT="0" marB="0" anchor="ctr"/>
                </a:tc>
                <a:tc>
                  <a:txBody>
                    <a:bodyPr/>
                    <a:lstStyle/>
                    <a:p>
                      <a:pPr indent="0" algn="just">
                        <a:lnSpc>
                          <a:spcPts val="2232"/>
                        </a:lnSpc>
                      </a:pPr>
                      <a:r>
                        <a:rPr lang="vi" sz="1200">
                          <a:latin typeface="Times New Roman"/>
                        </a:rPr>
                        <a:t>1.    P3(7,4,+) [d=0]</a:t>
                      </a:r>
                    </a:p>
                    <a:p>
                      <a:pPr indent="0" algn="just">
                        <a:lnSpc>
                          <a:spcPts val="2232"/>
                        </a:lnSpc>
                      </a:pPr>
                      <a:r>
                        <a:rPr lang="vi" sz="1200">
                          <a:latin typeface="Times New Roman"/>
                        </a:rPr>
                        <a:t>2.    P5(6,5,+) [d=1.41]</a:t>
                      </a:r>
                    </a:p>
                    <a:p>
                      <a:pPr indent="0" algn="just">
                        <a:lnSpc>
                          <a:spcPts val="2232"/>
                        </a:lnSpc>
                      </a:pPr>
                      <a:r>
                        <a:rPr lang="vi" sz="1200">
                          <a:latin typeface="Times New Roman"/>
                        </a:rPr>
                        <a:t>3.    P13(7,6,-) [d=2.00]</a:t>
                      </a:r>
                    </a:p>
                  </a:txBody>
                  <a:tcPr marL="0" marR="0" marT="0" marB="0" anchor="ctr"/>
                </a:tc>
                <a:tc>
                  <a:txBody>
                    <a:bodyPr/>
                    <a:lstStyle/>
                    <a:p>
                      <a:pPr indent="0">
                        <a:lnSpc>
                          <a:spcPts val="2400"/>
                        </a:lnSpc>
                      </a:pPr>
                      <a:r>
                        <a:rPr lang="vi" sz="1200">
                          <a:latin typeface="Times New Roman"/>
                        </a:rPr>
                        <a:t>2(+) / 1(-)</a:t>
                      </a:r>
                    </a:p>
                  </a:txBody>
                  <a:tcPr marL="0" marR="0" marT="0" marB="0" anchor="ctr"/>
                </a:tc>
                <a:tc>
                  <a:txBody>
                    <a:bodyPr/>
                    <a:lstStyle/>
                    <a:p>
                      <a:pPr indent="0"/>
                      <a:r>
                        <a:rPr lang="vi" sz="1200" b="1">
                          <a:latin typeface="Times New Roman"/>
                        </a:rPr>
                        <a:t>+</a:t>
                      </a:r>
                    </a:p>
                  </a:txBody>
                  <a:tcPr marL="0" marR="0" marT="0" marB="0" anchor="ctr"/>
                </a:tc>
                <a:tc>
                  <a:txBody>
                    <a:bodyPr/>
                    <a:lstStyle/>
                    <a:p>
                      <a:pPr indent="0"/>
                      <a:r>
                        <a:rPr lang="vi" sz="1200" b="1">
                          <a:latin typeface="Times New Roman"/>
                        </a:rPr>
                        <a:t>Sai (FP)</a:t>
                      </a:r>
                    </a:p>
                  </a:txBody>
                  <a:tcPr marL="0" marR="0" marT="0" marB="0" anchor="ctr"/>
                </a:tc>
                <a:extLst>
                  <a:ext uri="{0D108BD9-81ED-4DB2-BD59-A6C34878D82A}">
                    <a16:rowId xmlns:a16="http://schemas.microsoft.com/office/drawing/2014/main" val="10003"/>
                  </a:ext>
                </a:extLst>
              </a:tr>
              <a:tr h="1024128">
                <a:tc>
                  <a:txBody>
                    <a:bodyPr/>
                    <a:lstStyle/>
                    <a:p>
                      <a:pPr marL="88900" indent="0"/>
                      <a:r>
                        <a:rPr lang="vi" sz="1200">
                          <a:latin typeface="Times New Roman"/>
                        </a:rPr>
                        <a:t>4</a:t>
                      </a:r>
                    </a:p>
                  </a:txBody>
                  <a:tcPr marL="0" marR="0" marT="0" marB="0" anchor="ctr"/>
                </a:tc>
                <a:tc>
                  <a:txBody>
                    <a:bodyPr/>
                    <a:lstStyle/>
                    <a:p>
                      <a:pPr indent="0">
                        <a:lnSpc>
                          <a:spcPts val="2352"/>
                        </a:lnSpc>
                      </a:pPr>
                      <a:r>
                        <a:rPr lang="vi" sz="1200">
                          <a:latin typeface="Times New Roman"/>
                        </a:rPr>
                        <a:t>P</a:t>
                      </a:r>
                      <a:r>
                        <a:rPr lang="vi" sz="800">
                          <a:latin typeface="Times New Roman"/>
                        </a:rPr>
                        <a:t>20</a:t>
                      </a:r>
                      <a:r>
                        <a:rPr lang="vi" sz="1200">
                          <a:latin typeface="Times New Roman"/>
                        </a:rPr>
                        <a:t> (8, 8)</a:t>
                      </a:r>
                    </a:p>
                  </a:txBody>
                  <a:tcPr marL="0" marR="0" marT="0" marB="0" anchor="ctr"/>
                </a:tc>
                <a:tc>
                  <a:txBody>
                    <a:bodyPr/>
                    <a:lstStyle/>
                    <a:p>
                      <a:pPr indent="0"/>
                      <a:r>
                        <a:rPr lang="vi" sz="1200" b="1">
                          <a:latin typeface="Times New Roman"/>
                        </a:rPr>
                        <a:t>-</a:t>
                      </a:r>
                    </a:p>
                  </a:txBody>
                  <a:tcPr marL="0" marR="0" marT="0" marB="0" anchor="ctr"/>
                </a:tc>
                <a:tc>
                  <a:txBody>
                    <a:bodyPr/>
                    <a:lstStyle/>
                    <a:p>
                      <a:pPr indent="0" algn="just">
                        <a:lnSpc>
                          <a:spcPts val="2232"/>
                        </a:lnSpc>
                      </a:pPr>
                      <a:r>
                        <a:rPr lang="vi" sz="1200">
                          <a:latin typeface="Times New Roman"/>
                        </a:rPr>
                        <a:t>1.    P12(7,8,-) [d=1.00]</a:t>
                      </a:r>
                    </a:p>
                    <a:p>
                      <a:pPr indent="0" algn="just">
                        <a:lnSpc>
                          <a:spcPts val="2232"/>
                        </a:lnSpc>
                      </a:pPr>
                      <a:r>
                        <a:rPr lang="vi" sz="1200">
                          <a:latin typeface="Times New Roman"/>
                        </a:rPr>
                        <a:t>2.    P11(5,8,-) [d=3.00]</a:t>
                      </a:r>
                    </a:p>
                    <a:p>
                      <a:pPr indent="0" algn="just">
                        <a:lnSpc>
                          <a:spcPts val="2232"/>
                        </a:lnSpc>
                      </a:pPr>
                      <a:r>
                        <a:rPr lang="vi" sz="1200">
                          <a:latin typeface="Times New Roman"/>
                        </a:rPr>
                        <a:t>3.    P17(8,5,-) [d=3.00]</a:t>
                      </a:r>
                    </a:p>
                  </a:txBody>
                  <a:tcPr marL="0" marR="0" marT="0" marB="0" anchor="ctr"/>
                </a:tc>
                <a:tc>
                  <a:txBody>
                    <a:bodyPr/>
                    <a:lstStyle/>
                    <a:p>
                      <a:pPr indent="0">
                        <a:lnSpc>
                          <a:spcPts val="2424"/>
                        </a:lnSpc>
                      </a:pPr>
                      <a:r>
                        <a:rPr lang="vi" sz="1200">
                          <a:latin typeface="Times New Roman"/>
                        </a:rPr>
                        <a:t>0(+) / 3(-)</a:t>
                      </a:r>
                    </a:p>
                  </a:txBody>
                  <a:tcPr marL="0" marR="0" marT="0" marB="0" anchor="ctr"/>
                </a:tc>
                <a:tc>
                  <a:txBody>
                    <a:bodyPr/>
                    <a:lstStyle/>
                    <a:p>
                      <a:pPr indent="0"/>
                      <a:r>
                        <a:rPr lang="vi" sz="1200" b="1">
                          <a:latin typeface="Times New Roman"/>
                        </a:rPr>
                        <a:t>-</a:t>
                      </a:r>
                    </a:p>
                  </a:txBody>
                  <a:tcPr marL="0" marR="0" marT="0" marB="0" anchor="ctr"/>
                </a:tc>
                <a:tc>
                  <a:txBody>
                    <a:bodyPr/>
                    <a:lstStyle/>
                    <a:p>
                      <a:pPr indent="0">
                        <a:spcAft>
                          <a:spcPts val="840"/>
                        </a:spcAft>
                      </a:pPr>
                      <a:r>
                        <a:rPr lang="vi" sz="1200">
                          <a:latin typeface="Times New Roman"/>
                        </a:rPr>
                        <a:t>Đúng</a:t>
                      </a:r>
                    </a:p>
                    <a:p>
                      <a:pPr indent="0"/>
                      <a:r>
                        <a:rPr lang="vi" sz="1200">
                          <a:latin typeface="Times New Roman"/>
                        </a:rPr>
                        <a:t>(TN)</a:t>
                      </a:r>
                    </a:p>
                  </a:txBody>
                  <a:tcPr marL="0" marR="0" marT="0" marB="0" anchor="ctr"/>
                </a:tc>
                <a:extLst>
                  <a:ext uri="{0D108BD9-81ED-4DB2-BD59-A6C34878D82A}">
                    <a16:rowId xmlns:a16="http://schemas.microsoft.com/office/drawing/2014/main" val="10004"/>
                  </a:ext>
                </a:extLst>
              </a:tr>
            </a:tbl>
          </a:graphicData>
        </a:graphic>
      </p:graphicFrame>
      <p:sp>
        <p:nvSpPr>
          <p:cNvPr id="5" name="Rectangle 4"/>
          <p:cNvSpPr/>
          <p:nvPr/>
        </p:nvSpPr>
        <p:spPr>
          <a:xfrm>
            <a:off x="1066800" y="6937248"/>
            <a:ext cx="2651760" cy="222504"/>
          </a:xfrm>
          <a:prstGeom prst="rect">
            <a:avLst/>
          </a:prstGeom>
        </p:spPr>
        <p:txBody>
          <a:bodyPr wrap="none" lIns="0" tIns="0" rIns="0" bIns="0">
            <a:noAutofit/>
          </a:bodyPr>
          <a:lstStyle/>
          <a:p>
            <a:pPr indent="0"/>
            <a:r>
              <a:rPr lang="vi" sz="1200" b="1">
                <a:latin typeface="Times New Roman"/>
              </a:rPr>
              <a:t>Kết quả đánh giá </a:t>
            </a:r>
            <a:r>
              <a:rPr lang="en-US" sz="1200" b="1">
                <a:latin typeface="Times New Roman"/>
              </a:rPr>
              <a:t>(Confusion Matrix)</a:t>
            </a:r>
          </a:p>
        </p:txBody>
      </p:sp>
      <p:graphicFrame>
        <p:nvGraphicFramePr>
          <p:cNvPr id="6" name="Table 5"/>
          <p:cNvGraphicFramePr>
            <a:graphicFrameLocks noGrp="1"/>
          </p:cNvGraphicFramePr>
          <p:nvPr/>
        </p:nvGraphicFramePr>
        <p:xfrm>
          <a:off x="1078992" y="7232904"/>
          <a:ext cx="2996184" cy="1353312"/>
        </p:xfrm>
        <a:graphic>
          <a:graphicData uri="http://schemas.openxmlformats.org/drawingml/2006/table">
            <a:tbl>
              <a:tblPr/>
              <a:tblGrid>
                <a:gridCol w="969264">
                  <a:extLst>
                    <a:ext uri="{9D8B030D-6E8A-4147-A177-3AD203B41FA5}">
                      <a16:colId xmlns:a16="http://schemas.microsoft.com/office/drawing/2014/main" val="20000"/>
                    </a:ext>
                  </a:extLst>
                </a:gridCol>
                <a:gridCol w="1030224">
                  <a:extLst>
                    <a:ext uri="{9D8B030D-6E8A-4147-A177-3AD203B41FA5}">
                      <a16:colId xmlns:a16="http://schemas.microsoft.com/office/drawing/2014/main" val="20001"/>
                    </a:ext>
                  </a:extLst>
                </a:gridCol>
                <a:gridCol w="996696">
                  <a:extLst>
                    <a:ext uri="{9D8B030D-6E8A-4147-A177-3AD203B41FA5}">
                      <a16:colId xmlns:a16="http://schemas.microsoft.com/office/drawing/2014/main" val="20002"/>
                    </a:ext>
                  </a:extLst>
                </a:gridCol>
              </a:tblGrid>
              <a:tr h="454152">
                <a:tc>
                  <a:txBody>
                    <a:bodyPr/>
                    <a:lstStyle/>
                    <a:p>
                      <a:pPr indent="0"/>
                      <a:r>
                        <a:rPr lang="vi" sz="1200" b="1">
                          <a:latin typeface="Times New Roman"/>
                        </a:rPr>
                        <a:t>k=3</a:t>
                      </a:r>
                    </a:p>
                  </a:txBody>
                  <a:tcPr marL="0" marR="0" marT="0" marB="0" anchor="ctr"/>
                </a:tc>
                <a:tc>
                  <a:txBody>
                    <a:bodyPr/>
                    <a:lstStyle/>
                    <a:p>
                      <a:pPr indent="0"/>
                      <a:r>
                        <a:rPr lang="vi" sz="1200" b="1">
                          <a:latin typeface="Times New Roman"/>
                        </a:rPr>
                        <a:t>Dự đoán (+)</a:t>
                      </a:r>
                    </a:p>
                  </a:txBody>
                  <a:tcPr marL="0" marR="0" marT="0" marB="0" anchor="ctr"/>
                </a:tc>
                <a:tc>
                  <a:txBody>
                    <a:bodyPr/>
                    <a:lstStyle/>
                    <a:p>
                      <a:pPr indent="0"/>
                      <a:r>
                        <a:rPr lang="vi" sz="1200" b="1">
                          <a:latin typeface="Times New Roman"/>
                        </a:rPr>
                        <a:t>Dự đoán (-)</a:t>
                      </a:r>
                    </a:p>
                  </a:txBody>
                  <a:tcPr marL="0" marR="0" marT="0" marB="0" anchor="ctr"/>
                </a:tc>
                <a:extLst>
                  <a:ext uri="{0D108BD9-81ED-4DB2-BD59-A6C34878D82A}">
                    <a16:rowId xmlns:a16="http://schemas.microsoft.com/office/drawing/2014/main" val="10000"/>
                  </a:ext>
                </a:extLst>
              </a:tr>
              <a:tr h="445008">
                <a:tc>
                  <a:txBody>
                    <a:bodyPr/>
                    <a:lstStyle/>
                    <a:p>
                      <a:pPr indent="0"/>
                      <a:r>
                        <a:rPr lang="vi" sz="1200" b="1">
                          <a:latin typeface="Times New Roman"/>
                        </a:rPr>
                        <a:t>Thực tế (+)</a:t>
                      </a:r>
                    </a:p>
                  </a:txBody>
                  <a:tcPr marL="0" marR="0" marT="0" marB="0" anchor="ctr"/>
                </a:tc>
                <a:tc>
                  <a:txBody>
                    <a:bodyPr/>
                    <a:lstStyle/>
                    <a:p>
                      <a:pPr indent="0"/>
                      <a:r>
                        <a:rPr lang="vi" sz="1200">
                          <a:latin typeface="Times New Roman"/>
                        </a:rPr>
                        <a:t>TP = 2</a:t>
                      </a:r>
                    </a:p>
                  </a:txBody>
                  <a:tcPr marL="0" marR="0" marT="0" marB="0" anchor="ctr"/>
                </a:tc>
                <a:tc>
                  <a:txBody>
                    <a:bodyPr/>
                    <a:lstStyle/>
                    <a:p>
                      <a:pPr indent="0"/>
                      <a:r>
                        <a:rPr lang="vi" sz="1200">
                          <a:latin typeface="Times New Roman"/>
                        </a:rPr>
                        <a:t>FN = 0</a:t>
                      </a:r>
                    </a:p>
                  </a:txBody>
                  <a:tcPr marL="0" marR="0" marT="0" marB="0" anchor="ctr"/>
                </a:tc>
                <a:extLst>
                  <a:ext uri="{0D108BD9-81ED-4DB2-BD59-A6C34878D82A}">
                    <a16:rowId xmlns:a16="http://schemas.microsoft.com/office/drawing/2014/main" val="10001"/>
                  </a:ext>
                </a:extLst>
              </a:tr>
              <a:tr h="454152">
                <a:tc>
                  <a:txBody>
                    <a:bodyPr/>
                    <a:lstStyle/>
                    <a:p>
                      <a:pPr indent="0"/>
                      <a:r>
                        <a:rPr lang="vi" sz="1200" b="1">
                          <a:latin typeface="Times New Roman"/>
                        </a:rPr>
                        <a:t>Thực tế (-)</a:t>
                      </a:r>
                    </a:p>
                  </a:txBody>
                  <a:tcPr marL="0" marR="0" marT="0" marB="0" anchor="ctr"/>
                </a:tc>
                <a:tc>
                  <a:txBody>
                    <a:bodyPr/>
                    <a:lstStyle/>
                    <a:p>
                      <a:pPr indent="0"/>
                      <a:r>
                        <a:rPr lang="vi" sz="1200">
                          <a:latin typeface="Times New Roman"/>
                        </a:rPr>
                        <a:t>FP = 1</a:t>
                      </a:r>
                    </a:p>
                  </a:txBody>
                  <a:tcPr marL="0" marR="0" marT="0" marB="0" anchor="ctr"/>
                </a:tc>
                <a:tc>
                  <a:txBody>
                    <a:bodyPr/>
                    <a:lstStyle/>
                    <a:p>
                      <a:pPr indent="0"/>
                      <a:r>
                        <a:rPr lang="vi" sz="1200">
                          <a:latin typeface="Times New Roman"/>
                        </a:rPr>
                        <a:t>TN = 1</a:t>
                      </a:r>
                    </a:p>
                  </a:txBody>
                  <a:tcPr marL="0" marR="0" marT="0" marB="0" anchor="ctr"/>
                </a:tc>
                <a:extLst>
                  <a:ext uri="{0D108BD9-81ED-4DB2-BD59-A6C34878D82A}">
                    <a16:rowId xmlns:a16="http://schemas.microsoft.com/office/drawing/2014/main" val="10002"/>
                  </a:ext>
                </a:extLst>
              </a:tr>
            </a:tbl>
          </a:graphicData>
        </a:graphic>
      </p:graphicFrame>
      <p:sp>
        <p:nvSpPr>
          <p:cNvPr id="7" name="Rectangle 6"/>
          <p:cNvSpPr/>
          <p:nvPr/>
        </p:nvSpPr>
        <p:spPr>
          <a:xfrm>
            <a:off x="1066800" y="8601456"/>
            <a:ext cx="3017520" cy="188976"/>
          </a:xfrm>
          <a:prstGeom prst="rect">
            <a:avLst/>
          </a:prstGeom>
        </p:spPr>
        <p:txBody>
          <a:bodyPr wrap="none" lIns="0" tIns="0" rIns="0" bIns="0">
            <a:noAutofit/>
          </a:bodyPr>
          <a:lstStyle/>
          <a:p>
            <a:pPr indent="0"/>
            <a:r>
              <a:rPr lang="vi" sz="1200" b="1">
                <a:latin typeface="Times New Roman"/>
              </a:rPr>
              <a:t>Độ chính xác </a:t>
            </a:r>
            <a:r>
              <a:rPr lang="en-US" sz="1200" b="1">
                <a:latin typeface="Times New Roman"/>
              </a:rPr>
              <a:t>(Accuracy): </a:t>
            </a:r>
            <a:r>
              <a:rPr lang="vi" sz="1200">
                <a:latin typeface="Times New Roman"/>
              </a:rPr>
              <a:t>(2 + 1) / 4 = </a:t>
            </a:r>
            <a:r>
              <a:rPr lang="vi" sz="1200" b="1">
                <a:latin typeface="Times New Roman"/>
              </a:rPr>
              <a:t>75%</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066800" y="749808"/>
            <a:ext cx="5974080" cy="1155192"/>
          </a:xfrm>
          <a:prstGeom prst="rect">
            <a:avLst/>
          </a:prstGeom>
        </p:spPr>
        <p:txBody>
          <a:bodyPr lIns="0" tIns="0" rIns="0" bIns="0">
            <a:noAutofit/>
          </a:bodyPr>
          <a:lstStyle/>
          <a:p>
            <a:pPr indent="0">
              <a:lnSpc>
                <a:spcPts val="2568"/>
              </a:lnSpc>
            </a:pPr>
            <a:r>
              <a:rPr lang="en-US" sz="1500" b="1">
                <a:latin typeface="Times New Roman"/>
              </a:rPr>
              <a:t>Ex3: Applying KNN on real Iris dataset, show experimental results for classification problem on the two strongest features and full features. Discuss and conclude on those results. You can download dataset directly from</a:t>
            </a:r>
          </a:p>
        </p:txBody>
      </p:sp>
      <p:sp>
        <p:nvSpPr>
          <p:cNvPr id="3" name="Rectangle 2"/>
          <p:cNvSpPr/>
          <p:nvPr/>
        </p:nvSpPr>
        <p:spPr>
          <a:xfrm>
            <a:off x="1066800" y="2057400"/>
            <a:ext cx="6001512" cy="1039368"/>
          </a:xfrm>
          <a:prstGeom prst="rect">
            <a:avLst/>
          </a:prstGeom>
        </p:spPr>
        <p:txBody>
          <a:bodyPr lIns="0" tIns="0" rIns="0" bIns="0">
            <a:noAutofit/>
          </a:bodyPr>
          <a:lstStyle/>
          <a:p>
            <a:pPr indent="0" algn="just">
              <a:lnSpc>
                <a:spcPts val="2208"/>
              </a:lnSpc>
            </a:pPr>
            <a:r>
              <a:rPr lang="en-US" sz="1200" b="1">
                <a:latin typeface="Times New Roman"/>
              </a:rPr>
              <a:t>1. </a:t>
            </a:r>
            <a:r>
              <a:rPr lang="vi" sz="1200" b="1">
                <a:latin typeface="Times New Roman"/>
              </a:rPr>
              <a:t>Giả định dữ liệu </a:t>
            </a:r>
            <a:r>
              <a:rPr lang="en-US" sz="1200" b="1">
                <a:latin typeface="Times New Roman"/>
              </a:rPr>
              <a:t>(Dataset Selection)</a:t>
            </a:r>
          </a:p>
          <a:p>
            <a:pPr indent="0" algn="just">
              <a:lnSpc>
                <a:spcPts val="2208"/>
              </a:lnSpc>
            </a:pPr>
            <a:r>
              <a:rPr lang="vi" sz="1200">
                <a:latin typeface="Times New Roman"/>
              </a:rPr>
              <a:t>Trích xuất tập con gồm </a:t>
            </a:r>
            <a:r>
              <a:rPr lang="vi" sz="1200" b="1">
                <a:latin typeface="Times New Roman"/>
              </a:rPr>
              <a:t>5 mẫu huấn luyện </a:t>
            </a:r>
            <a:r>
              <a:rPr lang="vi" sz="1200">
                <a:latin typeface="Times New Roman"/>
              </a:rPr>
              <a:t>và </a:t>
            </a:r>
            <a:r>
              <a:rPr lang="vi" sz="1200" b="1">
                <a:latin typeface="Times New Roman"/>
              </a:rPr>
              <a:t>1 mẫu cần dự đoán </a:t>
            </a:r>
            <a:r>
              <a:rPr lang="vi" sz="1200">
                <a:latin typeface="Times New Roman"/>
              </a:rPr>
              <a:t>từ </a:t>
            </a:r>
            <a:r>
              <a:rPr lang="en-US" sz="1200">
                <a:latin typeface="Times New Roman"/>
              </a:rPr>
              <a:t>Iris Dataset. </a:t>
            </a:r>
            <a:r>
              <a:rPr lang="vi" sz="1200">
                <a:latin typeface="Times New Roman"/>
              </a:rPr>
              <a:t>Sử dụng 2 đặc trưng mạnh nhất: </a:t>
            </a:r>
            <a:r>
              <a:rPr lang="en-US" sz="1200" i="1">
                <a:latin typeface="Times New Roman"/>
              </a:rPr>
              <a:t>Petal Length </a:t>
            </a:r>
            <a:r>
              <a:rPr lang="vi" sz="1200" i="1">
                <a:latin typeface="Times New Roman"/>
              </a:rPr>
              <a:t>(Chiều dài cánh hoa)</a:t>
            </a:r>
            <a:r>
              <a:rPr lang="vi" sz="1200">
                <a:latin typeface="Times New Roman"/>
              </a:rPr>
              <a:t> và </a:t>
            </a:r>
            <a:r>
              <a:rPr lang="en-US" sz="1200" i="1">
                <a:latin typeface="Times New Roman"/>
              </a:rPr>
              <a:t>Petal Width </a:t>
            </a:r>
            <a:r>
              <a:rPr lang="vi" sz="1200" i="1">
                <a:latin typeface="Times New Roman"/>
              </a:rPr>
              <a:t>(Chiều rộng cánh hoa).</a:t>
            </a:r>
          </a:p>
        </p:txBody>
      </p:sp>
      <p:graphicFrame>
        <p:nvGraphicFramePr>
          <p:cNvPr id="4" name="Table 3"/>
          <p:cNvGraphicFramePr>
            <a:graphicFrameLocks noGrp="1"/>
          </p:cNvGraphicFramePr>
          <p:nvPr/>
        </p:nvGraphicFramePr>
        <p:xfrm>
          <a:off x="1210056" y="3285744"/>
          <a:ext cx="5422392" cy="2831592"/>
        </p:xfrm>
        <a:graphic>
          <a:graphicData uri="http://schemas.openxmlformats.org/drawingml/2006/table">
            <a:tbl>
              <a:tblPr/>
              <a:tblGrid>
                <a:gridCol w="606552">
                  <a:extLst>
                    <a:ext uri="{9D8B030D-6E8A-4147-A177-3AD203B41FA5}">
                      <a16:colId xmlns:a16="http://schemas.microsoft.com/office/drawing/2014/main" val="20000"/>
                    </a:ext>
                  </a:extLst>
                </a:gridCol>
                <a:gridCol w="1755648">
                  <a:extLst>
                    <a:ext uri="{9D8B030D-6E8A-4147-A177-3AD203B41FA5}">
                      <a16:colId xmlns:a16="http://schemas.microsoft.com/office/drawing/2014/main" val="20001"/>
                    </a:ext>
                  </a:extLst>
                </a:gridCol>
                <a:gridCol w="1792224">
                  <a:extLst>
                    <a:ext uri="{9D8B030D-6E8A-4147-A177-3AD203B41FA5}">
                      <a16:colId xmlns:a16="http://schemas.microsoft.com/office/drawing/2014/main" val="20002"/>
                    </a:ext>
                  </a:extLst>
                </a:gridCol>
                <a:gridCol w="1267968">
                  <a:extLst>
                    <a:ext uri="{9D8B030D-6E8A-4147-A177-3AD203B41FA5}">
                      <a16:colId xmlns:a16="http://schemas.microsoft.com/office/drawing/2014/main" val="20003"/>
                    </a:ext>
                  </a:extLst>
                </a:gridCol>
              </a:tblGrid>
              <a:tr h="384048">
                <a:tc>
                  <a:txBody>
                    <a:bodyPr/>
                    <a:lstStyle/>
                    <a:p>
                      <a:pPr indent="0"/>
                      <a:r>
                        <a:rPr lang="vi" sz="1200" b="1">
                          <a:latin typeface="Times New Roman"/>
                        </a:rPr>
                        <a:t>Điểm</a:t>
                      </a:r>
                    </a:p>
                  </a:txBody>
                  <a:tcPr marL="0" marR="0" marT="0" marB="0"/>
                </a:tc>
                <a:tc>
                  <a:txBody>
                    <a:bodyPr/>
                    <a:lstStyle/>
                    <a:p>
                      <a:pPr marL="241300" indent="0"/>
                      <a:r>
                        <a:rPr lang="en-US" sz="1200" b="1">
                          <a:latin typeface="Times New Roman"/>
                        </a:rPr>
                        <a:t>Petal Length </a:t>
                      </a:r>
                      <a:r>
                        <a:rPr lang="vi" sz="1200" b="1">
                          <a:latin typeface="Times New Roman"/>
                        </a:rPr>
                        <a:t>(xi)</a:t>
                      </a:r>
                    </a:p>
                  </a:txBody>
                  <a:tcPr marL="0" marR="0" marT="0" marB="0"/>
                </a:tc>
                <a:tc>
                  <a:txBody>
                    <a:bodyPr/>
                    <a:lstStyle/>
                    <a:p>
                      <a:pPr marL="330200" indent="0"/>
                      <a:r>
                        <a:rPr lang="en-US" sz="1200" b="1">
                          <a:latin typeface="Times New Roman"/>
                        </a:rPr>
                        <a:t>Petal Width </a:t>
                      </a:r>
                      <a:r>
                        <a:rPr lang="vi" sz="1200" b="1">
                          <a:latin typeface="Times New Roman"/>
                        </a:rPr>
                        <a:t>(x2)</a:t>
                      </a:r>
                    </a:p>
                  </a:txBody>
                  <a:tcPr marL="0" marR="0" marT="0" marB="0"/>
                </a:tc>
                <a:tc>
                  <a:txBody>
                    <a:bodyPr/>
                    <a:lstStyle/>
                    <a:p>
                      <a:pPr indent="0" algn="r"/>
                      <a:r>
                        <a:rPr lang="vi" sz="1200" b="1">
                          <a:latin typeface="Times New Roman"/>
                        </a:rPr>
                        <a:t>Nhãn </a:t>
                      </a:r>
                      <a:r>
                        <a:rPr lang="en-US" sz="1200" b="1">
                          <a:latin typeface="Times New Roman"/>
                        </a:rPr>
                        <a:t>(Label)</a:t>
                      </a:r>
                    </a:p>
                  </a:txBody>
                  <a:tcPr marL="0" marR="0" marT="0" marB="0"/>
                </a:tc>
                <a:extLst>
                  <a:ext uri="{0D108BD9-81ED-4DB2-BD59-A6C34878D82A}">
                    <a16:rowId xmlns:a16="http://schemas.microsoft.com/office/drawing/2014/main" val="10000"/>
                  </a:ext>
                </a:extLst>
              </a:tr>
              <a:tr h="509016">
                <a:tc>
                  <a:txBody>
                    <a:bodyPr/>
                    <a:lstStyle/>
                    <a:p>
                      <a:pPr indent="0"/>
                      <a:r>
                        <a:rPr lang="en-US" sz="1200">
                          <a:latin typeface="Times New Roman"/>
                        </a:rPr>
                        <a:t>A</a:t>
                      </a:r>
                    </a:p>
                  </a:txBody>
                  <a:tcPr marL="0" marR="0" marT="0" marB="0" anchor="ctr"/>
                </a:tc>
                <a:tc>
                  <a:txBody>
                    <a:bodyPr/>
                    <a:lstStyle/>
                    <a:p>
                      <a:pPr marL="241300" indent="0"/>
                      <a:r>
                        <a:rPr lang="vi" sz="1200">
                          <a:latin typeface="Times New Roman"/>
                        </a:rPr>
                        <a:t>1.4</a:t>
                      </a:r>
                    </a:p>
                  </a:txBody>
                  <a:tcPr marL="0" marR="0" marT="0" marB="0" anchor="ctr"/>
                </a:tc>
                <a:tc>
                  <a:txBody>
                    <a:bodyPr/>
                    <a:lstStyle/>
                    <a:p>
                      <a:pPr marL="330200" indent="0"/>
                      <a:r>
                        <a:rPr lang="vi" sz="1200">
                          <a:latin typeface="Times New Roman"/>
                        </a:rPr>
                        <a:t>0.2</a:t>
                      </a:r>
                    </a:p>
                  </a:txBody>
                  <a:tcPr marL="0" marR="0" marT="0" marB="0" anchor="ctr"/>
                </a:tc>
                <a:tc>
                  <a:txBody>
                    <a:bodyPr/>
                    <a:lstStyle/>
                    <a:p>
                      <a:pPr marL="190500" indent="0" algn="ctr"/>
                      <a:r>
                        <a:rPr lang="vi" sz="1200">
                          <a:latin typeface="Times New Roman"/>
                        </a:rPr>
                        <a:t>Setosa</a:t>
                      </a:r>
                    </a:p>
                  </a:txBody>
                  <a:tcPr marL="0" marR="0" marT="0" marB="0" anchor="ctr"/>
                </a:tc>
                <a:extLst>
                  <a:ext uri="{0D108BD9-81ED-4DB2-BD59-A6C34878D82A}">
                    <a16:rowId xmlns:a16="http://schemas.microsoft.com/office/drawing/2014/main" val="10001"/>
                  </a:ext>
                </a:extLst>
              </a:tr>
              <a:tr h="521208">
                <a:tc>
                  <a:txBody>
                    <a:bodyPr/>
                    <a:lstStyle/>
                    <a:p>
                      <a:pPr indent="0"/>
                      <a:r>
                        <a:rPr lang="vi" sz="1200">
                          <a:latin typeface="Times New Roman"/>
                        </a:rPr>
                        <a:t>B</a:t>
                      </a:r>
                    </a:p>
                  </a:txBody>
                  <a:tcPr marL="0" marR="0" marT="0" marB="0" anchor="ctr"/>
                </a:tc>
                <a:tc>
                  <a:txBody>
                    <a:bodyPr/>
                    <a:lstStyle/>
                    <a:p>
                      <a:pPr marL="241300" indent="0"/>
                      <a:r>
                        <a:rPr lang="vi" sz="1200">
                          <a:latin typeface="Times New Roman"/>
                        </a:rPr>
                        <a:t>1.5</a:t>
                      </a:r>
                    </a:p>
                  </a:txBody>
                  <a:tcPr marL="0" marR="0" marT="0" marB="0" anchor="ctr"/>
                </a:tc>
                <a:tc>
                  <a:txBody>
                    <a:bodyPr/>
                    <a:lstStyle/>
                    <a:p>
                      <a:pPr marL="330200" indent="0"/>
                      <a:r>
                        <a:rPr lang="vi" sz="1200">
                          <a:latin typeface="Times New Roman"/>
                        </a:rPr>
                        <a:t>0.2</a:t>
                      </a:r>
                    </a:p>
                  </a:txBody>
                  <a:tcPr marL="0" marR="0" marT="0" marB="0" anchor="ctr"/>
                </a:tc>
                <a:tc>
                  <a:txBody>
                    <a:bodyPr/>
                    <a:lstStyle/>
                    <a:p>
                      <a:pPr marL="190500" indent="0" algn="ctr"/>
                      <a:r>
                        <a:rPr lang="vi" sz="1200">
                          <a:latin typeface="Times New Roman"/>
                        </a:rPr>
                        <a:t>Setosa</a:t>
                      </a:r>
                    </a:p>
                  </a:txBody>
                  <a:tcPr marL="0" marR="0" marT="0" marB="0" anchor="ctr"/>
                </a:tc>
                <a:extLst>
                  <a:ext uri="{0D108BD9-81ED-4DB2-BD59-A6C34878D82A}">
                    <a16:rowId xmlns:a16="http://schemas.microsoft.com/office/drawing/2014/main" val="10002"/>
                  </a:ext>
                </a:extLst>
              </a:tr>
              <a:tr h="524256">
                <a:tc>
                  <a:txBody>
                    <a:bodyPr/>
                    <a:lstStyle/>
                    <a:p>
                      <a:pPr indent="0"/>
                      <a:r>
                        <a:rPr lang="vi" sz="1200">
                          <a:latin typeface="Times New Roman"/>
                        </a:rPr>
                        <a:t>C</a:t>
                      </a:r>
                    </a:p>
                  </a:txBody>
                  <a:tcPr marL="0" marR="0" marT="0" marB="0" anchor="ctr"/>
                </a:tc>
                <a:tc>
                  <a:txBody>
                    <a:bodyPr/>
                    <a:lstStyle/>
                    <a:p>
                      <a:pPr marL="241300" indent="0"/>
                      <a:r>
                        <a:rPr lang="vi" sz="1200">
                          <a:latin typeface="Times New Roman"/>
                        </a:rPr>
                        <a:t>4.5</a:t>
                      </a:r>
                    </a:p>
                  </a:txBody>
                  <a:tcPr marL="0" marR="0" marT="0" marB="0" anchor="ctr"/>
                </a:tc>
                <a:tc>
                  <a:txBody>
                    <a:bodyPr/>
                    <a:lstStyle/>
                    <a:p>
                      <a:pPr marL="330200" indent="0"/>
                      <a:r>
                        <a:rPr lang="vi" sz="1200">
                          <a:latin typeface="Times New Roman"/>
                        </a:rPr>
                        <a:t>1.5</a:t>
                      </a:r>
                    </a:p>
                  </a:txBody>
                  <a:tcPr marL="0" marR="0" marT="0" marB="0" anchor="ctr"/>
                </a:tc>
                <a:tc>
                  <a:txBody>
                    <a:bodyPr/>
                    <a:lstStyle/>
                    <a:p>
                      <a:pPr indent="0" algn="ctr"/>
                      <a:r>
                        <a:rPr lang="en-US" sz="1200">
                          <a:latin typeface="Times New Roman"/>
                        </a:rPr>
                        <a:t>Versicolor</a:t>
                      </a:r>
                    </a:p>
                  </a:txBody>
                  <a:tcPr marL="0" marR="0" marT="0" marB="0" anchor="ctr"/>
                </a:tc>
                <a:extLst>
                  <a:ext uri="{0D108BD9-81ED-4DB2-BD59-A6C34878D82A}">
                    <a16:rowId xmlns:a16="http://schemas.microsoft.com/office/drawing/2014/main" val="10003"/>
                  </a:ext>
                </a:extLst>
              </a:tr>
              <a:tr h="524256">
                <a:tc>
                  <a:txBody>
                    <a:bodyPr/>
                    <a:lstStyle/>
                    <a:p>
                      <a:pPr indent="0"/>
                      <a:r>
                        <a:rPr lang="vi" sz="1200">
                          <a:latin typeface="Times New Roman"/>
                        </a:rPr>
                        <a:t>D</a:t>
                      </a:r>
                    </a:p>
                  </a:txBody>
                  <a:tcPr marL="0" marR="0" marT="0" marB="0" anchor="ctr"/>
                </a:tc>
                <a:tc>
                  <a:txBody>
                    <a:bodyPr/>
                    <a:lstStyle/>
                    <a:p>
                      <a:pPr marL="241300" indent="0"/>
                      <a:r>
                        <a:rPr lang="vi" sz="1200">
                          <a:latin typeface="Times New Roman"/>
                        </a:rPr>
                        <a:t>4.7</a:t>
                      </a:r>
                    </a:p>
                  </a:txBody>
                  <a:tcPr marL="0" marR="0" marT="0" marB="0" anchor="ctr"/>
                </a:tc>
                <a:tc>
                  <a:txBody>
                    <a:bodyPr/>
                    <a:lstStyle/>
                    <a:p>
                      <a:pPr marL="330200" indent="0"/>
                      <a:r>
                        <a:rPr lang="vi" sz="1200">
                          <a:latin typeface="Times New Roman"/>
                        </a:rPr>
                        <a:t>1.4</a:t>
                      </a:r>
                    </a:p>
                  </a:txBody>
                  <a:tcPr marL="0" marR="0" marT="0" marB="0" anchor="ctr"/>
                </a:tc>
                <a:tc>
                  <a:txBody>
                    <a:bodyPr/>
                    <a:lstStyle/>
                    <a:p>
                      <a:pPr indent="0" algn="ctr"/>
                      <a:r>
                        <a:rPr lang="en-US" sz="1200">
                          <a:latin typeface="Times New Roman"/>
                        </a:rPr>
                        <a:t>Versicolor</a:t>
                      </a:r>
                    </a:p>
                  </a:txBody>
                  <a:tcPr marL="0" marR="0" marT="0" marB="0" anchor="ctr"/>
                </a:tc>
                <a:extLst>
                  <a:ext uri="{0D108BD9-81ED-4DB2-BD59-A6C34878D82A}">
                    <a16:rowId xmlns:a16="http://schemas.microsoft.com/office/drawing/2014/main" val="10004"/>
                  </a:ext>
                </a:extLst>
              </a:tr>
              <a:tr h="368808">
                <a:tc>
                  <a:txBody>
                    <a:bodyPr/>
                    <a:lstStyle/>
                    <a:p>
                      <a:pPr indent="0"/>
                      <a:r>
                        <a:rPr lang="vi" sz="1200">
                          <a:latin typeface="Times New Roman"/>
                        </a:rPr>
                        <a:t>E</a:t>
                      </a:r>
                    </a:p>
                  </a:txBody>
                  <a:tcPr marL="0" marR="0" marT="0" marB="0" anchor="b"/>
                </a:tc>
                <a:tc>
                  <a:txBody>
                    <a:bodyPr/>
                    <a:lstStyle/>
                    <a:p>
                      <a:pPr marL="241300" indent="0"/>
                      <a:r>
                        <a:rPr lang="vi" sz="1200">
                          <a:latin typeface="Times New Roman"/>
                        </a:rPr>
                        <a:t>5.1</a:t>
                      </a:r>
                    </a:p>
                  </a:txBody>
                  <a:tcPr marL="0" marR="0" marT="0" marB="0" anchor="b"/>
                </a:tc>
                <a:tc>
                  <a:txBody>
                    <a:bodyPr/>
                    <a:lstStyle/>
                    <a:p>
                      <a:pPr marL="330200" indent="0"/>
                      <a:r>
                        <a:rPr lang="vi" sz="1200">
                          <a:latin typeface="Times New Roman"/>
                        </a:rPr>
                        <a:t>1.8</a:t>
                      </a:r>
                    </a:p>
                  </a:txBody>
                  <a:tcPr marL="0" marR="0" marT="0" marB="0" anchor="b"/>
                </a:tc>
                <a:tc>
                  <a:txBody>
                    <a:bodyPr/>
                    <a:lstStyle/>
                    <a:p>
                      <a:pPr indent="0" algn="ctr"/>
                      <a:r>
                        <a:rPr lang="vi" sz="1200">
                          <a:latin typeface="Times New Roman"/>
                        </a:rPr>
                        <a:t>Virginica</a:t>
                      </a:r>
                    </a:p>
                  </a:txBody>
                  <a:tcPr marL="0" marR="0" marT="0" marB="0" anchor="b"/>
                </a:tc>
                <a:extLst>
                  <a:ext uri="{0D108BD9-81ED-4DB2-BD59-A6C34878D82A}">
                    <a16:rowId xmlns:a16="http://schemas.microsoft.com/office/drawing/2014/main" val="10005"/>
                  </a:ext>
                </a:extLst>
              </a:tr>
            </a:tbl>
          </a:graphicData>
        </a:graphic>
      </p:graphicFrame>
      <p:sp>
        <p:nvSpPr>
          <p:cNvPr id="5" name="Rectangle 4"/>
          <p:cNvSpPr/>
          <p:nvPr/>
        </p:nvSpPr>
        <p:spPr>
          <a:xfrm>
            <a:off x="1069848" y="6309360"/>
            <a:ext cx="3145536" cy="786384"/>
          </a:xfrm>
          <a:prstGeom prst="rect">
            <a:avLst/>
          </a:prstGeom>
        </p:spPr>
        <p:txBody>
          <a:bodyPr lIns="0" tIns="0" rIns="0" bIns="0">
            <a:noAutofit/>
          </a:bodyPr>
          <a:lstStyle/>
          <a:p>
            <a:pPr indent="0" algn="just">
              <a:lnSpc>
                <a:spcPts val="2208"/>
              </a:lnSpc>
              <a:spcBef>
                <a:spcPts val="1050"/>
              </a:spcBef>
            </a:pPr>
            <a:r>
              <a:rPr lang="vi" sz="1200" b="1">
                <a:latin typeface="Times New Roman"/>
              </a:rPr>
              <a:t>Thông số thực nghiệm:</a:t>
            </a:r>
          </a:p>
          <a:p>
            <a:pPr indent="0" algn="just">
              <a:lnSpc>
                <a:spcPts val="2208"/>
              </a:lnSpc>
            </a:pPr>
            <a:r>
              <a:rPr lang="vi" sz="1200">
                <a:latin typeface="Times New Roman"/>
              </a:rPr>
              <a:t>-    Điểm cần dự đoán </a:t>
            </a:r>
            <a:r>
              <a:rPr lang="en-US" sz="1200">
                <a:latin typeface="Times New Roman"/>
              </a:rPr>
              <a:t>(Test Point): </a:t>
            </a:r>
            <a:r>
              <a:rPr lang="vi" sz="1200" b="1">
                <a:latin typeface="Times New Roman"/>
              </a:rPr>
              <a:t>X = (4.6, 1.5)</a:t>
            </a:r>
          </a:p>
          <a:p>
            <a:pPr indent="0" algn="just">
              <a:lnSpc>
                <a:spcPts val="2208"/>
              </a:lnSpc>
            </a:pPr>
            <a:r>
              <a:rPr lang="vi" sz="1200">
                <a:latin typeface="Times New Roman"/>
              </a:rPr>
              <a:t>-    Số láng giềng: </a:t>
            </a:r>
            <a:r>
              <a:rPr lang="vi" sz="1200" b="1">
                <a:latin typeface="Times New Roman"/>
              </a:rPr>
              <a:t>K = 3</a:t>
            </a:r>
          </a:p>
        </p:txBody>
      </p:sp>
      <p:sp>
        <p:nvSpPr>
          <p:cNvPr id="6" name="Rectangle 5"/>
          <p:cNvSpPr/>
          <p:nvPr/>
        </p:nvSpPr>
        <p:spPr>
          <a:xfrm>
            <a:off x="1036320" y="7199376"/>
            <a:ext cx="2785872" cy="463296"/>
          </a:xfrm>
          <a:prstGeom prst="rect">
            <a:avLst/>
          </a:prstGeom>
        </p:spPr>
        <p:txBody>
          <a:bodyPr lIns="0" tIns="0" rIns="0" bIns="0">
            <a:noAutofit/>
          </a:bodyPr>
          <a:lstStyle/>
          <a:p>
            <a:pPr indent="0" algn="just">
              <a:spcAft>
                <a:spcPts val="630"/>
              </a:spcAft>
            </a:pPr>
            <a:r>
              <a:rPr lang="vi" sz="1200" b="1">
                <a:latin typeface="Times New Roman"/>
              </a:rPr>
              <a:t>2. Công thức tính khoảng cách</a:t>
            </a:r>
          </a:p>
          <a:p>
            <a:pPr indent="0" algn="just">
              <a:spcAft>
                <a:spcPts val="630"/>
              </a:spcAft>
            </a:pPr>
            <a:r>
              <a:rPr lang="vi" sz="1200">
                <a:latin typeface="Times New Roman"/>
              </a:rPr>
              <a:t>Sử dụng khoảng cách </a:t>
            </a:r>
            <a:r>
              <a:rPr lang="en-US" sz="1200">
                <a:latin typeface="Times New Roman"/>
              </a:rPr>
              <a:t>Euclidean </a:t>
            </a:r>
            <a:r>
              <a:rPr lang="vi" sz="1200">
                <a:latin typeface="Times New Roman"/>
              </a:rPr>
              <a:t>(Ơ-clit):</a:t>
            </a:r>
          </a:p>
        </p:txBody>
      </p:sp>
      <p:sp>
        <p:nvSpPr>
          <p:cNvPr id="7" name="Rectangle 6"/>
          <p:cNvSpPr/>
          <p:nvPr/>
        </p:nvSpPr>
        <p:spPr>
          <a:xfrm>
            <a:off x="1042416" y="7754112"/>
            <a:ext cx="2109216" cy="213360"/>
          </a:xfrm>
          <a:prstGeom prst="rect">
            <a:avLst/>
          </a:prstGeom>
        </p:spPr>
        <p:txBody>
          <a:bodyPr wrap="none" lIns="0" tIns="0" rIns="0" bIns="0">
            <a:noAutofit/>
          </a:bodyPr>
          <a:lstStyle/>
          <a:p>
            <a:pPr indent="0" algn="just">
              <a:spcBef>
                <a:spcPts val="630"/>
              </a:spcBef>
              <a:spcAft>
                <a:spcPts val="630"/>
              </a:spcAft>
            </a:pPr>
            <a:r>
              <a:rPr lang="vi" sz="1200" b="1" baseline="30000">
                <a:latin typeface="Times New Roman"/>
              </a:rPr>
              <a:t>d(</a:t>
            </a:r>
            <a:r>
              <a:rPr lang="vi" sz="1200" b="1">
                <a:latin typeface="Times New Roman"/>
              </a:rPr>
              <a:t>p, q</a:t>
            </a:r>
            <a:r>
              <a:rPr lang="vi" sz="1200" b="1" baseline="30000">
                <a:latin typeface="Times New Roman"/>
              </a:rPr>
              <a:t>)</a:t>
            </a:r>
            <a:r>
              <a:rPr lang="vi" sz="1200" b="1">
                <a:latin typeface="Times New Roman"/>
              </a:rPr>
              <a:t> = </a:t>
            </a:r>
            <a:r>
              <a:rPr lang="vi" sz="1200" b="1" u="sng" baseline="30000">
                <a:latin typeface="Times New Roman"/>
              </a:rPr>
              <a:t>V</a:t>
            </a:r>
            <a:r>
              <a:rPr lang="vi" sz="1200" b="1" u="sng">
                <a:latin typeface="Times New Roman"/>
              </a:rPr>
              <a:t> (qi - pi</a:t>
            </a:r>
            <a:r>
              <a:rPr lang="vi" sz="1200" b="1" u="sng" baseline="30000">
                <a:latin typeface="Times New Roman"/>
              </a:rPr>
              <a:t>)2</a:t>
            </a:r>
            <a:r>
              <a:rPr lang="vi" sz="1200" b="1" u="sng">
                <a:latin typeface="Times New Roman"/>
              </a:rPr>
              <a:t> + (q2 - p</a:t>
            </a:r>
            <a:r>
              <a:rPr lang="vi" sz="1200" b="1" u="sng" baseline="-25000">
                <a:latin typeface="Times New Roman"/>
              </a:rPr>
              <a:t>2</a:t>
            </a:r>
            <a:r>
              <a:rPr lang="vi" sz="1200" b="1" u="sng" baseline="30000">
                <a:latin typeface="Times New Roman"/>
              </a:rPr>
              <a:t>):</a:t>
            </a:r>
          </a:p>
        </p:txBody>
      </p:sp>
      <p:sp>
        <p:nvSpPr>
          <p:cNvPr id="8" name="Rectangle 7"/>
          <p:cNvSpPr/>
          <p:nvPr/>
        </p:nvSpPr>
        <p:spPr>
          <a:xfrm>
            <a:off x="1066800" y="8046720"/>
            <a:ext cx="5541264" cy="1072896"/>
          </a:xfrm>
          <a:prstGeom prst="rect">
            <a:avLst/>
          </a:prstGeom>
        </p:spPr>
        <p:txBody>
          <a:bodyPr lIns="0" tIns="0" rIns="0" bIns="0">
            <a:noAutofit/>
          </a:bodyPr>
          <a:lstStyle/>
          <a:p>
            <a:pPr indent="0" algn="just">
              <a:spcBef>
                <a:spcPts val="630"/>
              </a:spcBef>
              <a:spcAft>
                <a:spcPts val="630"/>
              </a:spcAft>
            </a:pPr>
            <a:r>
              <a:rPr lang="vi" sz="1200" b="1">
                <a:latin typeface="Times New Roman"/>
              </a:rPr>
              <a:t>3. Các bước tính toán chi tiết</a:t>
            </a:r>
          </a:p>
          <a:p>
            <a:pPr indent="0" algn="just">
              <a:lnSpc>
                <a:spcPts val="2232"/>
              </a:lnSpc>
            </a:pPr>
            <a:r>
              <a:rPr lang="vi" sz="1200">
                <a:latin typeface="Times New Roman"/>
              </a:rPr>
              <a:t>Tính khoảng cách từ điểm </a:t>
            </a:r>
            <a:r>
              <a:rPr lang="vi" sz="1200" b="1">
                <a:latin typeface="Times New Roman"/>
              </a:rPr>
              <a:t>X(4.6, 1.5) </a:t>
            </a:r>
            <a:r>
              <a:rPr lang="vi" sz="1200">
                <a:latin typeface="Times New Roman"/>
              </a:rPr>
              <a:t>đến từng điểm trong tập huấn luyện:</a:t>
            </a:r>
          </a:p>
          <a:p>
            <a:pPr indent="0" algn="just">
              <a:lnSpc>
                <a:spcPts val="2232"/>
              </a:lnSpc>
            </a:pPr>
            <a:r>
              <a:rPr lang="vi" sz="1200" b="1">
                <a:latin typeface="Times New Roman"/>
              </a:rPr>
              <a:t>1. Với điểm </a:t>
            </a:r>
            <a:r>
              <a:rPr lang="en-US" sz="1200" b="1">
                <a:latin typeface="Times New Roman"/>
              </a:rPr>
              <a:t>A </a:t>
            </a:r>
            <a:r>
              <a:rPr lang="vi" sz="1200" b="1">
                <a:latin typeface="Times New Roman"/>
              </a:rPr>
              <a:t>(1.4, 0.2):</a:t>
            </a:r>
          </a:p>
          <a:p>
            <a:pPr indent="0" algn="just">
              <a:lnSpc>
                <a:spcPts val="2232"/>
              </a:lnSpc>
            </a:pPr>
            <a:r>
              <a:rPr lang="vi" sz="1200">
                <a:latin typeface="Times New Roman"/>
              </a:rPr>
              <a:t>d(X, A) = V((1.4 - 4.6)</a:t>
            </a:r>
            <a:r>
              <a:rPr lang="vi" sz="1200" baseline="30000">
                <a:latin typeface="Times New Roman"/>
              </a:rPr>
              <a:t>2</a:t>
            </a:r>
            <a:r>
              <a:rPr lang="vi" sz="1200">
                <a:latin typeface="Times New Roman"/>
              </a:rPr>
              <a:t> + (0.2 - 1.5)</a:t>
            </a:r>
            <a:r>
              <a:rPr lang="vi" sz="1200" baseline="30000">
                <a:latin typeface="Times New Roman"/>
              </a:rPr>
              <a:t>2</a:t>
            </a:r>
            <a:r>
              <a:rPr lang="vi" sz="1200">
                <a:latin typeface="Times New Roman"/>
              </a:rPr>
              <a:t>) = V((-3.2)2 + (-1.3)</a:t>
            </a:r>
            <a:r>
              <a:rPr lang="vi" sz="1200" baseline="30000">
                <a:latin typeface="Times New Roman"/>
              </a:rPr>
              <a:t>2</a:t>
            </a:r>
            <a:r>
              <a:rPr lang="vi" sz="1200">
                <a:latin typeface="Times New Roman"/>
              </a:rPr>
              <a:t>) = V(10.24 + 1.69) =</a:t>
            </a:r>
            <a:r>
              <a:rPr lang="vi" sz="1200" b="1">
                <a:latin typeface="Times New Roman"/>
              </a:rPr>
              <a:t>3.45</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066800" y="707136"/>
            <a:ext cx="5449824" cy="2782824"/>
          </a:xfrm>
          <a:prstGeom prst="rect">
            <a:avLst/>
          </a:prstGeom>
        </p:spPr>
        <p:txBody>
          <a:bodyPr lIns="0" tIns="0" rIns="0" bIns="0">
            <a:noAutofit/>
          </a:bodyPr>
          <a:lstStyle/>
          <a:p>
            <a:pPr indent="0" algn="just">
              <a:spcAft>
                <a:spcPts val="630"/>
              </a:spcAft>
            </a:pPr>
            <a:r>
              <a:rPr lang="en-US" sz="1200" b="1">
                <a:latin typeface="Times New Roman"/>
              </a:rPr>
              <a:t>2.    </a:t>
            </a:r>
            <a:r>
              <a:rPr lang="vi" sz="1200" b="1">
                <a:latin typeface="Times New Roman"/>
              </a:rPr>
              <a:t>Với điểm B (1.5, 0.2):</a:t>
            </a:r>
          </a:p>
          <a:p>
            <a:pPr indent="0" algn="just">
              <a:spcAft>
                <a:spcPts val="630"/>
              </a:spcAft>
            </a:pPr>
            <a:r>
              <a:rPr lang="vi" sz="1200" b="1">
                <a:latin typeface="Times New Roman"/>
              </a:rPr>
              <a:t>d(X, B) = V((1.5 - 4.6)</a:t>
            </a:r>
            <a:r>
              <a:rPr lang="vi" sz="1200" b="1" baseline="30000">
                <a:latin typeface="Times New Roman"/>
              </a:rPr>
              <a:t>2</a:t>
            </a:r>
            <a:r>
              <a:rPr lang="vi" sz="1200" b="1">
                <a:latin typeface="Times New Roman"/>
              </a:rPr>
              <a:t> + (0.2 - 1.5)</a:t>
            </a:r>
            <a:r>
              <a:rPr lang="vi" sz="1200" b="1" baseline="30000">
                <a:latin typeface="Times New Roman"/>
              </a:rPr>
              <a:t>2</a:t>
            </a:r>
            <a:r>
              <a:rPr lang="vi" sz="1200" b="1">
                <a:latin typeface="Times New Roman"/>
              </a:rPr>
              <a:t>) = V((-3.1)2 + (-1.3)</a:t>
            </a:r>
            <a:r>
              <a:rPr lang="vi" sz="1200" b="1" baseline="30000">
                <a:latin typeface="Times New Roman"/>
              </a:rPr>
              <a:t>2</a:t>
            </a:r>
            <a:r>
              <a:rPr lang="vi" sz="1200" b="1">
                <a:latin typeface="Times New Roman"/>
              </a:rPr>
              <a:t>) = V(9.61 + 1.69) =3.36</a:t>
            </a:r>
          </a:p>
          <a:p>
            <a:pPr indent="0" algn="just">
              <a:spcAft>
                <a:spcPts val="630"/>
              </a:spcAft>
            </a:pPr>
            <a:r>
              <a:rPr lang="vi" sz="1200" b="1">
                <a:latin typeface="Times New Roman"/>
              </a:rPr>
              <a:t>3.    Với điểm C (4.5, 1.5):</a:t>
            </a:r>
          </a:p>
          <a:p>
            <a:pPr indent="0" algn="just">
              <a:spcAft>
                <a:spcPts val="630"/>
              </a:spcAft>
            </a:pPr>
            <a:r>
              <a:rPr lang="vi" sz="1200" b="1">
                <a:latin typeface="Times New Roman"/>
              </a:rPr>
              <a:t>d(X, C) = V((4.5 - 4.6)2 + (1.5 - 1.5)2) = V((-0.1)2 + 02) = V(0.01) = 0.10</a:t>
            </a:r>
          </a:p>
          <a:p>
            <a:pPr indent="0" algn="just">
              <a:spcAft>
                <a:spcPts val="630"/>
              </a:spcAft>
            </a:pPr>
            <a:r>
              <a:rPr lang="vi" sz="1200" b="1">
                <a:latin typeface="Times New Roman"/>
              </a:rPr>
              <a:t>4.    Với điểm D (4.7, 1.4):</a:t>
            </a:r>
          </a:p>
          <a:p>
            <a:pPr indent="0" algn="just">
              <a:spcAft>
                <a:spcPts val="630"/>
              </a:spcAft>
            </a:pPr>
            <a:r>
              <a:rPr lang="vi" sz="1200" b="1">
                <a:latin typeface="Times New Roman"/>
              </a:rPr>
              <a:t>d(X, D) = V((4.7 - 4.6)2 + (1.4 - 1.5)2) = V(0.12 + (-0.1)2) = V(0.01 + 0.01) =0.14</a:t>
            </a:r>
          </a:p>
          <a:p>
            <a:pPr indent="0" algn="just">
              <a:spcAft>
                <a:spcPts val="630"/>
              </a:spcAft>
            </a:pPr>
            <a:r>
              <a:rPr lang="vi" sz="1200" b="1">
                <a:latin typeface="Times New Roman"/>
              </a:rPr>
              <a:t>5.    Với điểm E (5.1, 1.8):</a:t>
            </a:r>
          </a:p>
          <a:p>
            <a:pPr indent="0" algn="just">
              <a:lnSpc>
                <a:spcPts val="2328"/>
              </a:lnSpc>
            </a:pPr>
            <a:r>
              <a:rPr lang="vi" sz="1200" b="1">
                <a:latin typeface="Times New Roman"/>
              </a:rPr>
              <a:t>d(X, E) = V((5.1 - 4.6)2 + (1.8 - 1.5)2) = ^(0.52 + 0.32) = V(0.25 + 0.09) =0.58</a:t>
            </a:r>
          </a:p>
          <a:p>
            <a:pPr indent="0" algn="just">
              <a:lnSpc>
                <a:spcPts val="2328"/>
              </a:lnSpc>
            </a:pPr>
            <a:r>
              <a:rPr lang="vi" sz="1200" b="1">
                <a:latin typeface="Times New Roman"/>
              </a:rPr>
              <a:t>4. xếp hạng và Chọn K láng giềng</a:t>
            </a:r>
          </a:p>
          <a:p>
            <a:pPr indent="0" algn="just"/>
            <a:r>
              <a:rPr lang="vi" sz="1200" b="1">
                <a:latin typeface="Times New Roman"/>
              </a:rPr>
              <a:t>Sắp xếp khoảng cách từ nhỏ đến lớn và chọn ra 3 điểm gần nhất (K=3):</a:t>
            </a:r>
          </a:p>
        </p:txBody>
      </p:sp>
      <p:graphicFrame>
        <p:nvGraphicFramePr>
          <p:cNvPr id="3" name="Table 2"/>
          <p:cNvGraphicFramePr>
            <a:graphicFrameLocks noGrp="1"/>
          </p:cNvGraphicFramePr>
          <p:nvPr/>
        </p:nvGraphicFramePr>
        <p:xfrm>
          <a:off x="1213104" y="3678936"/>
          <a:ext cx="5480304" cy="2822448"/>
        </p:xfrm>
        <a:graphic>
          <a:graphicData uri="http://schemas.openxmlformats.org/drawingml/2006/table">
            <a:tbl>
              <a:tblPr/>
              <a:tblGrid>
                <a:gridCol w="59436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1365504">
                  <a:extLst>
                    <a:ext uri="{9D8B030D-6E8A-4147-A177-3AD203B41FA5}">
                      <a16:colId xmlns:a16="http://schemas.microsoft.com/office/drawing/2014/main" val="20002"/>
                    </a:ext>
                  </a:extLst>
                </a:gridCol>
                <a:gridCol w="1435608">
                  <a:extLst>
                    <a:ext uri="{9D8B030D-6E8A-4147-A177-3AD203B41FA5}">
                      <a16:colId xmlns:a16="http://schemas.microsoft.com/office/drawing/2014/main" val="20003"/>
                    </a:ext>
                  </a:extLst>
                </a:gridCol>
                <a:gridCol w="1307592">
                  <a:extLst>
                    <a:ext uri="{9D8B030D-6E8A-4147-A177-3AD203B41FA5}">
                      <a16:colId xmlns:a16="http://schemas.microsoft.com/office/drawing/2014/main" val="20004"/>
                    </a:ext>
                  </a:extLst>
                </a:gridCol>
              </a:tblGrid>
              <a:tr h="387096">
                <a:tc>
                  <a:txBody>
                    <a:bodyPr/>
                    <a:lstStyle/>
                    <a:p>
                      <a:pPr indent="0"/>
                      <a:r>
                        <a:rPr lang="vi" sz="1200" b="1">
                          <a:latin typeface="Times New Roman"/>
                        </a:rPr>
                        <a:t>Hạng</a:t>
                      </a:r>
                    </a:p>
                  </a:txBody>
                  <a:tcPr marL="0" marR="0" marT="0" marB="0"/>
                </a:tc>
                <a:tc>
                  <a:txBody>
                    <a:bodyPr/>
                    <a:lstStyle/>
                    <a:p>
                      <a:pPr marL="215900" indent="0"/>
                      <a:r>
                        <a:rPr lang="vi" sz="1200" b="1">
                          <a:latin typeface="Times New Roman"/>
                        </a:rPr>
                        <a:t>Điểm</a:t>
                      </a:r>
                    </a:p>
                  </a:txBody>
                  <a:tcPr marL="0" marR="0" marT="0" marB="0"/>
                </a:tc>
                <a:tc>
                  <a:txBody>
                    <a:bodyPr/>
                    <a:lstStyle/>
                    <a:p>
                      <a:pPr marL="215900" indent="0"/>
                      <a:r>
                        <a:rPr lang="vi" sz="1200" b="1">
                          <a:latin typeface="Times New Roman"/>
                        </a:rPr>
                        <a:t>Khoảng cách</a:t>
                      </a:r>
                    </a:p>
                  </a:txBody>
                  <a:tcPr marL="0" marR="0" marT="0" marB="0"/>
                </a:tc>
                <a:tc>
                  <a:txBody>
                    <a:bodyPr/>
                    <a:lstStyle/>
                    <a:p>
                      <a:pPr marL="266700" indent="0"/>
                      <a:r>
                        <a:rPr lang="vi" sz="1200" b="1">
                          <a:latin typeface="Times New Roman"/>
                        </a:rPr>
                        <a:t>Nhãn </a:t>
                      </a:r>
                      <a:r>
                        <a:rPr lang="en-US" sz="1200" b="1">
                          <a:latin typeface="Times New Roman"/>
                        </a:rPr>
                        <a:t>(Label)</a:t>
                      </a:r>
                    </a:p>
                  </a:txBody>
                  <a:tcPr marL="0" marR="0" marT="0" marB="0"/>
                </a:tc>
                <a:tc>
                  <a:txBody>
                    <a:bodyPr/>
                    <a:lstStyle/>
                    <a:p>
                      <a:pPr marL="266700" indent="0"/>
                      <a:r>
                        <a:rPr lang="vi" sz="1200" b="1">
                          <a:latin typeface="Times New Roman"/>
                        </a:rPr>
                        <a:t>Trạng thái</a:t>
                      </a:r>
                    </a:p>
                  </a:txBody>
                  <a:tcPr marL="0" marR="0" marT="0" marB="0"/>
                </a:tc>
                <a:extLst>
                  <a:ext uri="{0D108BD9-81ED-4DB2-BD59-A6C34878D82A}">
                    <a16:rowId xmlns:a16="http://schemas.microsoft.com/office/drawing/2014/main" val="10000"/>
                  </a:ext>
                </a:extLst>
              </a:tr>
              <a:tr h="509016">
                <a:tc>
                  <a:txBody>
                    <a:bodyPr/>
                    <a:lstStyle/>
                    <a:p>
                      <a:pPr indent="0"/>
                      <a:r>
                        <a:rPr lang="vi" sz="1200" b="1">
                          <a:latin typeface="Times New Roman"/>
                        </a:rPr>
                        <a:t>1</a:t>
                      </a:r>
                    </a:p>
                  </a:txBody>
                  <a:tcPr marL="0" marR="0" marT="0" marB="0" anchor="ctr"/>
                </a:tc>
                <a:tc>
                  <a:txBody>
                    <a:bodyPr/>
                    <a:lstStyle/>
                    <a:p>
                      <a:pPr marL="215900" indent="0"/>
                      <a:r>
                        <a:rPr lang="vi" sz="1200" b="1">
                          <a:latin typeface="Times New Roman"/>
                        </a:rPr>
                        <a:t>C</a:t>
                      </a:r>
                    </a:p>
                  </a:txBody>
                  <a:tcPr marL="0" marR="0" marT="0" marB="0" anchor="ctr"/>
                </a:tc>
                <a:tc>
                  <a:txBody>
                    <a:bodyPr/>
                    <a:lstStyle/>
                    <a:p>
                      <a:pPr marL="215900" indent="0"/>
                      <a:r>
                        <a:rPr lang="vi" sz="1200" b="1">
                          <a:latin typeface="Times New Roman"/>
                        </a:rPr>
                        <a:t>0.10</a:t>
                      </a:r>
                    </a:p>
                  </a:txBody>
                  <a:tcPr marL="0" marR="0" marT="0" marB="0" anchor="ctr"/>
                </a:tc>
                <a:tc>
                  <a:txBody>
                    <a:bodyPr/>
                    <a:lstStyle/>
                    <a:p>
                      <a:pPr marL="266700" indent="0"/>
                      <a:r>
                        <a:rPr lang="en-US" sz="1200" b="1">
                          <a:latin typeface="Times New Roman"/>
                        </a:rPr>
                        <a:t>Versicolor</a:t>
                      </a:r>
                    </a:p>
                  </a:txBody>
                  <a:tcPr marL="0" marR="0" marT="0" marB="0" anchor="ctr"/>
                </a:tc>
                <a:tc>
                  <a:txBody>
                    <a:bodyPr/>
                    <a:lstStyle/>
                    <a:p>
                      <a:pPr marL="266700" indent="0"/>
                      <a:r>
                        <a:rPr lang="vi" sz="1200" b="1">
                          <a:latin typeface="Times New Roman"/>
                        </a:rPr>
                        <a:t>ĐƯỢC CHỌN</a:t>
                      </a:r>
                    </a:p>
                  </a:txBody>
                  <a:tcPr marL="0" marR="0" marT="0" marB="0" anchor="ctr"/>
                </a:tc>
                <a:extLst>
                  <a:ext uri="{0D108BD9-81ED-4DB2-BD59-A6C34878D82A}">
                    <a16:rowId xmlns:a16="http://schemas.microsoft.com/office/drawing/2014/main" val="10001"/>
                  </a:ext>
                </a:extLst>
              </a:tr>
              <a:tr h="524256">
                <a:tc>
                  <a:txBody>
                    <a:bodyPr/>
                    <a:lstStyle/>
                    <a:p>
                      <a:pPr indent="0"/>
                      <a:r>
                        <a:rPr lang="vi" sz="1200" b="1">
                          <a:latin typeface="Times New Roman"/>
                        </a:rPr>
                        <a:t>2</a:t>
                      </a:r>
                    </a:p>
                  </a:txBody>
                  <a:tcPr marL="0" marR="0" marT="0" marB="0" anchor="ctr"/>
                </a:tc>
                <a:tc>
                  <a:txBody>
                    <a:bodyPr/>
                    <a:lstStyle/>
                    <a:p>
                      <a:pPr marL="215900" indent="0"/>
                      <a:r>
                        <a:rPr lang="vi" sz="1200" b="1">
                          <a:latin typeface="Times New Roman"/>
                        </a:rPr>
                        <a:t>D</a:t>
                      </a:r>
                    </a:p>
                  </a:txBody>
                  <a:tcPr marL="0" marR="0" marT="0" marB="0" anchor="ctr"/>
                </a:tc>
                <a:tc>
                  <a:txBody>
                    <a:bodyPr/>
                    <a:lstStyle/>
                    <a:p>
                      <a:pPr marL="215900" indent="0"/>
                      <a:r>
                        <a:rPr lang="vi" sz="1200" b="1">
                          <a:latin typeface="Times New Roman"/>
                        </a:rPr>
                        <a:t>0.14</a:t>
                      </a:r>
                    </a:p>
                  </a:txBody>
                  <a:tcPr marL="0" marR="0" marT="0" marB="0" anchor="ctr"/>
                </a:tc>
                <a:tc>
                  <a:txBody>
                    <a:bodyPr/>
                    <a:lstStyle/>
                    <a:p>
                      <a:pPr marL="266700" indent="0"/>
                      <a:r>
                        <a:rPr lang="en-US" sz="1200" b="1">
                          <a:latin typeface="Times New Roman"/>
                        </a:rPr>
                        <a:t>Versicolor</a:t>
                      </a:r>
                    </a:p>
                  </a:txBody>
                  <a:tcPr marL="0" marR="0" marT="0" marB="0" anchor="ctr"/>
                </a:tc>
                <a:tc>
                  <a:txBody>
                    <a:bodyPr/>
                    <a:lstStyle/>
                    <a:p>
                      <a:pPr marL="266700" indent="0"/>
                      <a:r>
                        <a:rPr lang="vi" sz="1200" b="1">
                          <a:latin typeface="Times New Roman"/>
                        </a:rPr>
                        <a:t>ĐƯỢC CHỌN</a:t>
                      </a:r>
                    </a:p>
                  </a:txBody>
                  <a:tcPr marL="0" marR="0" marT="0" marB="0" anchor="ctr"/>
                </a:tc>
                <a:extLst>
                  <a:ext uri="{0D108BD9-81ED-4DB2-BD59-A6C34878D82A}">
                    <a16:rowId xmlns:a16="http://schemas.microsoft.com/office/drawing/2014/main" val="10002"/>
                  </a:ext>
                </a:extLst>
              </a:tr>
              <a:tr h="530352">
                <a:tc>
                  <a:txBody>
                    <a:bodyPr/>
                    <a:lstStyle/>
                    <a:p>
                      <a:pPr indent="0"/>
                      <a:r>
                        <a:rPr lang="vi" sz="1200" b="1">
                          <a:latin typeface="Times New Roman"/>
                        </a:rPr>
                        <a:t>3</a:t>
                      </a:r>
                    </a:p>
                  </a:txBody>
                  <a:tcPr marL="0" marR="0" marT="0" marB="0" anchor="ctr"/>
                </a:tc>
                <a:tc>
                  <a:txBody>
                    <a:bodyPr/>
                    <a:lstStyle/>
                    <a:p>
                      <a:pPr marL="215900" indent="0"/>
                      <a:r>
                        <a:rPr lang="vi" sz="1200" b="1">
                          <a:latin typeface="Times New Roman"/>
                        </a:rPr>
                        <a:t>E</a:t>
                      </a:r>
                    </a:p>
                  </a:txBody>
                  <a:tcPr marL="0" marR="0" marT="0" marB="0" anchor="ctr"/>
                </a:tc>
                <a:tc>
                  <a:txBody>
                    <a:bodyPr/>
                    <a:lstStyle/>
                    <a:p>
                      <a:pPr marL="215900" indent="0"/>
                      <a:r>
                        <a:rPr lang="vi" sz="1200" b="1">
                          <a:latin typeface="Times New Roman"/>
                        </a:rPr>
                        <a:t>0.58</a:t>
                      </a:r>
                    </a:p>
                  </a:txBody>
                  <a:tcPr marL="0" marR="0" marT="0" marB="0" anchor="ctr"/>
                </a:tc>
                <a:tc>
                  <a:txBody>
                    <a:bodyPr/>
                    <a:lstStyle/>
                    <a:p>
                      <a:pPr marL="266700" indent="0"/>
                      <a:r>
                        <a:rPr lang="vi" sz="1200" b="1">
                          <a:latin typeface="Times New Roman"/>
                        </a:rPr>
                        <a:t>Virginica</a:t>
                      </a:r>
                    </a:p>
                  </a:txBody>
                  <a:tcPr marL="0" marR="0" marT="0" marB="0" anchor="ctr"/>
                </a:tc>
                <a:tc>
                  <a:txBody>
                    <a:bodyPr/>
                    <a:lstStyle/>
                    <a:p>
                      <a:pPr marL="266700" indent="0"/>
                      <a:r>
                        <a:rPr lang="vi" sz="1200" b="1">
                          <a:latin typeface="Times New Roman"/>
                        </a:rPr>
                        <a:t>ĐƯỢC CHỌN</a:t>
                      </a:r>
                    </a:p>
                  </a:txBody>
                  <a:tcPr marL="0" marR="0" marT="0" marB="0" anchor="ctr"/>
                </a:tc>
                <a:extLst>
                  <a:ext uri="{0D108BD9-81ED-4DB2-BD59-A6C34878D82A}">
                    <a16:rowId xmlns:a16="http://schemas.microsoft.com/office/drawing/2014/main" val="10003"/>
                  </a:ext>
                </a:extLst>
              </a:tr>
              <a:tr h="512064">
                <a:tc>
                  <a:txBody>
                    <a:bodyPr/>
                    <a:lstStyle/>
                    <a:p>
                      <a:pPr indent="0"/>
                      <a:r>
                        <a:rPr lang="vi" sz="1200" b="1">
                          <a:latin typeface="Times New Roman"/>
                        </a:rPr>
                        <a:t>4</a:t>
                      </a:r>
                    </a:p>
                  </a:txBody>
                  <a:tcPr marL="0" marR="0" marT="0" marB="0" anchor="ctr"/>
                </a:tc>
                <a:tc>
                  <a:txBody>
                    <a:bodyPr/>
                    <a:lstStyle/>
                    <a:p>
                      <a:pPr marL="215900" indent="0"/>
                      <a:r>
                        <a:rPr lang="vi" sz="1200" b="1">
                          <a:latin typeface="Times New Roman"/>
                        </a:rPr>
                        <a:t>B</a:t>
                      </a:r>
                    </a:p>
                  </a:txBody>
                  <a:tcPr marL="0" marR="0" marT="0" marB="0" anchor="ctr"/>
                </a:tc>
                <a:tc>
                  <a:txBody>
                    <a:bodyPr/>
                    <a:lstStyle/>
                    <a:p>
                      <a:pPr marL="215900" indent="0"/>
                      <a:r>
                        <a:rPr lang="vi" sz="1200" b="1">
                          <a:latin typeface="Times New Roman"/>
                        </a:rPr>
                        <a:t>3.36</a:t>
                      </a:r>
                    </a:p>
                  </a:txBody>
                  <a:tcPr marL="0" marR="0" marT="0" marB="0" anchor="ctr"/>
                </a:tc>
                <a:tc>
                  <a:txBody>
                    <a:bodyPr/>
                    <a:lstStyle/>
                    <a:p>
                      <a:pPr marL="266700" indent="0"/>
                      <a:r>
                        <a:rPr lang="vi" sz="1200" b="1">
                          <a:latin typeface="Times New Roman"/>
                        </a:rPr>
                        <a:t>Setosa</a:t>
                      </a:r>
                    </a:p>
                  </a:txBody>
                  <a:tcPr marL="0" marR="0" marT="0" marB="0" anchor="ctr"/>
                </a:tc>
                <a:tc>
                  <a:txBody>
                    <a:bodyPr/>
                    <a:lstStyle/>
                    <a:p>
                      <a:pPr marL="266700" indent="0"/>
                      <a:r>
                        <a:rPr lang="vi" sz="1200" b="1">
                          <a:latin typeface="Times New Roman"/>
                        </a:rPr>
                        <a:t>Loại</a:t>
                      </a:r>
                    </a:p>
                  </a:txBody>
                  <a:tcPr marL="0" marR="0" marT="0" marB="0" anchor="ctr"/>
                </a:tc>
                <a:extLst>
                  <a:ext uri="{0D108BD9-81ED-4DB2-BD59-A6C34878D82A}">
                    <a16:rowId xmlns:a16="http://schemas.microsoft.com/office/drawing/2014/main" val="10004"/>
                  </a:ext>
                </a:extLst>
              </a:tr>
              <a:tr h="359664">
                <a:tc>
                  <a:txBody>
                    <a:bodyPr/>
                    <a:lstStyle/>
                    <a:p>
                      <a:pPr indent="0"/>
                      <a:r>
                        <a:rPr lang="vi" sz="1200" b="1">
                          <a:latin typeface="Times New Roman"/>
                        </a:rPr>
                        <a:t>5</a:t>
                      </a:r>
                    </a:p>
                  </a:txBody>
                  <a:tcPr marL="0" marR="0" marT="0" marB="0" anchor="b"/>
                </a:tc>
                <a:tc>
                  <a:txBody>
                    <a:bodyPr/>
                    <a:lstStyle/>
                    <a:p>
                      <a:pPr marL="215900" indent="0"/>
                      <a:r>
                        <a:rPr lang="en-US" sz="1200" b="1">
                          <a:latin typeface="Times New Roman"/>
                        </a:rPr>
                        <a:t>A</a:t>
                      </a:r>
                    </a:p>
                  </a:txBody>
                  <a:tcPr marL="0" marR="0" marT="0" marB="0" anchor="b"/>
                </a:tc>
                <a:tc>
                  <a:txBody>
                    <a:bodyPr/>
                    <a:lstStyle/>
                    <a:p>
                      <a:pPr marL="215900" indent="0"/>
                      <a:r>
                        <a:rPr lang="en-US" sz="1200" b="1">
                          <a:latin typeface="Times New Roman"/>
                        </a:rPr>
                        <a:t>3.45</a:t>
                      </a:r>
                    </a:p>
                  </a:txBody>
                  <a:tcPr marL="0" marR="0" marT="0" marB="0" anchor="b"/>
                </a:tc>
                <a:tc>
                  <a:txBody>
                    <a:bodyPr/>
                    <a:lstStyle/>
                    <a:p>
                      <a:pPr marL="266700" indent="0"/>
                      <a:r>
                        <a:rPr lang="vi" sz="1200" b="1">
                          <a:latin typeface="Times New Roman"/>
                        </a:rPr>
                        <a:t>Setosa</a:t>
                      </a:r>
                    </a:p>
                  </a:txBody>
                  <a:tcPr marL="0" marR="0" marT="0" marB="0" anchor="b"/>
                </a:tc>
                <a:tc>
                  <a:txBody>
                    <a:bodyPr/>
                    <a:lstStyle/>
                    <a:p>
                      <a:pPr marL="266700" indent="0"/>
                      <a:r>
                        <a:rPr lang="vi" sz="1200" b="1">
                          <a:latin typeface="Times New Roman"/>
                        </a:rPr>
                        <a:t>Loại</a:t>
                      </a:r>
                    </a:p>
                  </a:txBody>
                  <a:tcPr marL="0" marR="0" marT="0" marB="0" anchor="b"/>
                </a:tc>
                <a:extLst>
                  <a:ext uri="{0D108BD9-81ED-4DB2-BD59-A6C34878D82A}">
                    <a16:rowId xmlns:a16="http://schemas.microsoft.com/office/drawing/2014/main" val="10005"/>
                  </a:ext>
                </a:extLst>
              </a:tr>
            </a:tbl>
          </a:graphicData>
        </a:graphic>
      </p:graphicFrame>
      <p:sp>
        <p:nvSpPr>
          <p:cNvPr id="4" name="Rectangle 3"/>
          <p:cNvSpPr/>
          <p:nvPr/>
        </p:nvSpPr>
        <p:spPr>
          <a:xfrm>
            <a:off x="1066800" y="6702552"/>
            <a:ext cx="4355592" cy="2545080"/>
          </a:xfrm>
          <a:prstGeom prst="rect">
            <a:avLst/>
          </a:prstGeom>
        </p:spPr>
        <p:txBody>
          <a:bodyPr lIns="0" tIns="0" rIns="0" bIns="0">
            <a:noAutofit/>
          </a:bodyPr>
          <a:lstStyle/>
          <a:p>
            <a:pPr indent="0" algn="just">
              <a:spcBef>
                <a:spcPts val="1050"/>
              </a:spcBef>
              <a:spcAft>
                <a:spcPts val="630"/>
              </a:spcAft>
            </a:pPr>
            <a:r>
              <a:rPr lang="vi" sz="1200" b="1">
                <a:latin typeface="Times New Roman"/>
              </a:rPr>
              <a:t>5. Bầu chọn và kết luận</a:t>
            </a:r>
          </a:p>
          <a:p>
            <a:pPr indent="0" algn="just">
              <a:spcAft>
                <a:spcPts val="2100"/>
              </a:spcAft>
            </a:pPr>
            <a:r>
              <a:rPr lang="vi" sz="1200" b="1">
                <a:latin typeface="Times New Roman"/>
              </a:rPr>
              <a:t>Thống kê số phiếu trong 3 láng giêng gần nhất:</a:t>
            </a:r>
          </a:p>
          <a:p>
            <a:pPr marL="248920" indent="0" algn="just">
              <a:lnSpc>
                <a:spcPts val="2232"/>
              </a:lnSpc>
            </a:pPr>
            <a:r>
              <a:rPr lang="vi" sz="1200" b="1">
                <a:latin typeface="Times New Roman"/>
              </a:rPr>
              <a:t>•    </a:t>
            </a:r>
            <a:r>
              <a:rPr lang="en-US" sz="1200" b="1">
                <a:latin typeface="Times New Roman"/>
              </a:rPr>
              <a:t>Versicolor: </a:t>
            </a:r>
            <a:r>
              <a:rPr lang="vi" sz="1200" b="1">
                <a:latin typeface="Times New Roman"/>
              </a:rPr>
              <a:t>2 phiếu (Điểm C, D)</a:t>
            </a:r>
          </a:p>
          <a:p>
            <a:pPr marL="248920" indent="0" algn="just">
              <a:lnSpc>
                <a:spcPts val="2232"/>
              </a:lnSpc>
            </a:pPr>
            <a:r>
              <a:rPr lang="vi" sz="1200" b="1">
                <a:latin typeface="Times New Roman"/>
              </a:rPr>
              <a:t>•    Virginica: 1 phiếu (Điểm E)</a:t>
            </a:r>
          </a:p>
          <a:p>
            <a:pPr marL="248920" indent="0" algn="just">
              <a:lnSpc>
                <a:spcPts val="2232"/>
              </a:lnSpc>
            </a:pPr>
            <a:r>
              <a:rPr lang="vi" sz="1200" b="1">
                <a:latin typeface="Times New Roman"/>
              </a:rPr>
              <a:t>•    Setosa: 0 phiếu</a:t>
            </a:r>
          </a:p>
          <a:p>
            <a:pPr indent="0">
              <a:lnSpc>
                <a:spcPts val="2400"/>
              </a:lnSpc>
            </a:pPr>
            <a:r>
              <a:rPr lang="vi" sz="1200" b="1">
                <a:latin typeface="Times New Roman"/>
              </a:rPr>
              <a:t>KẾT LUẬN: Điểm X(4.6, 1.5) thuộc về nhóm </a:t>
            </a:r>
            <a:r>
              <a:rPr lang="en-US" sz="1200" b="1">
                <a:latin typeface="Times New Roman"/>
              </a:rPr>
              <a:t>VERSICOLOR </a:t>
            </a:r>
            <a:r>
              <a:rPr lang="vi" sz="1500" b="1">
                <a:latin typeface="Times New Roman"/>
              </a:rPr>
              <a:t>Ex4: </a:t>
            </a:r>
            <a:r>
              <a:rPr lang="en-US" sz="1500" b="1">
                <a:latin typeface="Times New Roman"/>
              </a:rPr>
              <a:t>Using Naive Bayes</a:t>
            </a:r>
            <a:r>
              <a:rPr lang="en-US" sz="1200" b="1">
                <a:latin typeface="Times New Roman"/>
              </a:rPr>
              <a:t>:</a:t>
            </a:r>
          </a:p>
          <a:p>
            <a:pPr indent="0" algn="just">
              <a:lnSpc>
                <a:spcPts val="2400"/>
              </a:lnSpc>
            </a:pPr>
            <a:r>
              <a:rPr lang="vi" sz="1200" b="1">
                <a:latin typeface="Times New Roman"/>
              </a:rPr>
              <a:t>1. Dữ liệu huấn luyện</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069848" y="707136"/>
            <a:ext cx="1496568" cy="219456"/>
          </a:xfrm>
          <a:prstGeom prst="rect">
            <a:avLst/>
          </a:prstGeom>
        </p:spPr>
        <p:txBody>
          <a:bodyPr wrap="none" lIns="0" tIns="0" rIns="0" bIns="0">
            <a:noAutofit/>
          </a:bodyPr>
          <a:lstStyle/>
          <a:p>
            <a:pPr indent="0"/>
            <a:r>
              <a:rPr lang="vi" sz="1200">
                <a:latin typeface="Times New Roman"/>
              </a:rPr>
              <a:t>Tổng số mẫu (N) = 10</a:t>
            </a:r>
          </a:p>
        </p:txBody>
      </p:sp>
      <p:graphicFrame>
        <p:nvGraphicFramePr>
          <p:cNvPr id="3" name="Table 2"/>
          <p:cNvGraphicFramePr>
            <a:graphicFrameLocks noGrp="1"/>
          </p:cNvGraphicFramePr>
          <p:nvPr/>
        </p:nvGraphicFramePr>
        <p:xfrm>
          <a:off x="1167384" y="1133856"/>
          <a:ext cx="4821936" cy="4992624"/>
        </p:xfrm>
        <a:graphic>
          <a:graphicData uri="http://schemas.openxmlformats.org/drawingml/2006/table">
            <a:tbl>
              <a:tblPr/>
              <a:tblGrid>
                <a:gridCol w="1219200">
                  <a:extLst>
                    <a:ext uri="{9D8B030D-6E8A-4147-A177-3AD203B41FA5}">
                      <a16:colId xmlns:a16="http://schemas.microsoft.com/office/drawing/2014/main" val="20000"/>
                    </a:ext>
                  </a:extLst>
                </a:gridCol>
                <a:gridCol w="1185672">
                  <a:extLst>
                    <a:ext uri="{9D8B030D-6E8A-4147-A177-3AD203B41FA5}">
                      <a16:colId xmlns:a16="http://schemas.microsoft.com/office/drawing/2014/main" val="20001"/>
                    </a:ext>
                  </a:extLst>
                </a:gridCol>
                <a:gridCol w="829056">
                  <a:extLst>
                    <a:ext uri="{9D8B030D-6E8A-4147-A177-3AD203B41FA5}">
                      <a16:colId xmlns:a16="http://schemas.microsoft.com/office/drawing/2014/main" val="20002"/>
                    </a:ext>
                  </a:extLst>
                </a:gridCol>
                <a:gridCol w="829056">
                  <a:extLst>
                    <a:ext uri="{9D8B030D-6E8A-4147-A177-3AD203B41FA5}">
                      <a16:colId xmlns:a16="http://schemas.microsoft.com/office/drawing/2014/main" val="20003"/>
                    </a:ext>
                  </a:extLst>
                </a:gridCol>
                <a:gridCol w="758952">
                  <a:extLst>
                    <a:ext uri="{9D8B030D-6E8A-4147-A177-3AD203B41FA5}">
                      <a16:colId xmlns:a16="http://schemas.microsoft.com/office/drawing/2014/main" val="20004"/>
                    </a:ext>
                  </a:extLst>
                </a:gridCol>
              </a:tblGrid>
              <a:tr h="316992">
                <a:tc>
                  <a:txBody>
                    <a:bodyPr/>
                    <a:lstStyle/>
                    <a:p>
                      <a:pPr indent="0"/>
                      <a:r>
                        <a:rPr lang="en-US" sz="1200" b="1">
                          <a:latin typeface="Times New Roman"/>
                        </a:rPr>
                        <a:t>Record</a:t>
                      </a:r>
                    </a:p>
                  </a:txBody>
                  <a:tcPr marL="0" marR="0" marT="0" marB="0"/>
                </a:tc>
                <a:tc>
                  <a:txBody>
                    <a:bodyPr/>
                    <a:lstStyle/>
                    <a:p>
                      <a:pPr marL="723900" indent="0"/>
                      <a:r>
                        <a:rPr lang="en-US" sz="1200" b="1">
                          <a:latin typeface="Times New Roman"/>
                        </a:rPr>
                        <a:t>A</a:t>
                      </a:r>
                    </a:p>
                  </a:txBody>
                  <a:tcPr marL="0" marR="0" marT="0" marB="0"/>
                </a:tc>
                <a:tc>
                  <a:txBody>
                    <a:bodyPr/>
                    <a:lstStyle/>
                    <a:p>
                      <a:pPr indent="0" algn="ctr"/>
                      <a:r>
                        <a:rPr lang="vi" sz="1200" b="1">
                          <a:latin typeface="Times New Roman"/>
                        </a:rPr>
                        <a:t>B</a:t>
                      </a:r>
                    </a:p>
                  </a:txBody>
                  <a:tcPr marL="0" marR="0" marT="0" marB="0"/>
                </a:tc>
                <a:tc>
                  <a:txBody>
                    <a:bodyPr/>
                    <a:lstStyle/>
                    <a:p>
                      <a:pPr indent="0" algn="ctr"/>
                      <a:r>
                        <a:rPr lang="vi" sz="1200" b="1">
                          <a:latin typeface="Times New Roman"/>
                        </a:rPr>
                        <a:t>C</a:t>
                      </a:r>
                    </a:p>
                  </a:txBody>
                  <a:tcPr marL="0" marR="0" marT="0" marB="0"/>
                </a:tc>
                <a:tc>
                  <a:txBody>
                    <a:bodyPr/>
                    <a:lstStyle/>
                    <a:p>
                      <a:pPr indent="0" algn="r"/>
                      <a:r>
                        <a:rPr lang="en-US" sz="1200" b="1">
                          <a:latin typeface="Times New Roman"/>
                        </a:rPr>
                        <a:t>Class</a:t>
                      </a:r>
                    </a:p>
                  </a:txBody>
                  <a:tcPr marL="0" marR="0" marT="0" marB="0"/>
                </a:tc>
                <a:extLst>
                  <a:ext uri="{0D108BD9-81ED-4DB2-BD59-A6C34878D82A}">
                    <a16:rowId xmlns:a16="http://schemas.microsoft.com/office/drawing/2014/main" val="10000"/>
                  </a:ext>
                </a:extLst>
              </a:tr>
              <a:tr h="481584">
                <a:tc>
                  <a:txBody>
                    <a:bodyPr/>
                    <a:lstStyle/>
                    <a:p>
                      <a:pPr indent="0"/>
                      <a:r>
                        <a:rPr lang="en-US" sz="1200">
                          <a:latin typeface="Times New Roman"/>
                        </a:rPr>
                        <a:t>1</a:t>
                      </a:r>
                    </a:p>
                  </a:txBody>
                  <a:tcPr marL="0" marR="0" marT="0" marB="0" anchor="ctr"/>
                </a:tc>
                <a:tc>
                  <a:txBody>
                    <a:bodyPr/>
                    <a:lstStyle/>
                    <a:p>
                      <a:pPr marL="723900" indent="0"/>
                      <a:r>
                        <a:rPr lang="vi" sz="1200">
                          <a:latin typeface="Times New Roman"/>
                        </a:rPr>
                        <a:t>0</a:t>
                      </a:r>
                    </a:p>
                  </a:txBody>
                  <a:tcPr marL="0" marR="0" marT="0" marB="0" anchor="ctr"/>
                </a:tc>
                <a:tc>
                  <a:txBody>
                    <a:bodyPr/>
                    <a:lstStyle/>
                    <a:p>
                      <a:pPr indent="0" algn="ctr"/>
                      <a:r>
                        <a:rPr lang="vi" sz="1200">
                          <a:latin typeface="Times New Roman"/>
                        </a:rPr>
                        <a:t>0</a:t>
                      </a:r>
                    </a:p>
                  </a:txBody>
                  <a:tcPr marL="0" marR="0" marT="0" marB="0" anchor="ctr"/>
                </a:tc>
                <a:tc>
                  <a:txBody>
                    <a:bodyPr/>
                    <a:lstStyle/>
                    <a:p>
                      <a:pPr indent="0" algn="ctr"/>
                      <a:r>
                        <a:rPr lang="vi" sz="1200">
                          <a:latin typeface="Times New Roman"/>
                        </a:rPr>
                        <a:t>0</a:t>
                      </a:r>
                    </a:p>
                  </a:txBody>
                  <a:tcPr marL="0" marR="0" marT="0" marB="0" anchor="ctr"/>
                </a:tc>
                <a:tc>
                  <a:txBody>
                    <a:bodyPr/>
                    <a:lstStyle/>
                    <a:p>
                      <a:pPr indent="0" algn="ctr"/>
                      <a:r>
                        <a:rPr lang="vi" sz="1200">
                          <a:latin typeface="Times New Roman"/>
                        </a:rPr>
                        <a:t>+</a:t>
                      </a:r>
                    </a:p>
                  </a:txBody>
                  <a:tcPr marL="0" marR="0" marT="0" marB="0" anchor="ctr"/>
                </a:tc>
                <a:extLst>
                  <a:ext uri="{0D108BD9-81ED-4DB2-BD59-A6C34878D82A}">
                    <a16:rowId xmlns:a16="http://schemas.microsoft.com/office/drawing/2014/main" val="10001"/>
                  </a:ext>
                </a:extLst>
              </a:tr>
              <a:tr h="484632">
                <a:tc>
                  <a:txBody>
                    <a:bodyPr/>
                    <a:lstStyle/>
                    <a:p>
                      <a:pPr indent="0"/>
                      <a:r>
                        <a:rPr lang="en-US" sz="1200">
                          <a:latin typeface="Times New Roman"/>
                        </a:rPr>
                        <a:t>2</a:t>
                      </a:r>
                    </a:p>
                  </a:txBody>
                  <a:tcPr marL="0" marR="0" marT="0" marB="0" anchor="ctr"/>
                </a:tc>
                <a:tc>
                  <a:txBody>
                    <a:bodyPr/>
                    <a:lstStyle/>
                    <a:p>
                      <a:pPr marL="723900" indent="0"/>
                      <a:r>
                        <a:rPr lang="vi" sz="1200">
                          <a:latin typeface="Times New Roman"/>
                        </a:rPr>
                        <a:t>0</a:t>
                      </a:r>
                    </a:p>
                  </a:txBody>
                  <a:tcPr marL="0" marR="0" marT="0" marB="0" anchor="ctr"/>
                </a:tc>
                <a:tc>
                  <a:txBody>
                    <a:bodyPr/>
                    <a:lstStyle/>
                    <a:p>
                      <a:pPr indent="0" algn="ctr"/>
                      <a:r>
                        <a:rPr lang="vi" sz="1200">
                          <a:latin typeface="Times New Roman"/>
                        </a:rPr>
                        <a:t>0</a:t>
                      </a:r>
                    </a:p>
                  </a:txBody>
                  <a:tcPr marL="0" marR="0" marT="0" marB="0" anchor="ctr"/>
                </a:tc>
                <a:tc>
                  <a:txBody>
                    <a:bodyPr/>
                    <a:lstStyle/>
                    <a:p>
                      <a:pPr indent="0" algn="ctr"/>
                      <a:r>
                        <a:rPr lang="vi" sz="1200">
                          <a:latin typeface="Times New Roman"/>
                        </a:rPr>
                        <a:t>1</a:t>
                      </a:r>
                    </a:p>
                  </a:txBody>
                  <a:tcPr marL="0" marR="0" marT="0" marB="0" anchor="ctr"/>
                </a:tc>
                <a:tc>
                  <a:txBody>
                    <a:bodyPr/>
                    <a:lstStyle/>
                    <a:p>
                      <a:pPr indent="0" algn="ctr"/>
                      <a:r>
                        <a:rPr lang="vi" sz="1200">
                          <a:latin typeface="Times New Roman"/>
                        </a:rPr>
                        <a:t>-</a:t>
                      </a:r>
                    </a:p>
                  </a:txBody>
                  <a:tcPr marL="0" marR="0" marT="0" marB="0" anchor="ctr"/>
                </a:tc>
                <a:extLst>
                  <a:ext uri="{0D108BD9-81ED-4DB2-BD59-A6C34878D82A}">
                    <a16:rowId xmlns:a16="http://schemas.microsoft.com/office/drawing/2014/main" val="10002"/>
                  </a:ext>
                </a:extLst>
              </a:tr>
              <a:tr h="484632">
                <a:tc>
                  <a:txBody>
                    <a:bodyPr/>
                    <a:lstStyle/>
                    <a:p>
                      <a:pPr indent="0"/>
                      <a:r>
                        <a:rPr lang="en-US" sz="1200">
                          <a:latin typeface="Times New Roman"/>
                        </a:rPr>
                        <a:t>3</a:t>
                      </a:r>
                    </a:p>
                  </a:txBody>
                  <a:tcPr marL="0" marR="0" marT="0" marB="0" anchor="ctr"/>
                </a:tc>
                <a:tc>
                  <a:txBody>
                    <a:bodyPr/>
                    <a:lstStyle/>
                    <a:p>
                      <a:pPr marL="723900" indent="0"/>
                      <a:r>
                        <a:rPr lang="vi" sz="1200">
                          <a:latin typeface="Times New Roman"/>
                        </a:rPr>
                        <a:t>0</a:t>
                      </a:r>
                    </a:p>
                  </a:txBody>
                  <a:tcPr marL="0" marR="0" marT="0" marB="0" anchor="ctr"/>
                </a:tc>
                <a:tc>
                  <a:txBody>
                    <a:bodyPr/>
                    <a:lstStyle/>
                    <a:p>
                      <a:pPr indent="0" algn="ctr"/>
                      <a:r>
                        <a:rPr lang="vi" sz="1200">
                          <a:latin typeface="Times New Roman"/>
                        </a:rPr>
                        <a:t>1</a:t>
                      </a:r>
                    </a:p>
                  </a:txBody>
                  <a:tcPr marL="0" marR="0" marT="0" marB="0" anchor="ctr"/>
                </a:tc>
                <a:tc>
                  <a:txBody>
                    <a:bodyPr/>
                    <a:lstStyle/>
                    <a:p>
                      <a:pPr indent="0" algn="ctr"/>
                      <a:r>
                        <a:rPr lang="vi" sz="1200">
                          <a:latin typeface="Times New Roman"/>
                        </a:rPr>
                        <a:t>1</a:t>
                      </a:r>
                    </a:p>
                  </a:txBody>
                  <a:tcPr marL="0" marR="0" marT="0" marB="0" anchor="ctr"/>
                </a:tc>
                <a:tc>
                  <a:txBody>
                    <a:bodyPr/>
                    <a:lstStyle/>
                    <a:p>
                      <a:pPr indent="0" algn="ctr"/>
                      <a:r>
                        <a:rPr lang="vi" sz="1200">
                          <a:latin typeface="Times New Roman"/>
                        </a:rPr>
                        <a:t>-</a:t>
                      </a:r>
                    </a:p>
                  </a:txBody>
                  <a:tcPr marL="0" marR="0" marT="0" marB="0" anchor="ctr"/>
                </a:tc>
                <a:extLst>
                  <a:ext uri="{0D108BD9-81ED-4DB2-BD59-A6C34878D82A}">
                    <a16:rowId xmlns:a16="http://schemas.microsoft.com/office/drawing/2014/main" val="10003"/>
                  </a:ext>
                </a:extLst>
              </a:tr>
              <a:tr h="484632">
                <a:tc>
                  <a:txBody>
                    <a:bodyPr/>
                    <a:lstStyle/>
                    <a:p>
                      <a:pPr indent="0"/>
                      <a:r>
                        <a:rPr lang="vi" sz="1200">
                          <a:latin typeface="Times New Roman"/>
                        </a:rPr>
                        <a:t>4</a:t>
                      </a:r>
                    </a:p>
                  </a:txBody>
                  <a:tcPr marL="0" marR="0" marT="0" marB="0" anchor="ctr"/>
                </a:tc>
                <a:tc>
                  <a:txBody>
                    <a:bodyPr/>
                    <a:lstStyle/>
                    <a:p>
                      <a:pPr marL="723900" indent="0"/>
                      <a:r>
                        <a:rPr lang="vi" sz="1200">
                          <a:latin typeface="Times New Roman"/>
                        </a:rPr>
                        <a:t>0</a:t>
                      </a:r>
                    </a:p>
                  </a:txBody>
                  <a:tcPr marL="0" marR="0" marT="0" marB="0" anchor="ctr"/>
                </a:tc>
                <a:tc>
                  <a:txBody>
                    <a:bodyPr/>
                    <a:lstStyle/>
                    <a:p>
                      <a:pPr indent="0" algn="ctr"/>
                      <a:r>
                        <a:rPr lang="vi" sz="1200">
                          <a:latin typeface="Times New Roman"/>
                        </a:rPr>
                        <a:t>1</a:t>
                      </a:r>
                    </a:p>
                  </a:txBody>
                  <a:tcPr marL="0" marR="0" marT="0" marB="0" anchor="ctr"/>
                </a:tc>
                <a:tc>
                  <a:txBody>
                    <a:bodyPr/>
                    <a:lstStyle/>
                    <a:p>
                      <a:pPr indent="0" algn="ctr"/>
                      <a:r>
                        <a:rPr lang="vi" sz="1200">
                          <a:latin typeface="Times New Roman"/>
                        </a:rPr>
                        <a:t>1</a:t>
                      </a:r>
                    </a:p>
                  </a:txBody>
                  <a:tcPr marL="0" marR="0" marT="0" marB="0" anchor="ctr"/>
                </a:tc>
                <a:tc>
                  <a:txBody>
                    <a:bodyPr/>
                    <a:lstStyle/>
                    <a:p>
                      <a:pPr indent="0" algn="ctr"/>
                      <a:r>
                        <a:rPr lang="vi" sz="1200">
                          <a:latin typeface="Times New Roman"/>
                        </a:rPr>
                        <a:t>-</a:t>
                      </a:r>
                    </a:p>
                  </a:txBody>
                  <a:tcPr marL="0" marR="0" marT="0" marB="0" anchor="ctr"/>
                </a:tc>
                <a:extLst>
                  <a:ext uri="{0D108BD9-81ED-4DB2-BD59-A6C34878D82A}">
                    <a16:rowId xmlns:a16="http://schemas.microsoft.com/office/drawing/2014/main" val="10004"/>
                  </a:ext>
                </a:extLst>
              </a:tr>
              <a:tr h="484632">
                <a:tc>
                  <a:txBody>
                    <a:bodyPr/>
                    <a:lstStyle/>
                    <a:p>
                      <a:pPr indent="0"/>
                      <a:r>
                        <a:rPr lang="en-US" sz="1200">
                          <a:latin typeface="Times New Roman"/>
                        </a:rPr>
                        <a:t>5</a:t>
                      </a:r>
                    </a:p>
                  </a:txBody>
                  <a:tcPr marL="0" marR="0" marT="0" marB="0" anchor="ctr"/>
                </a:tc>
                <a:tc>
                  <a:txBody>
                    <a:bodyPr/>
                    <a:lstStyle/>
                    <a:p>
                      <a:pPr marL="723900" indent="0"/>
                      <a:r>
                        <a:rPr lang="vi" sz="1200">
                          <a:latin typeface="Times New Roman"/>
                        </a:rPr>
                        <a:t>0</a:t>
                      </a:r>
                    </a:p>
                  </a:txBody>
                  <a:tcPr marL="0" marR="0" marT="0" marB="0" anchor="ctr"/>
                </a:tc>
                <a:tc>
                  <a:txBody>
                    <a:bodyPr/>
                    <a:lstStyle/>
                    <a:p>
                      <a:pPr indent="0" algn="ctr"/>
                      <a:r>
                        <a:rPr lang="vi" sz="1200">
                          <a:latin typeface="Times New Roman"/>
                        </a:rPr>
                        <a:t>0</a:t>
                      </a:r>
                    </a:p>
                  </a:txBody>
                  <a:tcPr marL="0" marR="0" marT="0" marB="0" anchor="ctr"/>
                </a:tc>
                <a:tc>
                  <a:txBody>
                    <a:bodyPr/>
                    <a:lstStyle/>
                    <a:p>
                      <a:pPr indent="0" algn="ctr"/>
                      <a:r>
                        <a:rPr lang="vi" sz="1200">
                          <a:latin typeface="Times New Roman"/>
                        </a:rPr>
                        <a:t>1</a:t>
                      </a:r>
                    </a:p>
                  </a:txBody>
                  <a:tcPr marL="0" marR="0" marT="0" marB="0" anchor="ctr"/>
                </a:tc>
                <a:tc>
                  <a:txBody>
                    <a:bodyPr/>
                    <a:lstStyle/>
                    <a:p>
                      <a:pPr indent="0" algn="ctr"/>
                      <a:r>
                        <a:rPr lang="vi" sz="1200">
                          <a:latin typeface="Times New Roman"/>
                        </a:rPr>
                        <a:t>+</a:t>
                      </a:r>
                    </a:p>
                  </a:txBody>
                  <a:tcPr marL="0" marR="0" marT="0" marB="0" anchor="ctr"/>
                </a:tc>
                <a:extLst>
                  <a:ext uri="{0D108BD9-81ED-4DB2-BD59-A6C34878D82A}">
                    <a16:rowId xmlns:a16="http://schemas.microsoft.com/office/drawing/2014/main" val="10005"/>
                  </a:ext>
                </a:extLst>
              </a:tr>
              <a:tr h="484632">
                <a:tc>
                  <a:txBody>
                    <a:bodyPr/>
                    <a:lstStyle/>
                    <a:p>
                      <a:pPr indent="0"/>
                      <a:r>
                        <a:rPr lang="vi" sz="1200">
                          <a:latin typeface="Times New Roman"/>
                        </a:rPr>
                        <a:t>6</a:t>
                      </a:r>
                    </a:p>
                  </a:txBody>
                  <a:tcPr marL="0" marR="0" marT="0" marB="0" anchor="ctr"/>
                </a:tc>
                <a:tc>
                  <a:txBody>
                    <a:bodyPr/>
                    <a:lstStyle/>
                    <a:p>
                      <a:pPr marL="723900" indent="0"/>
                      <a:r>
                        <a:rPr lang="vi" sz="1200">
                          <a:latin typeface="Times New Roman"/>
                        </a:rPr>
                        <a:t>1</a:t>
                      </a:r>
                    </a:p>
                  </a:txBody>
                  <a:tcPr marL="0" marR="0" marT="0" marB="0" anchor="ctr"/>
                </a:tc>
                <a:tc>
                  <a:txBody>
                    <a:bodyPr/>
                    <a:lstStyle/>
                    <a:p>
                      <a:pPr indent="0" algn="ctr"/>
                      <a:r>
                        <a:rPr lang="vi" sz="1200">
                          <a:latin typeface="Times New Roman"/>
                        </a:rPr>
                        <a:t>0</a:t>
                      </a:r>
                    </a:p>
                  </a:txBody>
                  <a:tcPr marL="0" marR="0" marT="0" marB="0" anchor="ctr"/>
                </a:tc>
                <a:tc>
                  <a:txBody>
                    <a:bodyPr/>
                    <a:lstStyle/>
                    <a:p>
                      <a:pPr indent="0" algn="ctr"/>
                      <a:r>
                        <a:rPr lang="vi" sz="1200">
                          <a:latin typeface="Times New Roman"/>
                        </a:rPr>
                        <a:t>1</a:t>
                      </a:r>
                    </a:p>
                  </a:txBody>
                  <a:tcPr marL="0" marR="0" marT="0" marB="0" anchor="ctr"/>
                </a:tc>
                <a:tc>
                  <a:txBody>
                    <a:bodyPr/>
                    <a:lstStyle/>
                    <a:p>
                      <a:pPr indent="0" algn="ctr"/>
                      <a:r>
                        <a:rPr lang="vi" sz="1200">
                          <a:latin typeface="Times New Roman"/>
                        </a:rPr>
                        <a:t>+</a:t>
                      </a:r>
                    </a:p>
                  </a:txBody>
                  <a:tcPr marL="0" marR="0" marT="0" marB="0" anchor="ctr"/>
                </a:tc>
                <a:extLst>
                  <a:ext uri="{0D108BD9-81ED-4DB2-BD59-A6C34878D82A}">
                    <a16:rowId xmlns:a16="http://schemas.microsoft.com/office/drawing/2014/main" val="10006"/>
                  </a:ext>
                </a:extLst>
              </a:tr>
              <a:tr h="484632">
                <a:tc>
                  <a:txBody>
                    <a:bodyPr/>
                    <a:lstStyle/>
                    <a:p>
                      <a:pPr indent="0"/>
                      <a:r>
                        <a:rPr lang="vi" sz="1200">
                          <a:latin typeface="Times New Roman"/>
                        </a:rPr>
                        <a:t>7</a:t>
                      </a:r>
                    </a:p>
                  </a:txBody>
                  <a:tcPr marL="0" marR="0" marT="0" marB="0" anchor="ctr"/>
                </a:tc>
                <a:tc>
                  <a:txBody>
                    <a:bodyPr/>
                    <a:lstStyle/>
                    <a:p>
                      <a:pPr marL="723900" indent="0"/>
                      <a:r>
                        <a:rPr lang="vi" sz="1200">
                          <a:latin typeface="Times New Roman"/>
                        </a:rPr>
                        <a:t>1</a:t>
                      </a:r>
                    </a:p>
                  </a:txBody>
                  <a:tcPr marL="0" marR="0" marT="0" marB="0" anchor="ctr"/>
                </a:tc>
                <a:tc>
                  <a:txBody>
                    <a:bodyPr/>
                    <a:lstStyle/>
                    <a:p>
                      <a:pPr indent="0" algn="ctr"/>
                      <a:r>
                        <a:rPr lang="vi" sz="1200">
                          <a:latin typeface="Times New Roman"/>
                        </a:rPr>
                        <a:t>0</a:t>
                      </a:r>
                    </a:p>
                  </a:txBody>
                  <a:tcPr marL="0" marR="0" marT="0" marB="0" anchor="ctr"/>
                </a:tc>
                <a:tc>
                  <a:txBody>
                    <a:bodyPr/>
                    <a:lstStyle/>
                    <a:p>
                      <a:pPr indent="0" algn="ctr"/>
                      <a:r>
                        <a:rPr lang="vi" sz="1200">
                          <a:latin typeface="Times New Roman"/>
                        </a:rPr>
                        <a:t>1</a:t>
                      </a:r>
                    </a:p>
                  </a:txBody>
                  <a:tcPr marL="0" marR="0" marT="0" marB="0" anchor="ctr"/>
                </a:tc>
                <a:tc>
                  <a:txBody>
                    <a:bodyPr/>
                    <a:lstStyle/>
                    <a:p>
                      <a:pPr indent="0" algn="ctr"/>
                      <a:r>
                        <a:rPr lang="vi" sz="1200">
                          <a:latin typeface="Times New Roman"/>
                        </a:rPr>
                        <a:t>-</a:t>
                      </a:r>
                    </a:p>
                  </a:txBody>
                  <a:tcPr marL="0" marR="0" marT="0" marB="0" anchor="ctr"/>
                </a:tc>
                <a:extLst>
                  <a:ext uri="{0D108BD9-81ED-4DB2-BD59-A6C34878D82A}">
                    <a16:rowId xmlns:a16="http://schemas.microsoft.com/office/drawing/2014/main" val="10007"/>
                  </a:ext>
                </a:extLst>
              </a:tr>
              <a:tr h="484632">
                <a:tc>
                  <a:txBody>
                    <a:bodyPr/>
                    <a:lstStyle/>
                    <a:p>
                      <a:pPr indent="0"/>
                      <a:r>
                        <a:rPr lang="vi" sz="1200">
                          <a:latin typeface="Times New Roman"/>
                        </a:rPr>
                        <a:t>8</a:t>
                      </a:r>
                    </a:p>
                  </a:txBody>
                  <a:tcPr marL="0" marR="0" marT="0" marB="0" anchor="ctr"/>
                </a:tc>
                <a:tc>
                  <a:txBody>
                    <a:bodyPr/>
                    <a:lstStyle/>
                    <a:p>
                      <a:pPr marL="723900" indent="0"/>
                      <a:r>
                        <a:rPr lang="vi" sz="1200">
                          <a:latin typeface="Times New Roman"/>
                        </a:rPr>
                        <a:t>1</a:t>
                      </a:r>
                    </a:p>
                  </a:txBody>
                  <a:tcPr marL="0" marR="0" marT="0" marB="0" anchor="ctr"/>
                </a:tc>
                <a:tc>
                  <a:txBody>
                    <a:bodyPr/>
                    <a:lstStyle/>
                    <a:p>
                      <a:pPr indent="0" algn="ctr"/>
                      <a:r>
                        <a:rPr lang="vi" sz="1200">
                          <a:latin typeface="Times New Roman"/>
                        </a:rPr>
                        <a:t>0</a:t>
                      </a:r>
                    </a:p>
                  </a:txBody>
                  <a:tcPr marL="0" marR="0" marT="0" marB="0" anchor="ctr"/>
                </a:tc>
                <a:tc>
                  <a:txBody>
                    <a:bodyPr/>
                    <a:lstStyle/>
                    <a:p>
                      <a:pPr indent="0" algn="ctr"/>
                      <a:r>
                        <a:rPr lang="vi" sz="1200">
                          <a:latin typeface="Times New Roman"/>
                        </a:rPr>
                        <a:t>1</a:t>
                      </a:r>
                    </a:p>
                  </a:txBody>
                  <a:tcPr marL="0" marR="0" marT="0" marB="0" anchor="ctr"/>
                </a:tc>
                <a:tc>
                  <a:txBody>
                    <a:bodyPr/>
                    <a:lstStyle/>
                    <a:p>
                      <a:pPr indent="0" algn="ctr"/>
                      <a:r>
                        <a:rPr lang="vi" sz="1200">
                          <a:latin typeface="Times New Roman"/>
                        </a:rPr>
                        <a:t>-</a:t>
                      </a:r>
                    </a:p>
                  </a:txBody>
                  <a:tcPr marL="0" marR="0" marT="0" marB="0" anchor="ctr"/>
                </a:tc>
                <a:extLst>
                  <a:ext uri="{0D108BD9-81ED-4DB2-BD59-A6C34878D82A}">
                    <a16:rowId xmlns:a16="http://schemas.microsoft.com/office/drawing/2014/main" val="10008"/>
                  </a:ext>
                </a:extLst>
              </a:tr>
              <a:tr h="484632">
                <a:tc>
                  <a:txBody>
                    <a:bodyPr/>
                    <a:lstStyle/>
                    <a:p>
                      <a:pPr indent="0"/>
                      <a:r>
                        <a:rPr lang="vi" sz="1200">
                          <a:latin typeface="Times New Roman"/>
                        </a:rPr>
                        <a:t>9</a:t>
                      </a:r>
                    </a:p>
                  </a:txBody>
                  <a:tcPr marL="0" marR="0" marT="0" marB="0" anchor="ctr"/>
                </a:tc>
                <a:tc>
                  <a:txBody>
                    <a:bodyPr/>
                    <a:lstStyle/>
                    <a:p>
                      <a:pPr marL="723900" indent="0"/>
                      <a:r>
                        <a:rPr lang="vi" sz="1200">
                          <a:latin typeface="Times New Roman"/>
                        </a:rPr>
                        <a:t>1</a:t>
                      </a:r>
                    </a:p>
                  </a:txBody>
                  <a:tcPr marL="0" marR="0" marT="0" marB="0" anchor="ctr"/>
                </a:tc>
                <a:tc>
                  <a:txBody>
                    <a:bodyPr/>
                    <a:lstStyle/>
                    <a:p>
                      <a:pPr indent="0" algn="ctr"/>
                      <a:r>
                        <a:rPr lang="vi" sz="1200">
                          <a:latin typeface="Times New Roman"/>
                        </a:rPr>
                        <a:t>1</a:t>
                      </a:r>
                    </a:p>
                  </a:txBody>
                  <a:tcPr marL="0" marR="0" marT="0" marB="0" anchor="ctr"/>
                </a:tc>
                <a:tc>
                  <a:txBody>
                    <a:bodyPr/>
                    <a:lstStyle/>
                    <a:p>
                      <a:pPr indent="0" algn="ctr"/>
                      <a:r>
                        <a:rPr lang="vi" sz="1200">
                          <a:latin typeface="Times New Roman"/>
                        </a:rPr>
                        <a:t>1</a:t>
                      </a:r>
                    </a:p>
                  </a:txBody>
                  <a:tcPr marL="0" marR="0" marT="0" marB="0" anchor="ctr"/>
                </a:tc>
                <a:tc>
                  <a:txBody>
                    <a:bodyPr/>
                    <a:lstStyle/>
                    <a:p>
                      <a:pPr indent="0" algn="ctr"/>
                      <a:r>
                        <a:rPr lang="vi" sz="1200">
                          <a:latin typeface="Times New Roman"/>
                        </a:rPr>
                        <a:t>+</a:t>
                      </a:r>
                    </a:p>
                  </a:txBody>
                  <a:tcPr marL="0" marR="0" marT="0" marB="0" anchor="ctr"/>
                </a:tc>
                <a:extLst>
                  <a:ext uri="{0D108BD9-81ED-4DB2-BD59-A6C34878D82A}">
                    <a16:rowId xmlns:a16="http://schemas.microsoft.com/office/drawing/2014/main" val="10009"/>
                  </a:ext>
                </a:extLst>
              </a:tr>
              <a:tr h="316992">
                <a:tc>
                  <a:txBody>
                    <a:bodyPr/>
                    <a:lstStyle/>
                    <a:p>
                      <a:pPr indent="0"/>
                      <a:r>
                        <a:rPr lang="en-US" sz="1200">
                          <a:latin typeface="Times New Roman"/>
                        </a:rPr>
                        <a:t>10</a:t>
                      </a:r>
                    </a:p>
                  </a:txBody>
                  <a:tcPr marL="0" marR="0" marT="0" marB="0" anchor="b"/>
                </a:tc>
                <a:tc>
                  <a:txBody>
                    <a:bodyPr/>
                    <a:lstStyle/>
                    <a:p>
                      <a:pPr marL="723900" indent="0"/>
                      <a:r>
                        <a:rPr lang="vi" sz="1200">
                          <a:latin typeface="Times New Roman"/>
                        </a:rPr>
                        <a:t>1</a:t>
                      </a:r>
                    </a:p>
                  </a:txBody>
                  <a:tcPr marL="0" marR="0" marT="0" marB="0" anchor="b"/>
                </a:tc>
                <a:tc>
                  <a:txBody>
                    <a:bodyPr/>
                    <a:lstStyle/>
                    <a:p>
                      <a:pPr indent="0" algn="ctr"/>
                      <a:r>
                        <a:rPr lang="vi" sz="1200">
                          <a:latin typeface="Times New Roman"/>
                        </a:rPr>
                        <a:t>0</a:t>
                      </a:r>
                    </a:p>
                  </a:txBody>
                  <a:tcPr marL="0" marR="0" marT="0" marB="0" anchor="b"/>
                </a:tc>
                <a:tc>
                  <a:txBody>
                    <a:bodyPr/>
                    <a:lstStyle/>
                    <a:p>
                      <a:pPr indent="0" algn="ctr"/>
                      <a:r>
                        <a:rPr lang="vi" sz="1200">
                          <a:latin typeface="Times New Roman"/>
                        </a:rPr>
                        <a:t>1</a:t>
                      </a:r>
                    </a:p>
                  </a:txBody>
                  <a:tcPr marL="0" marR="0" marT="0" marB="0" anchor="b"/>
                </a:tc>
                <a:tc>
                  <a:txBody>
                    <a:bodyPr/>
                    <a:lstStyle/>
                    <a:p>
                      <a:pPr indent="0" algn="ctr"/>
                      <a:r>
                        <a:rPr lang="en-US" sz="1200">
                          <a:latin typeface="Times New Roman"/>
                        </a:rPr>
                        <a:t>+</a:t>
                      </a:r>
                    </a:p>
                  </a:txBody>
                  <a:tcPr marL="0" marR="0" marT="0" marB="0" anchor="b"/>
                </a:tc>
                <a:extLst>
                  <a:ext uri="{0D108BD9-81ED-4DB2-BD59-A6C34878D82A}">
                    <a16:rowId xmlns:a16="http://schemas.microsoft.com/office/drawing/2014/main" val="10010"/>
                  </a:ext>
                </a:extLst>
              </a:tr>
            </a:tbl>
          </a:graphicData>
        </a:graphic>
      </p:graphicFrame>
      <p:sp>
        <p:nvSpPr>
          <p:cNvPr id="4" name="Rectangle 3"/>
          <p:cNvSpPr/>
          <p:nvPr/>
        </p:nvSpPr>
        <p:spPr>
          <a:xfrm>
            <a:off x="1066800" y="6336792"/>
            <a:ext cx="4770120" cy="2036064"/>
          </a:xfrm>
          <a:prstGeom prst="rect">
            <a:avLst/>
          </a:prstGeom>
        </p:spPr>
        <p:txBody>
          <a:bodyPr lIns="0" tIns="0" rIns="0" bIns="0">
            <a:noAutofit/>
          </a:bodyPr>
          <a:lstStyle/>
          <a:p>
            <a:pPr indent="0" algn="just">
              <a:lnSpc>
                <a:spcPts val="2208"/>
              </a:lnSpc>
              <a:spcBef>
                <a:spcPts val="1260"/>
              </a:spcBef>
            </a:pPr>
            <a:r>
              <a:rPr lang="vi" sz="1200" b="1">
                <a:latin typeface="Times New Roman"/>
              </a:rPr>
              <a:t>Câu (a): Tính các xác suất </a:t>
            </a:r>
            <a:r>
              <a:rPr lang="en-US" sz="1200" b="1">
                <a:latin typeface="Times New Roman"/>
              </a:rPr>
              <a:t>(Estimation)</a:t>
            </a:r>
          </a:p>
          <a:p>
            <a:pPr indent="0" algn="just">
              <a:lnSpc>
                <a:spcPts val="2208"/>
              </a:lnSpc>
            </a:pPr>
            <a:r>
              <a:rPr lang="vi" sz="1200" b="1">
                <a:latin typeface="Times New Roman"/>
              </a:rPr>
              <a:t>1.    Xác suất Tiên nghiệm </a:t>
            </a:r>
            <a:r>
              <a:rPr lang="en-US" sz="1200" b="1">
                <a:latin typeface="Times New Roman"/>
              </a:rPr>
              <a:t>(Prior Probabilities)</a:t>
            </a:r>
          </a:p>
          <a:p>
            <a:pPr marL="248920" indent="0" algn="just">
              <a:lnSpc>
                <a:spcPts val="2208"/>
              </a:lnSpc>
            </a:pPr>
            <a:r>
              <a:rPr lang="vi" sz="1200">
                <a:latin typeface="Times New Roman"/>
              </a:rPr>
              <a:t>•    Số lượng lớp (+): 5 mẫu ^ P(+) = 5/10 = </a:t>
            </a:r>
            <a:r>
              <a:rPr lang="vi" sz="1200" b="1">
                <a:latin typeface="Times New Roman"/>
              </a:rPr>
              <a:t>0.5</a:t>
            </a:r>
          </a:p>
          <a:p>
            <a:pPr marL="248920" indent="0" algn="just">
              <a:lnSpc>
                <a:spcPts val="2208"/>
              </a:lnSpc>
            </a:pPr>
            <a:r>
              <a:rPr lang="vi" sz="1200">
                <a:latin typeface="Times New Roman"/>
              </a:rPr>
              <a:t>•    Số lượng lớp (-): 5 mẫu ^ P(-) = 5/10 = </a:t>
            </a:r>
            <a:r>
              <a:rPr lang="vi" sz="1200" b="1">
                <a:latin typeface="Times New Roman"/>
              </a:rPr>
              <a:t>0.5</a:t>
            </a:r>
          </a:p>
          <a:p>
            <a:pPr indent="0" algn="just">
              <a:spcAft>
                <a:spcPts val="630"/>
              </a:spcAft>
            </a:pPr>
            <a:r>
              <a:rPr lang="vi" sz="1200" b="1">
                <a:latin typeface="Times New Roman"/>
              </a:rPr>
              <a:t>2.    Xác suất Có điều kiện </a:t>
            </a:r>
            <a:r>
              <a:rPr lang="en-US" sz="1200" b="1">
                <a:latin typeface="Times New Roman"/>
              </a:rPr>
              <a:t>(Conditional Probabilities)</a:t>
            </a:r>
          </a:p>
          <a:p>
            <a:pPr indent="0" algn="just">
              <a:spcAft>
                <a:spcPts val="1260"/>
              </a:spcAft>
            </a:pPr>
            <a:r>
              <a:rPr lang="vi" sz="1200">
                <a:latin typeface="Times New Roman"/>
              </a:rPr>
              <a:t>Chúng ta tính xác suất xuất hiện của từng giá trị thuộc tính cho mỗi lớp.</a:t>
            </a:r>
          </a:p>
          <a:p>
            <a:pPr marL="109220" indent="0"/>
            <a:r>
              <a:rPr lang="vi" sz="1200" b="1">
                <a:latin typeface="Times New Roman"/>
              </a:rPr>
              <a:t>Thuộc tính Giá trị P(Giá trị | Lớp +) P(Giá trị | Lớp -)</a:t>
            </a:r>
          </a:p>
        </p:txBody>
      </p:sp>
      <p:sp>
        <p:nvSpPr>
          <p:cNvPr id="5" name="Rectangle 4"/>
          <p:cNvSpPr/>
          <p:nvPr/>
        </p:nvSpPr>
        <p:spPr>
          <a:xfrm>
            <a:off x="1164336" y="8671560"/>
            <a:ext cx="152400" cy="149352"/>
          </a:xfrm>
          <a:prstGeom prst="rect">
            <a:avLst/>
          </a:prstGeom>
        </p:spPr>
        <p:txBody>
          <a:bodyPr wrap="none" lIns="0" tIns="0" rIns="0" bIns="0">
            <a:noAutofit/>
          </a:bodyPr>
          <a:lstStyle/>
          <a:p>
            <a:pPr indent="0"/>
            <a:r>
              <a:rPr lang="en-US" sz="1200" b="1">
                <a:latin typeface="Times New Roman"/>
              </a:rPr>
              <a:t>A</a:t>
            </a:r>
          </a:p>
        </p:txBody>
      </p:sp>
      <p:sp>
        <p:nvSpPr>
          <p:cNvPr id="6" name="Rectangle 5"/>
          <p:cNvSpPr/>
          <p:nvPr/>
        </p:nvSpPr>
        <p:spPr>
          <a:xfrm>
            <a:off x="2209800" y="8668512"/>
            <a:ext cx="106680" cy="146304"/>
          </a:xfrm>
          <a:prstGeom prst="rect">
            <a:avLst/>
          </a:prstGeom>
        </p:spPr>
        <p:txBody>
          <a:bodyPr wrap="none" lIns="0" tIns="0" rIns="0" bIns="0">
            <a:noAutofit/>
          </a:bodyPr>
          <a:lstStyle/>
          <a:p>
            <a:pPr indent="0"/>
            <a:r>
              <a:rPr lang="en-US" sz="1200">
                <a:latin typeface="Times New Roman"/>
              </a:rPr>
              <a:t>0</a:t>
            </a:r>
          </a:p>
        </p:txBody>
      </p:sp>
      <p:sp>
        <p:nvSpPr>
          <p:cNvPr id="7" name="Rectangle 6"/>
          <p:cNvSpPr/>
          <p:nvPr/>
        </p:nvSpPr>
        <p:spPr>
          <a:xfrm>
            <a:off x="2919984" y="8662416"/>
            <a:ext cx="618744" cy="155448"/>
          </a:xfrm>
          <a:prstGeom prst="rect">
            <a:avLst/>
          </a:prstGeom>
        </p:spPr>
        <p:txBody>
          <a:bodyPr wrap="none" lIns="0" tIns="0" rIns="0" bIns="0">
            <a:noAutofit/>
          </a:bodyPr>
          <a:lstStyle/>
          <a:p>
            <a:pPr indent="0"/>
            <a:r>
              <a:rPr lang="vi" sz="1200">
                <a:latin typeface="Times New Roman"/>
              </a:rPr>
              <a:t>2/5 = </a:t>
            </a:r>
            <a:r>
              <a:rPr lang="vi" sz="1200" b="1">
                <a:latin typeface="Times New Roman"/>
              </a:rPr>
              <a:t>0.4</a:t>
            </a:r>
          </a:p>
        </p:txBody>
      </p:sp>
      <p:sp>
        <p:nvSpPr>
          <p:cNvPr id="8" name="Rectangle 7"/>
          <p:cNvSpPr/>
          <p:nvPr/>
        </p:nvSpPr>
        <p:spPr>
          <a:xfrm>
            <a:off x="4450080" y="8662416"/>
            <a:ext cx="615696" cy="155448"/>
          </a:xfrm>
          <a:prstGeom prst="rect">
            <a:avLst/>
          </a:prstGeom>
        </p:spPr>
        <p:txBody>
          <a:bodyPr wrap="none" lIns="0" tIns="0" rIns="0" bIns="0">
            <a:noAutofit/>
          </a:bodyPr>
          <a:lstStyle/>
          <a:p>
            <a:pPr indent="0"/>
            <a:r>
              <a:rPr lang="vi" sz="1200">
                <a:latin typeface="Times New Roman"/>
              </a:rPr>
              <a:t>3/5 = </a:t>
            </a:r>
            <a:r>
              <a:rPr lang="vi" sz="1200" b="1">
                <a:latin typeface="Times New Roman"/>
              </a:rPr>
              <a:t>0.6</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170432" y="847344"/>
            <a:ext cx="795528" cy="188976"/>
          </a:xfrm>
          <a:prstGeom prst="rect">
            <a:avLst/>
          </a:prstGeom>
        </p:spPr>
        <p:txBody>
          <a:bodyPr wrap="none" lIns="0" tIns="0" rIns="0" bIns="0">
            <a:noAutofit/>
          </a:bodyPr>
          <a:lstStyle/>
          <a:p>
            <a:pPr indent="0"/>
            <a:r>
              <a:rPr lang="vi" sz="1200" b="1">
                <a:latin typeface="Times New Roman"/>
              </a:rPr>
              <a:t>Thuộc tính</a:t>
            </a:r>
          </a:p>
        </p:txBody>
      </p:sp>
      <p:sp>
        <p:nvSpPr>
          <p:cNvPr id="3" name="Rectangle 2"/>
          <p:cNvSpPr/>
          <p:nvPr/>
        </p:nvSpPr>
        <p:spPr>
          <a:xfrm>
            <a:off x="1167384" y="2066544"/>
            <a:ext cx="137160" cy="146304"/>
          </a:xfrm>
          <a:prstGeom prst="rect">
            <a:avLst/>
          </a:prstGeom>
        </p:spPr>
        <p:txBody>
          <a:bodyPr wrap="none" lIns="0" tIns="0" rIns="0" bIns="0">
            <a:noAutofit/>
          </a:bodyPr>
          <a:lstStyle/>
          <a:p>
            <a:pPr indent="0">
              <a:spcAft>
                <a:spcPts val="4620"/>
              </a:spcAft>
            </a:pPr>
            <a:r>
              <a:rPr lang="vi" sz="1200" b="1">
                <a:latin typeface="Times New Roman"/>
              </a:rPr>
              <a:t>B</a:t>
            </a:r>
          </a:p>
        </p:txBody>
      </p:sp>
      <p:sp>
        <p:nvSpPr>
          <p:cNvPr id="4" name="Rectangle 3"/>
          <p:cNvSpPr/>
          <p:nvPr/>
        </p:nvSpPr>
        <p:spPr>
          <a:xfrm>
            <a:off x="1170432" y="3032760"/>
            <a:ext cx="140208" cy="152400"/>
          </a:xfrm>
          <a:prstGeom prst="rect">
            <a:avLst/>
          </a:prstGeom>
        </p:spPr>
        <p:txBody>
          <a:bodyPr wrap="none" lIns="0" tIns="0" rIns="0" bIns="0">
            <a:noAutofit/>
          </a:bodyPr>
          <a:lstStyle/>
          <a:p>
            <a:pPr indent="0">
              <a:spcBef>
                <a:spcPts val="4620"/>
              </a:spcBef>
              <a:spcAft>
                <a:spcPts val="2520"/>
              </a:spcAft>
            </a:pPr>
            <a:r>
              <a:rPr lang="vi" sz="1200" b="1">
                <a:latin typeface="Times New Roman"/>
              </a:rPr>
              <a:t>C</a:t>
            </a:r>
          </a:p>
        </p:txBody>
      </p:sp>
      <p:graphicFrame>
        <p:nvGraphicFramePr>
          <p:cNvPr id="5" name="Table 4"/>
          <p:cNvGraphicFramePr>
            <a:graphicFrameLocks noGrp="1"/>
          </p:cNvGraphicFramePr>
          <p:nvPr/>
        </p:nvGraphicFramePr>
        <p:xfrm>
          <a:off x="2209800" y="850392"/>
          <a:ext cx="3456432" cy="2572512"/>
        </p:xfrm>
        <a:graphic>
          <a:graphicData uri="http://schemas.openxmlformats.org/drawingml/2006/table">
            <a:tbl>
              <a:tblPr/>
              <a:tblGrid>
                <a:gridCol w="597408">
                  <a:extLst>
                    <a:ext uri="{9D8B030D-6E8A-4147-A177-3AD203B41FA5}">
                      <a16:colId xmlns:a16="http://schemas.microsoft.com/office/drawing/2014/main" val="20000"/>
                    </a:ext>
                  </a:extLst>
                </a:gridCol>
                <a:gridCol w="1499616">
                  <a:extLst>
                    <a:ext uri="{9D8B030D-6E8A-4147-A177-3AD203B41FA5}">
                      <a16:colId xmlns:a16="http://schemas.microsoft.com/office/drawing/2014/main" val="20001"/>
                    </a:ext>
                  </a:extLst>
                </a:gridCol>
                <a:gridCol w="1359408">
                  <a:extLst>
                    <a:ext uri="{9D8B030D-6E8A-4147-A177-3AD203B41FA5}">
                      <a16:colId xmlns:a16="http://schemas.microsoft.com/office/drawing/2014/main" val="20002"/>
                    </a:ext>
                  </a:extLst>
                </a:gridCol>
              </a:tblGrid>
              <a:tr h="329184">
                <a:tc>
                  <a:txBody>
                    <a:bodyPr/>
                    <a:lstStyle/>
                    <a:p>
                      <a:pPr indent="0"/>
                      <a:r>
                        <a:rPr lang="vi" sz="1200" b="1">
                          <a:latin typeface="Times New Roman"/>
                        </a:rPr>
                        <a:t>Giá trị</a:t>
                      </a:r>
                    </a:p>
                  </a:txBody>
                  <a:tcPr marL="0" marR="0" marT="0" marB="0"/>
                </a:tc>
                <a:tc>
                  <a:txBody>
                    <a:bodyPr/>
                    <a:lstStyle/>
                    <a:p>
                      <a:pPr marL="139700" indent="0"/>
                      <a:r>
                        <a:rPr lang="vi" sz="1200" b="1">
                          <a:latin typeface="Times New Roman"/>
                        </a:rPr>
                        <a:t>P(Giá trị | Lớp +)</a:t>
                      </a:r>
                    </a:p>
                  </a:txBody>
                  <a:tcPr marL="0" marR="0" marT="0" marB="0"/>
                </a:tc>
                <a:tc>
                  <a:txBody>
                    <a:bodyPr/>
                    <a:lstStyle/>
                    <a:p>
                      <a:pPr marL="165100" indent="0"/>
                      <a:r>
                        <a:rPr lang="vi" sz="1200" b="1">
                          <a:latin typeface="Times New Roman"/>
                        </a:rPr>
                        <a:t>P(Giá trị | Lớp -)</a:t>
                      </a:r>
                    </a:p>
                  </a:txBody>
                  <a:tcPr marL="0" marR="0" marT="0" marB="0"/>
                </a:tc>
                <a:extLst>
                  <a:ext uri="{0D108BD9-81ED-4DB2-BD59-A6C34878D82A}">
                    <a16:rowId xmlns:a16="http://schemas.microsoft.com/office/drawing/2014/main" val="10000"/>
                  </a:ext>
                </a:extLst>
              </a:tr>
              <a:tr h="466344">
                <a:tc>
                  <a:txBody>
                    <a:bodyPr/>
                    <a:lstStyle/>
                    <a:p>
                      <a:pPr indent="0"/>
                      <a:r>
                        <a:rPr lang="vi" sz="1200">
                          <a:latin typeface="Times New Roman"/>
                        </a:rPr>
                        <a:t>1</a:t>
                      </a:r>
                    </a:p>
                  </a:txBody>
                  <a:tcPr marL="0" marR="0" marT="0" marB="0" anchor="ctr"/>
                </a:tc>
                <a:tc>
                  <a:txBody>
                    <a:bodyPr/>
                    <a:lstStyle/>
                    <a:p>
                      <a:pPr marL="139700" indent="0"/>
                      <a:r>
                        <a:rPr lang="vi" sz="1200">
                          <a:latin typeface="Times New Roman"/>
                        </a:rPr>
                        <a:t>3/5 = 0.6</a:t>
                      </a:r>
                    </a:p>
                  </a:txBody>
                  <a:tcPr marL="0" marR="0" marT="0" marB="0" anchor="ctr"/>
                </a:tc>
                <a:tc>
                  <a:txBody>
                    <a:bodyPr/>
                    <a:lstStyle/>
                    <a:p>
                      <a:pPr marL="165100" indent="0"/>
                      <a:r>
                        <a:rPr lang="vi" sz="1200">
                          <a:latin typeface="Times New Roman"/>
                        </a:rPr>
                        <a:t>2/5 = 0.4</a:t>
                      </a:r>
                    </a:p>
                  </a:txBody>
                  <a:tcPr marL="0" marR="0" marT="0" marB="0" anchor="ctr"/>
                </a:tc>
                <a:extLst>
                  <a:ext uri="{0D108BD9-81ED-4DB2-BD59-A6C34878D82A}">
                    <a16:rowId xmlns:a16="http://schemas.microsoft.com/office/drawing/2014/main" val="10001"/>
                  </a:ext>
                </a:extLst>
              </a:tr>
              <a:tr h="487680">
                <a:tc>
                  <a:txBody>
                    <a:bodyPr/>
                    <a:lstStyle/>
                    <a:p>
                      <a:pPr indent="0"/>
                      <a:r>
                        <a:rPr lang="vi" sz="1200">
                          <a:latin typeface="Times New Roman"/>
                        </a:rPr>
                        <a:t>0</a:t>
                      </a:r>
                    </a:p>
                  </a:txBody>
                  <a:tcPr marL="0" marR="0" marT="0" marB="0" anchor="ctr"/>
                </a:tc>
                <a:tc>
                  <a:txBody>
                    <a:bodyPr/>
                    <a:lstStyle/>
                    <a:p>
                      <a:pPr marL="139700" indent="0"/>
                      <a:r>
                        <a:rPr lang="vi" sz="1200">
                          <a:latin typeface="Times New Roman"/>
                        </a:rPr>
                        <a:t>4/5 = 0.8</a:t>
                      </a:r>
                    </a:p>
                  </a:txBody>
                  <a:tcPr marL="0" marR="0" marT="0" marB="0" anchor="ctr"/>
                </a:tc>
                <a:tc>
                  <a:txBody>
                    <a:bodyPr/>
                    <a:lstStyle/>
                    <a:p>
                      <a:pPr marL="165100" indent="0"/>
                      <a:r>
                        <a:rPr lang="vi" sz="1200">
                          <a:latin typeface="Times New Roman"/>
                        </a:rPr>
                        <a:t>3/5 = 0.6</a:t>
                      </a:r>
                    </a:p>
                  </a:txBody>
                  <a:tcPr marL="0" marR="0" marT="0" marB="0" anchor="ctr"/>
                </a:tc>
                <a:extLst>
                  <a:ext uri="{0D108BD9-81ED-4DB2-BD59-A6C34878D82A}">
                    <a16:rowId xmlns:a16="http://schemas.microsoft.com/office/drawing/2014/main" val="10002"/>
                  </a:ext>
                </a:extLst>
              </a:tr>
              <a:tr h="484632">
                <a:tc>
                  <a:txBody>
                    <a:bodyPr/>
                    <a:lstStyle/>
                    <a:p>
                      <a:pPr indent="0"/>
                      <a:r>
                        <a:rPr lang="vi" sz="1200">
                          <a:latin typeface="Times New Roman"/>
                        </a:rPr>
                        <a:t>1</a:t>
                      </a:r>
                    </a:p>
                  </a:txBody>
                  <a:tcPr marL="0" marR="0" marT="0" marB="0" anchor="ctr"/>
                </a:tc>
                <a:tc>
                  <a:txBody>
                    <a:bodyPr/>
                    <a:lstStyle/>
                    <a:p>
                      <a:pPr marL="139700" indent="0"/>
                      <a:r>
                        <a:rPr lang="vi" sz="1200">
                          <a:latin typeface="Times New Roman"/>
                        </a:rPr>
                        <a:t>1/5 = </a:t>
                      </a:r>
                      <a:r>
                        <a:rPr lang="vi" sz="1200" b="1">
                          <a:latin typeface="Times New Roman"/>
                        </a:rPr>
                        <a:t>0.2</a:t>
                      </a:r>
                    </a:p>
                  </a:txBody>
                  <a:tcPr marL="0" marR="0" marT="0" marB="0" anchor="ctr"/>
                </a:tc>
                <a:tc>
                  <a:txBody>
                    <a:bodyPr/>
                    <a:lstStyle/>
                    <a:p>
                      <a:pPr marL="165100" indent="0"/>
                      <a:r>
                        <a:rPr lang="vi" sz="1200">
                          <a:latin typeface="Times New Roman"/>
                        </a:rPr>
                        <a:t>2/5 = </a:t>
                      </a:r>
                      <a:r>
                        <a:rPr lang="vi" sz="1200" b="1">
                          <a:latin typeface="Times New Roman"/>
                        </a:rPr>
                        <a:t>0.4</a:t>
                      </a:r>
                    </a:p>
                  </a:txBody>
                  <a:tcPr marL="0" marR="0" marT="0" marB="0" anchor="ctr"/>
                </a:tc>
                <a:extLst>
                  <a:ext uri="{0D108BD9-81ED-4DB2-BD59-A6C34878D82A}">
                    <a16:rowId xmlns:a16="http://schemas.microsoft.com/office/drawing/2014/main" val="10003"/>
                  </a:ext>
                </a:extLst>
              </a:tr>
              <a:tr h="484632">
                <a:tc>
                  <a:txBody>
                    <a:bodyPr/>
                    <a:lstStyle/>
                    <a:p>
                      <a:pPr indent="0"/>
                      <a:r>
                        <a:rPr lang="vi" sz="1200">
                          <a:latin typeface="Times New Roman"/>
                        </a:rPr>
                        <a:t>0</a:t>
                      </a:r>
                    </a:p>
                  </a:txBody>
                  <a:tcPr marL="0" marR="0" marT="0" marB="0" anchor="ctr"/>
                </a:tc>
                <a:tc>
                  <a:txBody>
                    <a:bodyPr/>
                    <a:lstStyle/>
                    <a:p>
                      <a:pPr marL="139700" indent="0"/>
                      <a:r>
                        <a:rPr lang="vi" sz="1200">
                          <a:latin typeface="Times New Roman"/>
                        </a:rPr>
                        <a:t>1/5 = </a:t>
                      </a:r>
                      <a:r>
                        <a:rPr lang="vi" sz="1200" b="1">
                          <a:latin typeface="Times New Roman"/>
                        </a:rPr>
                        <a:t>0.2</a:t>
                      </a:r>
                    </a:p>
                  </a:txBody>
                  <a:tcPr marL="0" marR="0" marT="0" marB="0" anchor="ctr"/>
                </a:tc>
                <a:tc>
                  <a:txBody>
                    <a:bodyPr/>
                    <a:lstStyle/>
                    <a:p>
                      <a:pPr marL="165100" indent="0"/>
                      <a:r>
                        <a:rPr lang="vi" sz="1200">
                          <a:latin typeface="Times New Roman"/>
                        </a:rPr>
                        <a:t>0/5 = </a:t>
                      </a:r>
                      <a:r>
                        <a:rPr lang="vi" sz="1200" b="1">
                          <a:latin typeface="Times New Roman"/>
                        </a:rPr>
                        <a:t>0.0</a:t>
                      </a:r>
                    </a:p>
                  </a:txBody>
                  <a:tcPr marL="0" marR="0" marT="0" marB="0" anchor="ctr"/>
                </a:tc>
                <a:extLst>
                  <a:ext uri="{0D108BD9-81ED-4DB2-BD59-A6C34878D82A}">
                    <a16:rowId xmlns:a16="http://schemas.microsoft.com/office/drawing/2014/main" val="10004"/>
                  </a:ext>
                </a:extLst>
              </a:tr>
              <a:tr h="320040">
                <a:tc>
                  <a:txBody>
                    <a:bodyPr/>
                    <a:lstStyle/>
                    <a:p>
                      <a:pPr indent="0"/>
                      <a:r>
                        <a:rPr lang="vi" sz="1200">
                          <a:latin typeface="Times New Roman"/>
                        </a:rPr>
                        <a:t>1</a:t>
                      </a:r>
                    </a:p>
                  </a:txBody>
                  <a:tcPr marL="0" marR="0" marT="0" marB="0" anchor="b"/>
                </a:tc>
                <a:tc>
                  <a:txBody>
                    <a:bodyPr/>
                    <a:lstStyle/>
                    <a:p>
                      <a:pPr marL="139700" indent="0"/>
                      <a:r>
                        <a:rPr lang="vi" sz="1200">
                          <a:latin typeface="Times New Roman"/>
                        </a:rPr>
                        <a:t>4/5 = 0.8</a:t>
                      </a:r>
                    </a:p>
                  </a:txBody>
                  <a:tcPr marL="0" marR="0" marT="0" marB="0" anchor="b"/>
                </a:tc>
                <a:tc>
                  <a:txBody>
                    <a:bodyPr/>
                    <a:lstStyle/>
                    <a:p>
                      <a:pPr marL="165100" indent="0"/>
                      <a:r>
                        <a:rPr lang="vi" sz="1200">
                          <a:latin typeface="Times New Roman"/>
                        </a:rPr>
                        <a:t>5/5 = 1.0</a:t>
                      </a:r>
                    </a:p>
                  </a:txBody>
                  <a:tcPr marL="0" marR="0" marT="0" marB="0" anchor="b"/>
                </a:tc>
                <a:extLst>
                  <a:ext uri="{0D108BD9-81ED-4DB2-BD59-A6C34878D82A}">
                    <a16:rowId xmlns:a16="http://schemas.microsoft.com/office/drawing/2014/main" val="10005"/>
                  </a:ext>
                </a:extLst>
              </a:tr>
            </a:tbl>
          </a:graphicData>
        </a:graphic>
      </p:graphicFrame>
      <p:sp>
        <p:nvSpPr>
          <p:cNvPr id="6" name="Rectangle 5"/>
          <p:cNvSpPr/>
          <p:nvPr/>
        </p:nvSpPr>
        <p:spPr>
          <a:xfrm>
            <a:off x="1063752" y="3624072"/>
            <a:ext cx="5053584" cy="5599176"/>
          </a:xfrm>
          <a:prstGeom prst="rect">
            <a:avLst/>
          </a:prstGeom>
        </p:spPr>
        <p:txBody>
          <a:bodyPr lIns="0" tIns="0" rIns="0" bIns="0">
            <a:noAutofit/>
          </a:bodyPr>
          <a:lstStyle/>
          <a:p>
            <a:pPr indent="0" algn="just">
              <a:lnSpc>
                <a:spcPts val="2232"/>
              </a:lnSpc>
              <a:spcBef>
                <a:spcPts val="2520"/>
              </a:spcBef>
            </a:pPr>
            <a:r>
              <a:rPr lang="vi" sz="1200" i="1">
                <a:latin typeface="Times New Roman"/>
              </a:rPr>
              <a:t>(Các giá trị in đậm là các giá trị cần dùng cho câu b)</a:t>
            </a:r>
          </a:p>
          <a:p>
            <a:pPr indent="0" algn="just">
              <a:lnSpc>
                <a:spcPts val="2232"/>
              </a:lnSpc>
            </a:pPr>
            <a:r>
              <a:rPr lang="vi" sz="1200" b="1">
                <a:latin typeface="Times New Roman"/>
              </a:rPr>
              <a:t>Câu (b): Dự đoán </a:t>
            </a:r>
            <a:r>
              <a:rPr lang="en-US" sz="1200" b="1">
                <a:latin typeface="Times New Roman"/>
              </a:rPr>
              <a:t>(Prediction)</a:t>
            </a:r>
          </a:p>
          <a:p>
            <a:pPr indent="0" algn="just">
              <a:lnSpc>
                <a:spcPts val="2232"/>
              </a:lnSpc>
            </a:pPr>
            <a:r>
              <a:rPr lang="vi" sz="1200" b="1">
                <a:latin typeface="Times New Roman"/>
              </a:rPr>
              <a:t>Mẫu kiểm thử: </a:t>
            </a:r>
            <a:r>
              <a:rPr lang="vi" sz="1200">
                <a:latin typeface="Times New Roman"/>
              </a:rPr>
              <a:t>X = (A = 0, B = 1, C = 0)</a:t>
            </a:r>
          </a:p>
          <a:p>
            <a:pPr indent="0" algn="just">
              <a:lnSpc>
                <a:spcPts val="2232"/>
              </a:lnSpc>
            </a:pPr>
            <a:r>
              <a:rPr lang="vi" sz="1200">
                <a:latin typeface="Times New Roman"/>
              </a:rPr>
              <a:t>Công thức: P(Lớp | X) &amp;propto; P(Lớp) X P(A|Lớp) X P(B|Lớp) X P(C|Lớp)</a:t>
            </a:r>
          </a:p>
          <a:p>
            <a:pPr indent="0" algn="just">
              <a:lnSpc>
                <a:spcPts val="2232"/>
              </a:lnSpc>
            </a:pPr>
            <a:r>
              <a:rPr lang="vi" sz="1200" b="1">
                <a:latin typeface="Times New Roman"/>
              </a:rPr>
              <a:t>1.    Tính điểm cho Lớp (+)</a:t>
            </a:r>
          </a:p>
          <a:p>
            <a:pPr indent="0" algn="just">
              <a:lnSpc>
                <a:spcPts val="2232"/>
              </a:lnSpc>
            </a:pPr>
            <a:r>
              <a:rPr lang="vi" sz="1200">
                <a:latin typeface="Times New Roman"/>
              </a:rPr>
              <a:t>Áp dụng các giá trị đã tính ở câu </a:t>
            </a:r>
            <a:r>
              <a:rPr lang="en-US" sz="1200">
                <a:latin typeface="Times New Roman"/>
              </a:rPr>
              <a:t>(a):</a:t>
            </a:r>
          </a:p>
          <a:p>
            <a:pPr marL="254000" indent="0" algn="just">
              <a:lnSpc>
                <a:spcPts val="2232"/>
              </a:lnSpc>
            </a:pPr>
            <a:r>
              <a:rPr lang="vi" sz="1200">
                <a:latin typeface="Times New Roman"/>
              </a:rPr>
              <a:t>.    P(+) = 0.5</a:t>
            </a:r>
          </a:p>
          <a:p>
            <a:pPr marL="254000" indent="0" algn="just">
              <a:lnSpc>
                <a:spcPts val="2232"/>
              </a:lnSpc>
            </a:pPr>
            <a:r>
              <a:rPr lang="vi" sz="1200">
                <a:latin typeface="Times New Roman"/>
              </a:rPr>
              <a:t>.    P(A=0 | +) = 0.4</a:t>
            </a:r>
          </a:p>
          <a:p>
            <a:pPr marL="254000" indent="0" algn="just">
              <a:lnSpc>
                <a:spcPts val="2232"/>
              </a:lnSpc>
            </a:pPr>
            <a:r>
              <a:rPr lang="vi" sz="1200">
                <a:latin typeface="Times New Roman"/>
              </a:rPr>
              <a:t>.    P(B=1 | +) = 0.2</a:t>
            </a:r>
          </a:p>
          <a:p>
            <a:pPr marL="254000" indent="0" algn="just">
              <a:lnSpc>
                <a:spcPts val="2232"/>
              </a:lnSpc>
            </a:pPr>
            <a:r>
              <a:rPr lang="vi" sz="1200">
                <a:latin typeface="Times New Roman"/>
              </a:rPr>
              <a:t>.    P(C=0 | +) = 0.2</a:t>
            </a:r>
          </a:p>
          <a:p>
            <a:pPr indent="0" algn="just">
              <a:lnSpc>
                <a:spcPts val="2232"/>
              </a:lnSpc>
            </a:pPr>
            <a:r>
              <a:rPr lang="vi" sz="1200">
                <a:latin typeface="Times New Roman"/>
              </a:rPr>
              <a:t>Score(+) = 0.5 X 0.4 X 0.2 X 0.2 = </a:t>
            </a:r>
            <a:r>
              <a:rPr lang="vi" sz="1200" b="1">
                <a:latin typeface="Times New Roman"/>
              </a:rPr>
              <a:t>0.008</a:t>
            </a:r>
          </a:p>
          <a:p>
            <a:pPr indent="0" algn="just">
              <a:lnSpc>
                <a:spcPts val="2232"/>
              </a:lnSpc>
            </a:pPr>
            <a:r>
              <a:rPr lang="vi" sz="1200" b="1">
                <a:latin typeface="Times New Roman"/>
              </a:rPr>
              <a:t>2.    Tính điểm cho Lớp (-)</a:t>
            </a:r>
          </a:p>
          <a:p>
            <a:pPr indent="0" algn="just">
              <a:lnSpc>
                <a:spcPts val="2232"/>
              </a:lnSpc>
            </a:pPr>
            <a:r>
              <a:rPr lang="vi" sz="1200">
                <a:latin typeface="Times New Roman"/>
              </a:rPr>
              <a:t>Áp dụng các giá trị đã tính ở câu </a:t>
            </a:r>
            <a:r>
              <a:rPr lang="en-US" sz="1200">
                <a:latin typeface="Times New Roman"/>
              </a:rPr>
              <a:t>(a):</a:t>
            </a:r>
          </a:p>
          <a:p>
            <a:pPr marL="254000" indent="0" algn="just">
              <a:lnSpc>
                <a:spcPts val="2232"/>
              </a:lnSpc>
            </a:pPr>
            <a:r>
              <a:rPr lang="vi" sz="1200">
                <a:latin typeface="Times New Roman"/>
              </a:rPr>
              <a:t>•    P(-) = 0.5</a:t>
            </a:r>
          </a:p>
          <a:p>
            <a:pPr marL="254000" indent="0" algn="just">
              <a:lnSpc>
                <a:spcPts val="2232"/>
              </a:lnSpc>
            </a:pPr>
            <a:r>
              <a:rPr lang="vi" sz="1200">
                <a:latin typeface="Times New Roman"/>
              </a:rPr>
              <a:t>.    P(A=0 | -) = 0.6</a:t>
            </a:r>
          </a:p>
          <a:p>
            <a:pPr marL="254000" indent="0" algn="just">
              <a:lnSpc>
                <a:spcPts val="2232"/>
              </a:lnSpc>
            </a:pPr>
            <a:r>
              <a:rPr lang="vi" sz="1200">
                <a:latin typeface="Times New Roman"/>
              </a:rPr>
              <a:t>•    P(B=1 | -) = 0.4</a:t>
            </a:r>
          </a:p>
          <a:p>
            <a:pPr marL="254000" indent="0" algn="just">
              <a:lnSpc>
                <a:spcPts val="2232"/>
              </a:lnSpc>
            </a:pPr>
            <a:r>
              <a:rPr lang="vi" sz="1200">
                <a:latin typeface="Times New Roman"/>
              </a:rPr>
              <a:t>•    P(C=0 | -) = 0 (Vì không có mẫu nào lớp '-' mà C=0)</a:t>
            </a:r>
          </a:p>
          <a:p>
            <a:pPr indent="0" algn="just">
              <a:lnSpc>
                <a:spcPts val="2232"/>
              </a:lnSpc>
            </a:pPr>
            <a:r>
              <a:rPr lang="vi" sz="1200">
                <a:latin typeface="Times New Roman"/>
              </a:rPr>
              <a:t>Score(-) = 0.5 X 0.6 X 0.4 X 0 = </a:t>
            </a:r>
            <a:r>
              <a:rPr lang="vi" sz="1200" b="1">
                <a:latin typeface="Times New Roman"/>
              </a:rPr>
              <a:t>0</a:t>
            </a:r>
          </a:p>
          <a:p>
            <a:pPr marR="3683000" indent="0">
              <a:lnSpc>
                <a:spcPts val="2232"/>
              </a:lnSpc>
            </a:pPr>
            <a:r>
              <a:rPr lang="vi" sz="1200" b="1">
                <a:latin typeface="Times New Roman"/>
              </a:rPr>
              <a:t>KẾT LUẬN </a:t>
            </a:r>
            <a:r>
              <a:rPr lang="vi" sz="1200">
                <a:latin typeface="Times New Roman"/>
              </a:rPr>
              <a:t>So sánh hai điểm số:</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063752" y="707136"/>
            <a:ext cx="5452872" cy="8531352"/>
          </a:xfrm>
          <a:prstGeom prst="rect">
            <a:avLst/>
          </a:prstGeom>
        </p:spPr>
        <p:txBody>
          <a:bodyPr lIns="0" tIns="0" rIns="0" bIns="0">
            <a:noAutofit/>
          </a:bodyPr>
          <a:lstStyle/>
          <a:p>
            <a:pPr marL="254000" indent="0" algn="just">
              <a:spcAft>
                <a:spcPts val="630"/>
              </a:spcAft>
            </a:pPr>
            <a:r>
              <a:rPr lang="en-US" sz="1200" b="1">
                <a:latin typeface="Times New Roman"/>
              </a:rPr>
              <a:t>•    </a:t>
            </a:r>
            <a:r>
              <a:rPr lang="vi" sz="1200" b="1">
                <a:latin typeface="Times New Roman"/>
              </a:rPr>
              <a:t>Điểm lớp (+): 0.008</a:t>
            </a:r>
          </a:p>
          <a:p>
            <a:pPr marL="254000" indent="0" algn="just">
              <a:spcAft>
                <a:spcPts val="630"/>
              </a:spcAft>
            </a:pPr>
            <a:r>
              <a:rPr lang="vi" sz="1200" b="1">
                <a:latin typeface="Times New Roman"/>
              </a:rPr>
              <a:t>•    Điểm lớp (-): 0</a:t>
            </a:r>
          </a:p>
          <a:p>
            <a:pPr indent="0">
              <a:lnSpc>
                <a:spcPts val="2424"/>
              </a:lnSpc>
            </a:pPr>
            <a:r>
              <a:rPr lang="vi" sz="1200" b="1">
                <a:latin typeface="Times New Roman"/>
              </a:rPr>
              <a:t>Vì 0.008 &gt; 0, thuật toán </a:t>
            </a:r>
            <a:r>
              <a:rPr lang="en-US" sz="1200" b="1">
                <a:latin typeface="Times New Roman"/>
              </a:rPr>
              <a:t>Naive Bayes </a:t>
            </a:r>
            <a:r>
              <a:rPr lang="vi" sz="1200" b="1">
                <a:latin typeface="Times New Roman"/>
              </a:rPr>
              <a:t>dự đoán nhãn cho mẫu thử X là: </a:t>
            </a:r>
            <a:r>
              <a:rPr lang="en-US" sz="1200" b="1">
                <a:latin typeface="Times New Roman"/>
              </a:rPr>
              <a:t>CLASS </a:t>
            </a:r>
            <a:r>
              <a:rPr lang="vi" sz="1200" b="1">
                <a:latin typeface="Times New Roman"/>
              </a:rPr>
              <a:t>(+) </a:t>
            </a:r>
            <a:r>
              <a:rPr lang="vi" sz="1500" b="1">
                <a:latin typeface="Times New Roman"/>
              </a:rPr>
              <a:t>Ex5: </a:t>
            </a:r>
            <a:r>
              <a:rPr lang="en-US" sz="1500" b="1">
                <a:latin typeface="Times New Roman"/>
              </a:rPr>
              <a:t>Using Naive Bayes </a:t>
            </a:r>
            <a:r>
              <a:rPr lang="en-US" sz="1200" b="1">
                <a:latin typeface="Times New Roman"/>
              </a:rPr>
              <a:t>Input (X):</a:t>
            </a:r>
          </a:p>
          <a:p>
            <a:pPr indent="0" algn="just">
              <a:lnSpc>
                <a:spcPts val="2232"/>
              </a:lnSpc>
            </a:pPr>
            <a:r>
              <a:rPr lang="en-US" sz="1200" b="1">
                <a:latin typeface="Times New Roman"/>
              </a:rPr>
              <a:t>-    Outlook: Sunny</a:t>
            </a:r>
          </a:p>
          <a:p>
            <a:pPr indent="0" algn="just">
              <a:lnSpc>
                <a:spcPts val="2232"/>
              </a:lnSpc>
            </a:pPr>
            <a:r>
              <a:rPr lang="en-US" sz="1200" b="1">
                <a:latin typeface="Times New Roman"/>
              </a:rPr>
              <a:t>-    Temp: Cool</a:t>
            </a:r>
          </a:p>
          <a:p>
            <a:pPr indent="0" algn="just">
              <a:lnSpc>
                <a:spcPts val="2232"/>
              </a:lnSpc>
            </a:pPr>
            <a:r>
              <a:rPr lang="en-US" sz="1200" b="1">
                <a:latin typeface="Times New Roman"/>
              </a:rPr>
              <a:t>-    Humidity: High</a:t>
            </a:r>
          </a:p>
          <a:p>
            <a:pPr indent="0" algn="just">
              <a:lnSpc>
                <a:spcPts val="2232"/>
              </a:lnSpc>
            </a:pPr>
            <a:r>
              <a:rPr lang="en-US" sz="1200" b="1">
                <a:latin typeface="Times New Roman"/>
              </a:rPr>
              <a:t>-    Windy: True</a:t>
            </a:r>
          </a:p>
          <a:p>
            <a:pPr indent="0" algn="just">
              <a:lnSpc>
                <a:spcPts val="2232"/>
              </a:lnSpc>
            </a:pPr>
            <a:r>
              <a:rPr lang="vi" sz="1200" b="1">
                <a:latin typeface="Times New Roman"/>
              </a:rPr>
              <a:t>Mục tiêu: Xác định lớp </a:t>
            </a:r>
            <a:r>
              <a:rPr lang="en-US" sz="1200" b="1">
                <a:latin typeface="Times New Roman"/>
              </a:rPr>
              <a:t>Play (Yes hay No?)</a:t>
            </a:r>
          </a:p>
          <a:p>
            <a:pPr indent="0" algn="just">
              <a:lnSpc>
                <a:spcPts val="2232"/>
              </a:lnSpc>
            </a:pPr>
            <a:r>
              <a:rPr lang="vi" sz="1200" b="1">
                <a:latin typeface="Times New Roman"/>
              </a:rPr>
              <a:t>Bước </a:t>
            </a:r>
            <a:r>
              <a:rPr lang="en-US" sz="1200" b="1">
                <a:latin typeface="Times New Roman"/>
              </a:rPr>
              <a:t>1: </a:t>
            </a:r>
            <a:r>
              <a:rPr lang="vi" sz="1200" b="1">
                <a:latin typeface="Times New Roman"/>
              </a:rPr>
              <a:t>Tính Xác suất Tiên nghiệm </a:t>
            </a:r>
            <a:r>
              <a:rPr lang="en-US" sz="1200" b="1">
                <a:latin typeface="Times New Roman"/>
              </a:rPr>
              <a:t>(Prior Probabilities)</a:t>
            </a:r>
          </a:p>
          <a:p>
            <a:pPr indent="0" algn="just">
              <a:lnSpc>
                <a:spcPts val="2232"/>
              </a:lnSpc>
            </a:pPr>
            <a:r>
              <a:rPr lang="vi" sz="1200" b="1">
                <a:latin typeface="Times New Roman"/>
              </a:rPr>
              <a:t>Tổng số mẫu dữ liệu (N) = 14</a:t>
            </a:r>
          </a:p>
          <a:p>
            <a:pPr marL="254000" indent="0" algn="just">
              <a:lnSpc>
                <a:spcPts val="2232"/>
              </a:lnSpc>
            </a:pPr>
            <a:r>
              <a:rPr lang="vi" sz="1200" b="1">
                <a:latin typeface="Times New Roman"/>
              </a:rPr>
              <a:t>•    Số mẫu </a:t>
            </a:r>
            <a:r>
              <a:rPr lang="en-US" sz="1200" b="1">
                <a:latin typeface="Times New Roman"/>
              </a:rPr>
              <a:t>Play </a:t>
            </a:r>
            <a:r>
              <a:rPr lang="vi" sz="1200" b="1">
                <a:latin typeface="Times New Roman"/>
              </a:rPr>
              <a:t>= </a:t>
            </a:r>
            <a:r>
              <a:rPr lang="en-US" sz="1200" b="1">
                <a:latin typeface="Times New Roman"/>
              </a:rPr>
              <a:t>Yes: </a:t>
            </a:r>
            <a:r>
              <a:rPr lang="vi" sz="1200" b="1">
                <a:latin typeface="Times New Roman"/>
              </a:rPr>
              <a:t>9</a:t>
            </a:r>
          </a:p>
          <a:p>
            <a:pPr marR="3619500" indent="254000">
              <a:lnSpc>
                <a:spcPts val="2232"/>
              </a:lnSpc>
            </a:pPr>
            <a:r>
              <a:rPr lang="vi" sz="1200" b="1">
                <a:latin typeface="Times New Roman"/>
              </a:rPr>
              <a:t>•    Số mẫu </a:t>
            </a:r>
            <a:r>
              <a:rPr lang="en-US" sz="1200" b="1">
                <a:latin typeface="Times New Roman"/>
              </a:rPr>
              <a:t>Play </a:t>
            </a:r>
            <a:r>
              <a:rPr lang="vi" sz="1200" b="1">
                <a:latin typeface="Times New Roman"/>
              </a:rPr>
              <a:t>= No: 5 P(Yes) = 9 / 14 - 0.6429 P(No) = 5 / 14 - 0.3571</a:t>
            </a:r>
          </a:p>
          <a:p>
            <a:pPr marR="1193800" indent="0">
              <a:lnSpc>
                <a:spcPts val="2232"/>
              </a:lnSpc>
            </a:pPr>
            <a:r>
              <a:rPr lang="vi" sz="1200" b="1">
                <a:latin typeface="Times New Roman"/>
              </a:rPr>
              <a:t>Bước 2 &amp; 3: Tính Xác suất Thành phần &amp; Độ tương đồng Áp dụng công thức </a:t>
            </a:r>
            <a:r>
              <a:rPr lang="en-US" sz="1200" b="1">
                <a:latin typeface="Times New Roman"/>
              </a:rPr>
              <a:t>Bayes: </a:t>
            </a:r>
            <a:r>
              <a:rPr lang="vi" sz="1200" b="1">
                <a:latin typeface="Times New Roman"/>
              </a:rPr>
              <a:t>P(Class|X) </a:t>
            </a:r>
            <a:r>
              <a:rPr lang="vi" sz="1000" b="1" i="1">
                <a:latin typeface="Times New Roman"/>
              </a:rPr>
              <a:t>K</a:t>
            </a:r>
            <a:r>
              <a:rPr lang="vi" sz="1200" b="1">
                <a:latin typeface="Times New Roman"/>
              </a:rPr>
              <a:t> P(X|Class) X P(Class)</a:t>
            </a:r>
          </a:p>
          <a:p>
            <a:pPr indent="0" algn="just">
              <a:lnSpc>
                <a:spcPts val="2232"/>
              </a:lnSpc>
            </a:pPr>
            <a:r>
              <a:rPr lang="vi" sz="1200" b="1">
                <a:latin typeface="Times New Roman"/>
              </a:rPr>
              <a:t>Lớp: YES</a:t>
            </a:r>
          </a:p>
          <a:p>
            <a:pPr indent="0" algn="just">
              <a:lnSpc>
                <a:spcPts val="2232"/>
              </a:lnSpc>
            </a:pPr>
            <a:r>
              <a:rPr lang="vi" sz="1200" b="1">
                <a:latin typeface="Times New Roman"/>
              </a:rPr>
              <a:t>Tra bảng thống kê với điều kiện </a:t>
            </a:r>
            <a:r>
              <a:rPr lang="en-US" sz="1200" b="1">
                <a:latin typeface="Times New Roman"/>
              </a:rPr>
              <a:t>Play </a:t>
            </a:r>
            <a:r>
              <a:rPr lang="vi" sz="1200" b="1">
                <a:latin typeface="Times New Roman"/>
              </a:rPr>
              <a:t>= </a:t>
            </a:r>
            <a:r>
              <a:rPr lang="en-US" sz="1200" b="1">
                <a:latin typeface="Times New Roman"/>
              </a:rPr>
              <a:t>Yes </a:t>
            </a:r>
            <a:r>
              <a:rPr lang="vi" sz="1200" b="1">
                <a:latin typeface="Times New Roman"/>
              </a:rPr>
              <a:t>(Tổng 9 mẫu):</a:t>
            </a:r>
          </a:p>
          <a:p>
            <a:pPr marL="254000" indent="0" algn="just">
              <a:lnSpc>
                <a:spcPts val="2232"/>
              </a:lnSpc>
            </a:pPr>
            <a:r>
              <a:rPr lang="vi" sz="1200" b="1">
                <a:latin typeface="Times New Roman"/>
              </a:rPr>
              <a:t>•    P(Sunny | Yes) = 2/9</a:t>
            </a:r>
          </a:p>
          <a:p>
            <a:pPr marL="254000" indent="0" algn="just">
              <a:lnSpc>
                <a:spcPts val="2232"/>
              </a:lnSpc>
            </a:pPr>
            <a:r>
              <a:rPr lang="vi" sz="1200" b="1">
                <a:latin typeface="Times New Roman"/>
              </a:rPr>
              <a:t>•    P(Cool | Yes) = 3/9</a:t>
            </a:r>
          </a:p>
          <a:p>
            <a:pPr marL="254000" indent="0" algn="just">
              <a:lnSpc>
                <a:spcPts val="2232"/>
              </a:lnSpc>
            </a:pPr>
            <a:r>
              <a:rPr lang="vi" sz="1200" b="1">
                <a:latin typeface="Times New Roman"/>
              </a:rPr>
              <a:t>•    P(High | Yes) = 3/9</a:t>
            </a:r>
          </a:p>
          <a:p>
            <a:pPr marR="3619500" indent="254000">
              <a:lnSpc>
                <a:spcPts val="2232"/>
              </a:lnSpc>
            </a:pPr>
            <a:r>
              <a:rPr lang="vi" sz="1200" b="1">
                <a:latin typeface="Times New Roman"/>
              </a:rPr>
              <a:t>•    P(True | Yes) = 3/9 Tính P(X|Yes) X P(Yes):</a:t>
            </a:r>
          </a:p>
          <a:p>
            <a:pPr indent="0" algn="just">
              <a:lnSpc>
                <a:spcPts val="2232"/>
              </a:lnSpc>
            </a:pPr>
            <a:r>
              <a:rPr lang="vi" sz="1200" b="1">
                <a:latin typeface="Times New Roman"/>
              </a:rPr>
              <a:t>= (2/9) X (3/9) X (3/9) X (3/9) X (9/14)</a:t>
            </a:r>
          </a:p>
          <a:p>
            <a:pPr indent="0" algn="just">
              <a:lnSpc>
                <a:spcPts val="2232"/>
              </a:lnSpc>
            </a:pPr>
            <a:r>
              <a:rPr lang="vi" sz="1200" b="1">
                <a:latin typeface="Times New Roman"/>
              </a:rPr>
              <a:t>= (2/9) X (1/3) X (1/3) X (1/3) X (0.6429)</a:t>
            </a:r>
          </a:p>
          <a:p>
            <a:pPr marR="4140200" indent="0">
              <a:lnSpc>
                <a:spcPts val="2232"/>
              </a:lnSpc>
            </a:pPr>
            <a:r>
              <a:rPr lang="vi" sz="1200" b="1">
                <a:latin typeface="Times New Roman"/>
              </a:rPr>
              <a:t>= 0.00823 X 0.6429 = 0.0053 Lớp: NO</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066800" y="707136"/>
            <a:ext cx="3837432" cy="3054096"/>
          </a:xfrm>
          <a:prstGeom prst="rect">
            <a:avLst/>
          </a:prstGeom>
        </p:spPr>
        <p:txBody>
          <a:bodyPr lIns="0" tIns="0" rIns="0" bIns="0">
            <a:noAutofit/>
          </a:bodyPr>
          <a:lstStyle/>
          <a:p>
            <a:pPr indent="0">
              <a:lnSpc>
                <a:spcPts val="2232"/>
              </a:lnSpc>
            </a:pPr>
            <a:r>
              <a:rPr lang="vi" sz="1200">
                <a:latin typeface="Times New Roman"/>
              </a:rPr>
              <a:t>Tra bảng thống kê với điều kiện </a:t>
            </a:r>
            <a:r>
              <a:rPr lang="en-US" sz="1200">
                <a:latin typeface="Times New Roman"/>
              </a:rPr>
              <a:t>Play </a:t>
            </a:r>
            <a:r>
              <a:rPr lang="vi" sz="1200">
                <a:latin typeface="Times New Roman"/>
              </a:rPr>
              <a:t>= No (Tổng 5 mẫu):</a:t>
            </a:r>
          </a:p>
          <a:p>
            <a:pPr marL="254000" marR="2054860" indent="0">
              <a:lnSpc>
                <a:spcPts val="2232"/>
              </a:lnSpc>
            </a:pPr>
            <a:r>
              <a:rPr lang="vi" sz="1200">
                <a:latin typeface="Times New Roman"/>
              </a:rPr>
              <a:t>•    P(Sunny | No) = 3/5 . P(Cool | No) = 1/5</a:t>
            </a:r>
          </a:p>
          <a:p>
            <a:pPr marL="254000" indent="0" algn="just">
              <a:lnSpc>
                <a:spcPts val="2232"/>
              </a:lnSpc>
            </a:pPr>
            <a:r>
              <a:rPr lang="vi" sz="1200">
                <a:latin typeface="Times New Roman"/>
              </a:rPr>
              <a:t>•    P(High | No) = 4/5</a:t>
            </a:r>
          </a:p>
          <a:p>
            <a:pPr marR="2156460" indent="254000">
              <a:lnSpc>
                <a:spcPts val="2232"/>
              </a:lnSpc>
            </a:pPr>
            <a:r>
              <a:rPr lang="vi" sz="1200">
                <a:latin typeface="Times New Roman"/>
              </a:rPr>
              <a:t>•    P(True | No) = 3/5 </a:t>
            </a:r>
            <a:r>
              <a:rPr lang="vi" sz="1200" b="1">
                <a:latin typeface="Times New Roman"/>
              </a:rPr>
              <a:t>Tính P(X|No) X P(No):</a:t>
            </a:r>
          </a:p>
          <a:p>
            <a:pPr indent="0">
              <a:lnSpc>
                <a:spcPts val="2232"/>
              </a:lnSpc>
            </a:pPr>
            <a:r>
              <a:rPr lang="vi" sz="1200">
                <a:latin typeface="Times New Roman"/>
              </a:rPr>
              <a:t>= (3/5) X (1/5) X (4/5) X (3/5) X (5/14)</a:t>
            </a:r>
          </a:p>
          <a:p>
            <a:pPr indent="0">
              <a:lnSpc>
                <a:spcPts val="2232"/>
              </a:lnSpc>
            </a:pPr>
            <a:r>
              <a:rPr lang="vi" sz="1200">
                <a:latin typeface="Times New Roman"/>
              </a:rPr>
              <a:t>= 0.6 X 0.2 X 0.8 X 0.6 X 0.3571 = 0.0576 X 0.3571 = </a:t>
            </a:r>
            <a:r>
              <a:rPr lang="vi" sz="1200" b="1">
                <a:latin typeface="Times New Roman"/>
              </a:rPr>
              <a:t>0.0206</a:t>
            </a:r>
          </a:p>
          <a:p>
            <a:pPr indent="0">
              <a:lnSpc>
                <a:spcPts val="2232"/>
              </a:lnSpc>
            </a:pPr>
            <a:r>
              <a:rPr lang="vi" sz="1200">
                <a:latin typeface="Times New Roman"/>
              </a:rPr>
              <a:t>Bước 4: So sánh và Kết luận</a:t>
            </a:r>
          </a:p>
        </p:txBody>
      </p:sp>
      <p:graphicFrame>
        <p:nvGraphicFramePr>
          <p:cNvPr id="3" name="Table 2"/>
          <p:cNvGraphicFramePr>
            <a:graphicFrameLocks noGrp="1"/>
          </p:cNvGraphicFramePr>
          <p:nvPr/>
        </p:nvGraphicFramePr>
        <p:xfrm>
          <a:off x="1078992" y="3852672"/>
          <a:ext cx="5974080" cy="1362456"/>
        </p:xfrm>
        <a:graphic>
          <a:graphicData uri="http://schemas.openxmlformats.org/drawingml/2006/table">
            <a:tbl>
              <a:tblPr/>
              <a:tblGrid>
                <a:gridCol w="1597152">
                  <a:extLst>
                    <a:ext uri="{9D8B030D-6E8A-4147-A177-3AD203B41FA5}">
                      <a16:colId xmlns:a16="http://schemas.microsoft.com/office/drawing/2014/main" val="20000"/>
                    </a:ext>
                  </a:extLst>
                </a:gridCol>
                <a:gridCol w="2282952">
                  <a:extLst>
                    <a:ext uri="{9D8B030D-6E8A-4147-A177-3AD203B41FA5}">
                      <a16:colId xmlns:a16="http://schemas.microsoft.com/office/drawing/2014/main" val="20001"/>
                    </a:ext>
                  </a:extLst>
                </a:gridCol>
                <a:gridCol w="2093976">
                  <a:extLst>
                    <a:ext uri="{9D8B030D-6E8A-4147-A177-3AD203B41FA5}">
                      <a16:colId xmlns:a16="http://schemas.microsoft.com/office/drawing/2014/main" val="20002"/>
                    </a:ext>
                  </a:extLst>
                </a:gridCol>
              </a:tblGrid>
              <a:tr h="441960">
                <a:tc>
                  <a:txBody>
                    <a:bodyPr/>
                    <a:lstStyle/>
                    <a:p>
                      <a:pPr indent="0"/>
                      <a:r>
                        <a:rPr lang="vi" sz="1200" b="1">
                          <a:latin typeface="Times New Roman"/>
                        </a:rPr>
                        <a:t>Lớp </a:t>
                      </a:r>
                      <a:r>
                        <a:rPr lang="en-US" sz="1200" b="1">
                          <a:latin typeface="Times New Roman"/>
                        </a:rPr>
                        <a:t>(Class)</a:t>
                      </a:r>
                    </a:p>
                  </a:txBody>
                  <a:tcPr marL="0" marR="0" marT="0" marB="0" anchor="ctr">
                    <a:solidFill>
                      <a:srgbClr val="34485D"/>
                    </a:solidFill>
                  </a:tcPr>
                </a:tc>
                <a:tc>
                  <a:txBody>
                    <a:bodyPr/>
                    <a:lstStyle/>
                    <a:p>
                      <a:pPr indent="0"/>
                      <a:r>
                        <a:rPr lang="vi" sz="1200" b="1">
                          <a:latin typeface="Times New Roman"/>
                        </a:rPr>
                        <a:t>Điểm số tính toán</a:t>
                      </a:r>
                    </a:p>
                  </a:txBody>
                  <a:tcPr marL="0" marR="0" marT="0" marB="0" anchor="ctr">
                    <a:solidFill>
                      <a:srgbClr val="34485D"/>
                    </a:solidFill>
                  </a:tcPr>
                </a:tc>
                <a:tc>
                  <a:txBody>
                    <a:bodyPr/>
                    <a:lstStyle/>
                    <a:p>
                      <a:pPr indent="0"/>
                      <a:r>
                        <a:rPr lang="vi" sz="1200" b="1">
                          <a:latin typeface="Times New Roman"/>
                        </a:rPr>
                        <a:t>Kết quả so sánh</a:t>
                      </a:r>
                    </a:p>
                  </a:txBody>
                  <a:tcPr marL="0" marR="0" marT="0" marB="0" anchor="ctr">
                    <a:solidFill>
                      <a:srgbClr val="34485D"/>
                    </a:solidFill>
                  </a:tcPr>
                </a:tc>
                <a:extLst>
                  <a:ext uri="{0D108BD9-81ED-4DB2-BD59-A6C34878D82A}">
                    <a16:rowId xmlns:a16="http://schemas.microsoft.com/office/drawing/2014/main" val="10000"/>
                  </a:ext>
                </a:extLst>
              </a:tr>
              <a:tr h="423672">
                <a:tc>
                  <a:txBody>
                    <a:bodyPr/>
                    <a:lstStyle/>
                    <a:p>
                      <a:pPr indent="0"/>
                      <a:r>
                        <a:rPr lang="en-US" sz="1200">
                          <a:latin typeface="Times New Roman"/>
                        </a:rPr>
                        <a:t>Play </a:t>
                      </a:r>
                      <a:r>
                        <a:rPr lang="vi" sz="1200">
                          <a:latin typeface="Times New Roman"/>
                        </a:rPr>
                        <a:t>= </a:t>
                      </a:r>
                      <a:r>
                        <a:rPr lang="en-US" sz="1200">
                          <a:latin typeface="Times New Roman"/>
                        </a:rPr>
                        <a:t>Yes</a:t>
                      </a:r>
                    </a:p>
                  </a:txBody>
                  <a:tcPr marL="0" marR="0" marT="0" marB="0" anchor="ctr"/>
                </a:tc>
                <a:tc>
                  <a:txBody>
                    <a:bodyPr/>
                    <a:lstStyle/>
                    <a:p>
                      <a:pPr indent="0"/>
                      <a:r>
                        <a:rPr lang="vi" sz="1200">
                          <a:latin typeface="Times New Roman"/>
                        </a:rPr>
                        <a:t>0.0053</a:t>
                      </a:r>
                    </a:p>
                  </a:txBody>
                  <a:tcPr marL="0" marR="0" marT="0" marB="0" anchor="ctr"/>
                </a:tc>
                <a:tc>
                  <a:txBody>
                    <a:bodyPr/>
                    <a:lstStyle/>
                    <a:p>
                      <a:pPr indent="0"/>
                      <a:r>
                        <a:rPr lang="vi" sz="1200">
                          <a:latin typeface="Times New Roman"/>
                        </a:rPr>
                        <a:t>Thấp hơn</a:t>
                      </a:r>
                    </a:p>
                  </a:txBody>
                  <a:tcPr marL="0" marR="0" marT="0" marB="0" anchor="ctr"/>
                </a:tc>
                <a:extLst>
                  <a:ext uri="{0D108BD9-81ED-4DB2-BD59-A6C34878D82A}">
                    <a16:rowId xmlns:a16="http://schemas.microsoft.com/office/drawing/2014/main" val="10001"/>
                  </a:ext>
                </a:extLst>
              </a:tr>
              <a:tr h="496824">
                <a:tc>
                  <a:txBody>
                    <a:bodyPr/>
                    <a:lstStyle/>
                    <a:p>
                      <a:pPr indent="0"/>
                      <a:r>
                        <a:rPr lang="en-US" sz="1200">
                          <a:latin typeface="Times New Roman"/>
                        </a:rPr>
                        <a:t>Play = No</a:t>
                      </a:r>
                    </a:p>
                  </a:txBody>
                  <a:tcPr marL="0" marR="0" marT="0" marB="0" anchor="ctr"/>
                </a:tc>
                <a:tc>
                  <a:txBody>
                    <a:bodyPr/>
                    <a:lstStyle/>
                    <a:p>
                      <a:pPr indent="0"/>
                      <a:r>
                        <a:rPr lang="vi" sz="1200" b="1">
                          <a:latin typeface="Times New Roman"/>
                        </a:rPr>
                        <a:t>0.0206</a:t>
                      </a:r>
                    </a:p>
                  </a:txBody>
                  <a:tcPr marL="0" marR="0" marT="0" marB="0" anchor="ctr"/>
                </a:tc>
                <a:tc>
                  <a:txBody>
                    <a:bodyPr/>
                    <a:lstStyle/>
                    <a:p>
                      <a:pPr indent="0"/>
                      <a:r>
                        <a:rPr lang="vi" sz="1200" b="1">
                          <a:latin typeface="Times New Roman"/>
                        </a:rPr>
                        <a:t>Cao hơn</a:t>
                      </a:r>
                    </a:p>
                  </a:txBody>
                  <a:tcPr marL="0" marR="0" marT="0" marB="0" anchor="ctr"/>
                </a:tc>
                <a:extLst>
                  <a:ext uri="{0D108BD9-81ED-4DB2-BD59-A6C34878D82A}">
                    <a16:rowId xmlns:a16="http://schemas.microsoft.com/office/drawing/2014/main" val="10002"/>
                  </a:ext>
                </a:extLst>
              </a:tr>
            </a:tbl>
          </a:graphicData>
        </a:graphic>
      </p:graphicFrame>
      <p:sp>
        <p:nvSpPr>
          <p:cNvPr id="4" name="Rectangle 3"/>
          <p:cNvSpPr/>
          <p:nvPr/>
        </p:nvSpPr>
        <p:spPr>
          <a:xfrm>
            <a:off x="1066800" y="5224272"/>
            <a:ext cx="3959352" cy="454152"/>
          </a:xfrm>
          <a:prstGeom prst="rect">
            <a:avLst/>
          </a:prstGeom>
        </p:spPr>
        <p:txBody>
          <a:bodyPr lIns="0" tIns="0" rIns="0" bIns="0">
            <a:noAutofit/>
          </a:bodyPr>
          <a:lstStyle/>
          <a:p>
            <a:pPr indent="0">
              <a:spcAft>
                <a:spcPts val="840"/>
              </a:spcAft>
            </a:pPr>
            <a:r>
              <a:rPr lang="vi" sz="1200">
                <a:latin typeface="Times New Roman"/>
              </a:rPr>
              <a:t>Vì 0.0206 &gt; 0.0053</a:t>
            </a:r>
          </a:p>
          <a:p>
            <a:pPr indent="0"/>
            <a:r>
              <a:rPr lang="vi" sz="1200" b="1">
                <a:latin typeface="Times New Roman"/>
              </a:rPr>
              <a:t>Kết luận: Dự đoán nhãn cho </a:t>
            </a:r>
            <a:r>
              <a:rPr lang="en-US" sz="1200" b="1">
                <a:latin typeface="Times New Roman"/>
              </a:rPr>
              <a:t>ID </a:t>
            </a:r>
            <a:r>
              <a:rPr lang="vi" sz="1200" b="1">
                <a:latin typeface="Times New Roman"/>
              </a:rPr>
              <a:t>15 là "No"</a:t>
            </a:r>
          </a:p>
        </p:txBody>
      </p:sp>
      <p:sp>
        <p:nvSpPr>
          <p:cNvPr id="5" name="Rectangle 4"/>
          <p:cNvSpPr/>
          <p:nvPr/>
        </p:nvSpPr>
        <p:spPr>
          <a:xfrm>
            <a:off x="1066800" y="6096000"/>
            <a:ext cx="3959352" cy="3127248"/>
          </a:xfrm>
          <a:prstGeom prst="rect">
            <a:avLst/>
          </a:prstGeom>
        </p:spPr>
        <p:txBody>
          <a:bodyPr lIns="0" tIns="0" rIns="0" bIns="0">
            <a:noAutofit/>
          </a:bodyPr>
          <a:lstStyle/>
          <a:p>
            <a:pPr indent="0">
              <a:lnSpc>
                <a:spcPts val="3000"/>
              </a:lnSpc>
              <a:spcBef>
                <a:spcPts val="2100"/>
              </a:spcBef>
            </a:pPr>
            <a:r>
              <a:rPr lang="vi" sz="1500">
                <a:solidFill>
                  <a:srgbClr val="2980B9"/>
                </a:solidFill>
                <a:latin typeface="Times New Roman"/>
              </a:rPr>
              <a:t>Ex 6: </a:t>
            </a:r>
            <a:r>
              <a:rPr lang="en-US" sz="1500">
                <a:solidFill>
                  <a:srgbClr val="2980B9"/>
                </a:solidFill>
                <a:latin typeface="Times New Roman"/>
              </a:rPr>
              <a:t>Decision tree</a:t>
            </a:r>
          </a:p>
          <a:p>
            <a:pPr indent="0" algn="just">
              <a:lnSpc>
                <a:spcPts val="3000"/>
              </a:lnSpc>
            </a:pPr>
            <a:r>
              <a:rPr lang="vi" sz="1200" b="1">
                <a:latin typeface="Times New Roman"/>
              </a:rPr>
              <a:t>1. Tóm tắt dữ liệu</a:t>
            </a:r>
          </a:p>
          <a:p>
            <a:pPr indent="0" algn="just">
              <a:lnSpc>
                <a:spcPts val="2232"/>
              </a:lnSpc>
            </a:pPr>
            <a:r>
              <a:rPr lang="vi" sz="1200">
                <a:latin typeface="Times New Roman"/>
              </a:rPr>
              <a:t>Dựa trên bảng dữ liệu đầu vào, ta có thống kê sau:</a:t>
            </a:r>
          </a:p>
          <a:p>
            <a:pPr marL="254000" indent="0" algn="just">
              <a:lnSpc>
                <a:spcPts val="2232"/>
              </a:lnSpc>
            </a:pPr>
            <a:r>
              <a:rPr lang="vi" sz="1200">
                <a:latin typeface="Times New Roman"/>
              </a:rPr>
              <a:t>•    Tổng số mẫu </a:t>
            </a:r>
            <a:r>
              <a:rPr lang="en-US" sz="1200">
                <a:latin typeface="Times New Roman"/>
              </a:rPr>
              <a:t>(instances): </a:t>
            </a:r>
            <a:r>
              <a:rPr lang="vi" sz="1200" b="1">
                <a:latin typeface="Times New Roman"/>
              </a:rPr>
              <a:t>N = 9</a:t>
            </a:r>
          </a:p>
          <a:p>
            <a:pPr marL="254000" indent="0" algn="just">
              <a:lnSpc>
                <a:spcPts val="2232"/>
              </a:lnSpc>
            </a:pPr>
            <a:r>
              <a:rPr lang="vi" sz="1200">
                <a:latin typeface="Times New Roman"/>
              </a:rPr>
              <a:t>•    Số lượng lớp (+): </a:t>
            </a:r>
            <a:r>
              <a:rPr lang="vi" sz="1200" b="1">
                <a:latin typeface="Times New Roman"/>
              </a:rPr>
              <a:t>4 </a:t>
            </a:r>
            <a:r>
              <a:rPr lang="en-US" sz="1200">
                <a:latin typeface="Times New Roman"/>
              </a:rPr>
              <a:t>(Instance </a:t>
            </a:r>
            <a:r>
              <a:rPr lang="vi" sz="1200">
                <a:latin typeface="Times New Roman"/>
              </a:rPr>
              <a:t>1, 2, 4, 8) ^ p+ = 4/9</a:t>
            </a:r>
          </a:p>
          <a:p>
            <a:pPr marL="254000" indent="0" algn="just">
              <a:lnSpc>
                <a:spcPts val="2232"/>
              </a:lnSpc>
            </a:pPr>
            <a:r>
              <a:rPr lang="vi" sz="1200">
                <a:latin typeface="Times New Roman"/>
              </a:rPr>
              <a:t>•    Số lượng lớp (-): </a:t>
            </a:r>
            <a:r>
              <a:rPr lang="vi" sz="1200" b="1">
                <a:latin typeface="Times New Roman"/>
              </a:rPr>
              <a:t>5 </a:t>
            </a:r>
            <a:r>
              <a:rPr lang="en-US" sz="1200">
                <a:latin typeface="Times New Roman"/>
              </a:rPr>
              <a:t>(Instance </a:t>
            </a:r>
            <a:r>
              <a:rPr lang="vi" sz="1200">
                <a:latin typeface="Times New Roman"/>
              </a:rPr>
              <a:t>3, 5, 6, 7, 9) ^ p- = 5/9</a:t>
            </a:r>
          </a:p>
          <a:p>
            <a:pPr indent="0" algn="just">
              <a:lnSpc>
                <a:spcPts val="2232"/>
              </a:lnSpc>
            </a:pPr>
            <a:r>
              <a:rPr lang="vi" sz="1200" b="1">
                <a:latin typeface="Times New Roman"/>
              </a:rPr>
              <a:t>(a) Tính </a:t>
            </a:r>
            <a:r>
              <a:rPr lang="en-US" sz="1200" b="1">
                <a:latin typeface="Times New Roman"/>
              </a:rPr>
              <a:t>Entropy </a:t>
            </a:r>
            <a:r>
              <a:rPr lang="vi" sz="1200" b="1">
                <a:latin typeface="Times New Roman"/>
              </a:rPr>
              <a:t>của tập dữ liệu</a:t>
            </a:r>
          </a:p>
          <a:p>
            <a:pPr indent="0" algn="just">
              <a:lnSpc>
                <a:spcPts val="2232"/>
              </a:lnSpc>
            </a:pPr>
            <a:r>
              <a:rPr lang="vi" sz="1200">
                <a:latin typeface="Times New Roman"/>
              </a:rPr>
              <a:t>Công thức: </a:t>
            </a:r>
            <a:r>
              <a:rPr lang="vi" sz="1200" b="1">
                <a:latin typeface="Times New Roman"/>
              </a:rPr>
              <a:t>H(S) = -p+log2(p+) - p-log2(p-)</a:t>
            </a:r>
          </a:p>
          <a:p>
            <a:pPr indent="0" algn="just">
              <a:lnSpc>
                <a:spcPts val="2232"/>
              </a:lnSpc>
            </a:pPr>
            <a:r>
              <a:rPr lang="vi" sz="1200">
                <a:latin typeface="Times New Roman"/>
              </a:rPr>
              <a:t>Thay số:</a:t>
            </a:r>
          </a:p>
          <a:p>
            <a:pPr marL="254000" indent="0" algn="just">
              <a:lnSpc>
                <a:spcPts val="2232"/>
              </a:lnSpc>
            </a:pPr>
            <a:r>
              <a:rPr lang="vi" sz="1200">
                <a:latin typeface="Times New Roman"/>
              </a:rPr>
              <a:t>•    p+ = 4/9 &amp;approx; 0.444</a:t>
            </a:r>
          </a:p>
          <a:p>
            <a:pPr marL="254000" indent="0" algn="just">
              <a:lnSpc>
                <a:spcPts val="2232"/>
              </a:lnSpc>
            </a:pPr>
            <a:r>
              <a:rPr lang="vi" sz="1200">
                <a:latin typeface="Times New Roman"/>
              </a:rPr>
              <a:t>•    p- = 5/9 &amp;approx; 0.556</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066800" y="737616"/>
            <a:ext cx="3209544" cy="1898904"/>
          </a:xfrm>
          <a:prstGeom prst="rect">
            <a:avLst/>
          </a:prstGeom>
        </p:spPr>
        <p:txBody>
          <a:bodyPr lIns="0" tIns="0" rIns="0" bIns="0">
            <a:noAutofit/>
          </a:bodyPr>
          <a:lstStyle/>
          <a:p>
            <a:pPr indent="0" algn="just">
              <a:lnSpc>
                <a:spcPts val="2232"/>
              </a:lnSpc>
            </a:pPr>
            <a:r>
              <a:rPr lang="en-US" sz="1200">
                <a:latin typeface="Times New Roman"/>
              </a:rPr>
              <a:t>H(S) = -(4/9)log2(4/9) - (5/9)log2(5/9)</a:t>
            </a:r>
          </a:p>
          <a:p>
            <a:pPr indent="0" algn="just">
              <a:lnSpc>
                <a:spcPts val="2232"/>
              </a:lnSpc>
            </a:pPr>
            <a:r>
              <a:rPr lang="en-US" sz="1200">
                <a:latin typeface="Times New Roman"/>
              </a:rPr>
              <a:t>H(S) &amp;approx; -(0.444)(-1.17) - (0.556)(-0.848)</a:t>
            </a:r>
          </a:p>
          <a:p>
            <a:pPr indent="0" algn="just">
              <a:lnSpc>
                <a:spcPts val="2232"/>
              </a:lnSpc>
            </a:pPr>
            <a:r>
              <a:rPr lang="en-US" sz="1200">
                <a:latin typeface="Times New Roman"/>
              </a:rPr>
              <a:t>H(S) &amp;approx; 0.519 + 0.472</a:t>
            </a:r>
          </a:p>
          <a:p>
            <a:pPr indent="0" algn="just">
              <a:lnSpc>
                <a:spcPts val="2232"/>
              </a:lnSpc>
            </a:pPr>
            <a:r>
              <a:rPr lang="vi" sz="1200">
                <a:latin typeface="Times New Roman"/>
              </a:rPr>
              <a:t>Kết quả: </a:t>
            </a:r>
            <a:r>
              <a:rPr lang="en-US" sz="1200" b="1">
                <a:latin typeface="Times New Roman"/>
              </a:rPr>
              <a:t>H(S) &amp;approx; 0.991</a:t>
            </a:r>
          </a:p>
          <a:p>
            <a:pPr indent="0" algn="just">
              <a:lnSpc>
                <a:spcPts val="2232"/>
              </a:lnSpc>
            </a:pPr>
            <a:r>
              <a:rPr lang="en-US" sz="1200" b="1">
                <a:latin typeface="Times New Roman"/>
              </a:rPr>
              <a:t>(b) </a:t>
            </a:r>
            <a:r>
              <a:rPr lang="vi" sz="1200" b="1">
                <a:latin typeface="Times New Roman"/>
              </a:rPr>
              <a:t>Tính </a:t>
            </a:r>
            <a:r>
              <a:rPr lang="en-US" sz="1200" b="1">
                <a:latin typeface="Times New Roman"/>
              </a:rPr>
              <a:t>Information Gain </a:t>
            </a:r>
            <a:r>
              <a:rPr lang="vi" sz="1200" b="1">
                <a:latin typeface="Times New Roman"/>
              </a:rPr>
              <a:t>(ai và </a:t>
            </a:r>
            <a:r>
              <a:rPr lang="en-US" sz="1200" b="1">
                <a:latin typeface="Times New Roman"/>
              </a:rPr>
              <a:t>a2)</a:t>
            </a:r>
          </a:p>
          <a:p>
            <a:pPr indent="0" algn="just">
              <a:lnSpc>
                <a:spcPts val="2232"/>
              </a:lnSpc>
            </a:pPr>
            <a:r>
              <a:rPr lang="vi" sz="1200" b="1">
                <a:latin typeface="Times New Roman"/>
              </a:rPr>
              <a:t>Thuộc tính ai</a:t>
            </a:r>
          </a:p>
          <a:p>
            <a:pPr indent="0" algn="just">
              <a:lnSpc>
                <a:spcPts val="2232"/>
              </a:lnSpc>
            </a:pPr>
            <a:r>
              <a:rPr lang="vi" sz="1200">
                <a:latin typeface="Times New Roman"/>
              </a:rPr>
              <a:t>Chia tập </a:t>
            </a:r>
            <a:r>
              <a:rPr lang="en-US" sz="1200">
                <a:latin typeface="Times New Roman"/>
              </a:rPr>
              <a:t>S </a:t>
            </a:r>
            <a:r>
              <a:rPr lang="vi" sz="1200">
                <a:latin typeface="Times New Roman"/>
              </a:rPr>
              <a:t>thành </a:t>
            </a:r>
            <a:r>
              <a:rPr lang="en-US" sz="1200">
                <a:latin typeface="Times New Roman"/>
              </a:rPr>
              <a:t>2 </a:t>
            </a:r>
            <a:r>
              <a:rPr lang="vi" sz="1200">
                <a:latin typeface="Times New Roman"/>
              </a:rPr>
              <a:t>nhánh dựa trên a</a:t>
            </a:r>
            <a:r>
              <a:rPr lang="vi" sz="800">
                <a:latin typeface="Times New Roman"/>
              </a:rPr>
              <a:t>1</a:t>
            </a:r>
            <a:r>
              <a:rPr lang="vi" sz="1200">
                <a:latin typeface="Times New Roman"/>
              </a:rPr>
              <a:t>:</a:t>
            </a:r>
          </a:p>
        </p:txBody>
      </p:sp>
      <p:graphicFrame>
        <p:nvGraphicFramePr>
          <p:cNvPr id="3" name="Table 2"/>
          <p:cNvGraphicFramePr>
            <a:graphicFrameLocks noGrp="1"/>
          </p:cNvGraphicFramePr>
          <p:nvPr/>
        </p:nvGraphicFramePr>
        <p:xfrm>
          <a:off x="1133856" y="2773680"/>
          <a:ext cx="4453128" cy="2520696"/>
        </p:xfrm>
        <a:graphic>
          <a:graphicData uri="http://schemas.openxmlformats.org/drawingml/2006/table">
            <a:tbl>
              <a:tblPr/>
              <a:tblGrid>
                <a:gridCol w="691896">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gridCol w="1597152">
                  <a:extLst>
                    <a:ext uri="{9D8B030D-6E8A-4147-A177-3AD203B41FA5}">
                      <a16:colId xmlns:a16="http://schemas.microsoft.com/office/drawing/2014/main" val="20003"/>
                    </a:ext>
                  </a:extLst>
                </a:gridCol>
              </a:tblGrid>
              <a:tr h="377952">
                <a:tc>
                  <a:txBody>
                    <a:bodyPr/>
                    <a:lstStyle/>
                    <a:p>
                      <a:pPr indent="0"/>
                      <a:r>
                        <a:rPr lang="vi" sz="1200" b="1">
                          <a:latin typeface="Times New Roman"/>
                        </a:rPr>
                        <a:t>Giá trị</a:t>
                      </a:r>
                    </a:p>
                  </a:txBody>
                  <a:tcPr marL="0" marR="0" marT="0" marB="0" anchor="ctr">
                    <a:solidFill>
                      <a:srgbClr val="0056B3"/>
                    </a:solidFill>
                  </a:tcPr>
                </a:tc>
                <a:tc rowSpan="2">
                  <a:txBody>
                    <a:bodyPr/>
                    <a:lstStyle/>
                    <a:p>
                      <a:pPr marL="101600" indent="0"/>
                      <a:r>
                        <a:rPr lang="vi" sz="1200" b="1">
                          <a:latin typeface="Times New Roman"/>
                        </a:rPr>
                        <a:t>Số lượng mẫu</a:t>
                      </a:r>
                    </a:p>
                  </a:txBody>
                  <a:tcPr marL="0" marR="0" marT="0" marB="0" anchor="ctr">
                    <a:solidFill>
                      <a:srgbClr val="0056B3"/>
                    </a:solidFill>
                  </a:tcPr>
                </a:tc>
                <a:tc rowSpan="2">
                  <a:txBody>
                    <a:bodyPr/>
                    <a:lstStyle/>
                    <a:p>
                      <a:pPr marL="114300" indent="0">
                        <a:lnSpc>
                          <a:spcPts val="2496"/>
                        </a:lnSpc>
                      </a:pPr>
                      <a:r>
                        <a:rPr lang="vi" sz="1200" b="1">
                          <a:latin typeface="Times New Roman"/>
                        </a:rPr>
                        <a:t>Phân bố </a:t>
                      </a:r>
                      <a:r>
                        <a:rPr lang="vi" sz="1200" b="1" baseline="30000">
                          <a:latin typeface="Times New Roman"/>
                        </a:rPr>
                        <a:t>lớ</a:t>
                      </a:r>
                      <a:r>
                        <a:rPr lang="vi" sz="1200" b="1">
                          <a:latin typeface="Times New Roman"/>
                        </a:rPr>
                        <a:t>p </a:t>
                      </a:r>
                      <a:r>
                        <a:rPr lang="vi" sz="1200" b="1" baseline="30000">
                          <a:latin typeface="Times New Roman"/>
                        </a:rPr>
                        <a:t>(</a:t>
                      </a:r>
                      <a:r>
                        <a:rPr lang="vi" sz="1200" b="1">
                          <a:latin typeface="Times New Roman"/>
                        </a:rPr>
                        <a:t>+&gt; </a:t>
                      </a:r>
                      <a:r>
                        <a:rPr lang="vi" sz="1200" b="1" baseline="30000">
                          <a:latin typeface="Times New Roman"/>
                        </a:rPr>
                        <a:t>-)</a:t>
                      </a:r>
                    </a:p>
                  </a:txBody>
                  <a:tcPr marL="0" marR="0" marT="0" marB="0">
                    <a:solidFill>
                      <a:srgbClr val="0056B3"/>
                    </a:solidFill>
                  </a:tcPr>
                </a:tc>
                <a:tc rowSpan="2">
                  <a:txBody>
                    <a:bodyPr/>
                    <a:lstStyle/>
                    <a:p>
                      <a:pPr marL="101600" indent="0" algn="just"/>
                      <a:r>
                        <a:rPr lang="en-US" sz="1200" b="1">
                          <a:latin typeface="Times New Roman"/>
                        </a:rPr>
                        <a:t>Entropy </a:t>
                      </a:r>
                      <a:r>
                        <a:rPr lang="vi" sz="1200" b="1">
                          <a:latin typeface="Times New Roman"/>
                        </a:rPr>
                        <a:t>thành phần</a:t>
                      </a:r>
                    </a:p>
                  </a:txBody>
                  <a:tcPr marL="0" marR="0" marT="0" marB="0" anchor="ctr">
                    <a:solidFill>
                      <a:srgbClr val="0056B3"/>
                    </a:solidFill>
                  </a:tcPr>
                </a:tc>
                <a:extLst>
                  <a:ext uri="{0D108BD9-81ED-4DB2-BD59-A6C34878D82A}">
                    <a16:rowId xmlns:a16="http://schemas.microsoft.com/office/drawing/2014/main" val="10000"/>
                  </a:ext>
                </a:extLst>
              </a:tr>
              <a:tr h="329184">
                <a:tc>
                  <a:txBody>
                    <a:bodyPr/>
                    <a:lstStyle/>
                    <a:p>
                      <a:pPr indent="0"/>
                      <a:r>
                        <a:rPr lang="vi" sz="1200" b="1">
                          <a:latin typeface="Times New Roman"/>
                        </a:rPr>
                        <a:t>ai</a:t>
                      </a:r>
                    </a:p>
                  </a:txBody>
                  <a:tcPr marL="0" marR="0" marT="0" marB="0">
                    <a:solidFill>
                      <a:srgbClr val="0056B3"/>
                    </a:solidFill>
                  </a:tcPr>
                </a:tc>
                <a:tc vMerge="1">
                  <a:txBody>
                    <a:bodyPr/>
                    <a:lstStyle/>
                    <a:p>
                      <a:endParaRPr sz="1600"/>
                    </a:p>
                  </a:txBody>
                  <a:tcPr marL="0" marR="0" marT="0" marB="0"/>
                </a:tc>
                <a:tc vMerge="1">
                  <a:txBody>
                    <a:bodyPr/>
                    <a:lstStyle/>
                    <a:p>
                      <a:endParaRPr sz="1600"/>
                    </a:p>
                  </a:txBody>
                  <a:tcPr marL="0" marR="0" marT="0" marB="0"/>
                </a:tc>
                <a:tc vMerge="1">
                  <a:txBody>
                    <a:bodyPr/>
                    <a:lstStyle/>
                    <a:p>
                      <a:endParaRPr sz="1600"/>
                    </a:p>
                  </a:txBody>
                  <a:tcPr marL="0" marR="0" marT="0" marB="0"/>
                </a:tc>
                <a:extLst>
                  <a:ext uri="{0D108BD9-81ED-4DB2-BD59-A6C34878D82A}">
                    <a16:rowId xmlns:a16="http://schemas.microsoft.com/office/drawing/2014/main" val="10001"/>
                  </a:ext>
                </a:extLst>
              </a:tr>
              <a:tr h="1014984">
                <a:tc>
                  <a:txBody>
                    <a:bodyPr/>
                    <a:lstStyle/>
                    <a:p>
                      <a:pPr indent="0">
                        <a:spcAft>
                          <a:spcPts val="840"/>
                        </a:spcAft>
                      </a:pPr>
                      <a:r>
                        <a:rPr lang="vi" sz="1200">
                          <a:latin typeface="Times New Roman"/>
                        </a:rPr>
                        <a:t>T</a:t>
                      </a:r>
                    </a:p>
                    <a:p>
                      <a:pPr indent="0"/>
                      <a:r>
                        <a:rPr lang="vi" sz="1200">
                          <a:latin typeface="Times New Roman"/>
                        </a:rPr>
                        <a:t>(True)</a:t>
                      </a:r>
                    </a:p>
                  </a:txBody>
                  <a:tcPr marL="0" marR="0" marT="0" marB="0" anchor="ctr"/>
                </a:tc>
                <a:tc>
                  <a:txBody>
                    <a:bodyPr/>
                    <a:lstStyle/>
                    <a:p>
                      <a:pPr marL="101600" indent="0">
                        <a:lnSpc>
                          <a:spcPts val="2208"/>
                        </a:lnSpc>
                      </a:pPr>
                      <a:r>
                        <a:rPr lang="vi" sz="1200">
                          <a:latin typeface="Times New Roman"/>
                        </a:rPr>
                        <a:t>4 (Instance 1,2,3,8)</a:t>
                      </a:r>
                    </a:p>
                  </a:txBody>
                  <a:tcPr marL="0" marR="0" marT="0" marB="0" anchor="ctr"/>
                </a:tc>
                <a:tc>
                  <a:txBody>
                    <a:bodyPr/>
                    <a:lstStyle/>
                    <a:p>
                      <a:pPr marL="114300" indent="0"/>
                      <a:r>
                        <a:rPr lang="vi" sz="1200">
                          <a:latin typeface="Times New Roman"/>
                        </a:rPr>
                        <a:t>3 (+), 1 (-)</a:t>
                      </a:r>
                    </a:p>
                  </a:txBody>
                  <a:tcPr marL="0" marR="0" marT="0" marB="0" anchor="ctr"/>
                </a:tc>
                <a:tc>
                  <a:txBody>
                    <a:bodyPr/>
                    <a:lstStyle/>
                    <a:p>
                      <a:pPr marL="101600" indent="0" algn="just">
                        <a:lnSpc>
                          <a:spcPts val="2232"/>
                        </a:lnSpc>
                      </a:pPr>
                      <a:r>
                        <a:rPr lang="vi" sz="1200">
                          <a:latin typeface="Times New Roman"/>
                        </a:rPr>
                        <a:t>H(T) = -(3/4)log2(3/4) (1/4)log2(1/4)</a:t>
                      </a:r>
                    </a:p>
                    <a:p>
                      <a:pPr marL="101600" indent="0" algn="just">
                        <a:lnSpc>
                          <a:spcPts val="2232"/>
                        </a:lnSpc>
                      </a:pPr>
                      <a:r>
                        <a:rPr lang="vi" sz="1200">
                          <a:latin typeface="Times New Roman"/>
                        </a:rPr>
                        <a:t>= </a:t>
                      </a:r>
                      <a:r>
                        <a:rPr lang="vi" sz="1200" b="1">
                          <a:latin typeface="Times New Roman"/>
                        </a:rPr>
                        <a:t>0.811</a:t>
                      </a:r>
                    </a:p>
                  </a:txBody>
                  <a:tcPr marL="0" marR="0" marT="0" marB="0" anchor="ctr"/>
                </a:tc>
                <a:extLst>
                  <a:ext uri="{0D108BD9-81ED-4DB2-BD59-A6C34878D82A}">
                    <a16:rowId xmlns:a16="http://schemas.microsoft.com/office/drawing/2014/main" val="10002"/>
                  </a:ext>
                </a:extLst>
              </a:tr>
              <a:tr h="615696">
                <a:tc>
                  <a:txBody>
                    <a:bodyPr/>
                    <a:lstStyle/>
                    <a:p>
                      <a:pPr indent="0"/>
                      <a:r>
                        <a:rPr lang="vi" sz="1200">
                          <a:latin typeface="Times New Roman"/>
                        </a:rPr>
                        <a:t>F</a:t>
                      </a:r>
                    </a:p>
                  </a:txBody>
                  <a:tcPr marL="0" marR="0" marT="0" marB="0" anchor="b"/>
                </a:tc>
                <a:tc>
                  <a:txBody>
                    <a:bodyPr/>
                    <a:lstStyle/>
                    <a:p>
                      <a:pPr marL="101600" indent="0"/>
                      <a:r>
                        <a:rPr lang="vi" sz="1200">
                          <a:latin typeface="Times New Roman"/>
                        </a:rPr>
                        <a:t>5 (Instance</a:t>
                      </a:r>
                    </a:p>
                  </a:txBody>
                  <a:tcPr marL="0" marR="0" marT="0" marB="0" anchor="b"/>
                </a:tc>
                <a:tc rowSpan="2">
                  <a:txBody>
                    <a:bodyPr/>
                    <a:lstStyle/>
                    <a:p>
                      <a:pPr marL="114300" indent="0"/>
                      <a:r>
                        <a:rPr lang="vi" sz="1200">
                          <a:latin typeface="Times New Roman"/>
                        </a:rPr>
                        <a:t>1 (+), 4 (-)</a:t>
                      </a:r>
                    </a:p>
                  </a:txBody>
                  <a:tcPr marL="0" marR="0" marT="0" marB="0" anchor="b"/>
                </a:tc>
                <a:tc rowSpan="2">
                  <a:txBody>
                    <a:bodyPr/>
                    <a:lstStyle/>
                    <a:p>
                      <a:pPr marL="101600" indent="0" algn="just">
                        <a:lnSpc>
                          <a:spcPts val="2232"/>
                        </a:lnSpc>
                      </a:pPr>
                      <a:r>
                        <a:rPr lang="vi" sz="1200">
                          <a:latin typeface="Times New Roman"/>
                        </a:rPr>
                        <a:t>H(F) = -(1/5)log2(1/5) (4/5)log2(4/5)</a:t>
                      </a:r>
                    </a:p>
                  </a:txBody>
                  <a:tcPr marL="0" marR="0" marT="0" marB="0" anchor="ctr"/>
                </a:tc>
                <a:extLst>
                  <a:ext uri="{0D108BD9-81ED-4DB2-BD59-A6C34878D82A}">
                    <a16:rowId xmlns:a16="http://schemas.microsoft.com/office/drawing/2014/main" val="10003"/>
                  </a:ext>
                </a:extLst>
              </a:tr>
              <a:tr h="179832">
                <a:tc>
                  <a:txBody>
                    <a:bodyPr/>
                    <a:lstStyle/>
                    <a:p>
                      <a:pPr indent="0"/>
                      <a:r>
                        <a:rPr lang="en-US" sz="1200">
                          <a:latin typeface="Times New Roman"/>
                        </a:rPr>
                        <a:t>(False)</a:t>
                      </a:r>
                    </a:p>
                  </a:txBody>
                  <a:tcPr marL="0" marR="0" marT="0" marB="0"/>
                </a:tc>
                <a:tc>
                  <a:txBody>
                    <a:bodyPr/>
                    <a:lstStyle/>
                    <a:p>
                      <a:pPr marL="101600" indent="0"/>
                      <a:r>
                        <a:rPr lang="vi" sz="1200">
                          <a:latin typeface="Times New Roman"/>
                        </a:rPr>
                        <a:t>4,5,6,7,9)</a:t>
                      </a:r>
                    </a:p>
                  </a:txBody>
                  <a:tcPr marL="0" marR="0" marT="0" marB="0"/>
                </a:tc>
                <a:tc vMerge="1">
                  <a:txBody>
                    <a:bodyPr/>
                    <a:lstStyle/>
                    <a:p>
                      <a:endParaRPr sz="900"/>
                    </a:p>
                  </a:txBody>
                  <a:tcPr marL="0" marR="0" marT="0" marB="0"/>
                </a:tc>
                <a:tc vMerge="1">
                  <a:txBody>
                    <a:bodyPr/>
                    <a:lstStyle/>
                    <a:p>
                      <a:endParaRPr sz="900"/>
                    </a:p>
                  </a:txBody>
                  <a:tcPr marL="0" marR="0" marT="0" marB="0"/>
                </a:tc>
                <a:extLst>
                  <a:ext uri="{0D108BD9-81ED-4DB2-BD59-A6C34878D82A}">
                    <a16:rowId xmlns:a16="http://schemas.microsoft.com/office/drawing/2014/main" val="10004"/>
                  </a:ext>
                </a:extLst>
              </a:tr>
            </a:tbl>
          </a:graphicData>
        </a:graphic>
      </p:graphicFrame>
      <p:sp>
        <p:nvSpPr>
          <p:cNvPr id="4" name="Rectangle 3"/>
          <p:cNvSpPr/>
          <p:nvPr/>
        </p:nvSpPr>
        <p:spPr>
          <a:xfrm>
            <a:off x="4072128" y="5236464"/>
            <a:ext cx="527304" cy="149352"/>
          </a:xfrm>
          <a:prstGeom prst="rect">
            <a:avLst/>
          </a:prstGeom>
        </p:spPr>
        <p:txBody>
          <a:bodyPr wrap="none" lIns="0" tIns="0" rIns="0" bIns="0">
            <a:noAutofit/>
          </a:bodyPr>
          <a:lstStyle/>
          <a:p>
            <a:pPr indent="0"/>
            <a:r>
              <a:rPr lang="vi" sz="1200" b="1">
                <a:latin typeface="Times New Roman"/>
              </a:rPr>
              <a:t>= 0.722</a:t>
            </a:r>
          </a:p>
        </p:txBody>
      </p:sp>
      <p:sp>
        <p:nvSpPr>
          <p:cNvPr id="5" name="Rectangle 4"/>
          <p:cNvSpPr/>
          <p:nvPr/>
        </p:nvSpPr>
        <p:spPr>
          <a:xfrm>
            <a:off x="1066800" y="5626608"/>
            <a:ext cx="3581400" cy="1609344"/>
          </a:xfrm>
          <a:prstGeom prst="rect">
            <a:avLst/>
          </a:prstGeom>
        </p:spPr>
        <p:txBody>
          <a:bodyPr lIns="0" tIns="0" rIns="0" bIns="0">
            <a:noAutofit/>
          </a:bodyPr>
          <a:lstStyle/>
          <a:p>
            <a:pPr indent="0" algn="just">
              <a:lnSpc>
                <a:spcPts val="2232"/>
              </a:lnSpc>
              <a:spcBef>
                <a:spcPts val="1260"/>
              </a:spcBef>
            </a:pPr>
            <a:r>
              <a:rPr lang="vi" sz="1200" b="1">
                <a:latin typeface="Times New Roman"/>
              </a:rPr>
              <a:t>Tính Gain(S, a</a:t>
            </a:r>
            <a:r>
              <a:rPr lang="vi" sz="1200">
                <a:latin typeface="Times New Roman"/>
              </a:rPr>
              <a:t>i</a:t>
            </a:r>
            <a:r>
              <a:rPr lang="vi" sz="1200" b="1">
                <a:latin typeface="Times New Roman"/>
              </a:rPr>
              <a:t>):</a:t>
            </a:r>
          </a:p>
          <a:p>
            <a:pPr indent="0" algn="just">
              <a:lnSpc>
                <a:spcPts val="2232"/>
              </a:lnSpc>
            </a:pPr>
            <a:r>
              <a:rPr lang="vi" sz="1200">
                <a:latin typeface="Times New Roman"/>
              </a:rPr>
              <a:t>Gain(a</a:t>
            </a:r>
            <a:r>
              <a:rPr lang="vi" sz="800">
                <a:latin typeface="Times New Roman"/>
              </a:rPr>
              <a:t>1</a:t>
            </a:r>
            <a:r>
              <a:rPr lang="vi" sz="1200">
                <a:latin typeface="Times New Roman"/>
              </a:rPr>
              <a:t>) = H(S) - [(4/9)*H(T) + (5/9)*H(F)]</a:t>
            </a:r>
          </a:p>
          <a:p>
            <a:pPr indent="0">
              <a:lnSpc>
                <a:spcPts val="2232"/>
              </a:lnSpc>
            </a:pPr>
            <a:r>
              <a:rPr lang="vi" sz="1200">
                <a:latin typeface="Times New Roman"/>
              </a:rPr>
              <a:t>Gain(a</a:t>
            </a:r>
            <a:r>
              <a:rPr lang="vi" sz="800">
                <a:latin typeface="Times New Roman"/>
              </a:rPr>
              <a:t>1</a:t>
            </a:r>
            <a:r>
              <a:rPr lang="vi" sz="1200">
                <a:latin typeface="Times New Roman"/>
              </a:rPr>
              <a:t>) = 0.991 - [(0.444 * 0.811) + (0.556 * 0.722)] Gain(a</a:t>
            </a:r>
            <a:r>
              <a:rPr lang="vi" sz="800">
                <a:latin typeface="Times New Roman"/>
              </a:rPr>
              <a:t>1</a:t>
            </a:r>
            <a:r>
              <a:rPr lang="vi" sz="1200">
                <a:latin typeface="Times New Roman"/>
              </a:rPr>
              <a:t>) = 0.991 - [0.360 + 0.401] = 0.991 - 0.761 Kết quả: </a:t>
            </a:r>
            <a:r>
              <a:rPr lang="vi" sz="1200" b="1">
                <a:latin typeface="Times New Roman"/>
              </a:rPr>
              <a:t>Gain(a</a:t>
            </a:r>
            <a:r>
              <a:rPr lang="vi" sz="1200">
                <a:latin typeface="Times New Roman"/>
              </a:rPr>
              <a:t>i</a:t>
            </a:r>
            <a:r>
              <a:rPr lang="vi" sz="1200" b="1">
                <a:latin typeface="Times New Roman"/>
              </a:rPr>
              <a:t>) &amp;approx; 0.230 Thuộc tính a</a:t>
            </a:r>
            <a:r>
              <a:rPr lang="vi" sz="800">
                <a:latin typeface="Times New Roman"/>
              </a:rPr>
              <a:t>2</a:t>
            </a:r>
          </a:p>
        </p:txBody>
      </p:sp>
      <p:sp>
        <p:nvSpPr>
          <p:cNvPr id="6" name="Rectangle 5"/>
          <p:cNvSpPr/>
          <p:nvPr/>
        </p:nvSpPr>
        <p:spPr>
          <a:xfrm>
            <a:off x="1069848" y="7327392"/>
            <a:ext cx="2478024" cy="188976"/>
          </a:xfrm>
          <a:prstGeom prst="rect">
            <a:avLst/>
          </a:prstGeom>
        </p:spPr>
        <p:txBody>
          <a:bodyPr wrap="none" lIns="0" tIns="0" rIns="0" bIns="0">
            <a:noAutofit/>
          </a:bodyPr>
          <a:lstStyle/>
          <a:p>
            <a:pPr indent="0"/>
            <a:r>
              <a:rPr lang="vi" sz="1200">
                <a:latin typeface="Times New Roman"/>
              </a:rPr>
              <a:t>Chia tập S thành 2 nhánh dựa trên a</a:t>
            </a:r>
            <a:r>
              <a:rPr lang="vi" sz="800">
                <a:latin typeface="Times New Roman"/>
              </a:rPr>
              <a:t>2</a:t>
            </a:r>
            <a:r>
              <a:rPr lang="vi" sz="1200">
                <a:latin typeface="Times New Roman"/>
              </a:rPr>
              <a:t>:</a:t>
            </a:r>
          </a:p>
        </p:txBody>
      </p:sp>
      <p:graphicFrame>
        <p:nvGraphicFramePr>
          <p:cNvPr id="7" name="Table 6"/>
          <p:cNvGraphicFramePr>
            <a:graphicFrameLocks noGrp="1"/>
          </p:cNvGraphicFramePr>
          <p:nvPr/>
        </p:nvGraphicFramePr>
        <p:xfrm>
          <a:off x="1088136" y="7601712"/>
          <a:ext cx="4760976" cy="783336"/>
        </p:xfrm>
        <a:graphic>
          <a:graphicData uri="http://schemas.openxmlformats.org/drawingml/2006/table">
            <a:tbl>
              <a:tblPr/>
              <a:tblGrid>
                <a:gridCol w="737616">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975360">
                  <a:extLst>
                    <a:ext uri="{9D8B030D-6E8A-4147-A177-3AD203B41FA5}">
                      <a16:colId xmlns:a16="http://schemas.microsoft.com/office/drawing/2014/main" val="20002"/>
                    </a:ext>
                  </a:extLst>
                </a:gridCol>
                <a:gridCol w="1859280">
                  <a:extLst>
                    <a:ext uri="{9D8B030D-6E8A-4147-A177-3AD203B41FA5}">
                      <a16:colId xmlns:a16="http://schemas.microsoft.com/office/drawing/2014/main" val="20003"/>
                    </a:ext>
                  </a:extLst>
                </a:gridCol>
              </a:tblGrid>
              <a:tr h="271272">
                <a:tc rowSpan="2">
                  <a:txBody>
                    <a:bodyPr/>
                    <a:lstStyle/>
                    <a:p>
                      <a:pPr marL="101600" indent="0"/>
                      <a:r>
                        <a:rPr lang="vi" sz="1200" b="1">
                          <a:latin typeface="Times New Roman"/>
                        </a:rPr>
                        <a:t>Giá trị</a:t>
                      </a:r>
                    </a:p>
                  </a:txBody>
                  <a:tcPr marL="0" marR="0" marT="0" marB="0" anchor="ctr">
                    <a:solidFill>
                      <a:srgbClr val="0056B3"/>
                    </a:solidFill>
                  </a:tcPr>
                </a:tc>
                <a:tc>
                  <a:txBody>
                    <a:bodyPr/>
                    <a:lstStyle/>
                    <a:p>
                      <a:endParaRPr sz="1300"/>
                    </a:p>
                  </a:txBody>
                  <a:tcPr marL="0" marR="0" marT="0" marB="0">
                    <a:solidFill>
                      <a:srgbClr val="0056B3"/>
                    </a:solidFill>
                  </a:tcPr>
                </a:tc>
                <a:tc>
                  <a:txBody>
                    <a:bodyPr/>
                    <a:lstStyle/>
                    <a:p>
                      <a:pPr marL="101600" indent="0"/>
                      <a:r>
                        <a:rPr lang="vi" sz="1200" b="1">
                          <a:latin typeface="Times New Roman"/>
                        </a:rPr>
                        <a:t>Phân bố</a:t>
                      </a:r>
                    </a:p>
                  </a:txBody>
                  <a:tcPr marL="0" marR="0" marT="0" marB="0" anchor="b">
                    <a:solidFill>
                      <a:srgbClr val="0056B3"/>
                    </a:solidFill>
                  </a:tcPr>
                </a:tc>
                <a:tc rowSpan="2">
                  <a:txBody>
                    <a:bodyPr/>
                    <a:lstStyle/>
                    <a:p>
                      <a:pPr marL="101600" indent="0"/>
                      <a:r>
                        <a:rPr lang="en-US" sz="1200" b="1">
                          <a:latin typeface="Times New Roman"/>
                        </a:rPr>
                        <a:t>Entropy </a:t>
                      </a:r>
                      <a:r>
                        <a:rPr lang="vi" sz="1200" b="1">
                          <a:latin typeface="Times New Roman"/>
                        </a:rPr>
                        <a:t>thành phần</a:t>
                      </a:r>
                    </a:p>
                  </a:txBody>
                  <a:tcPr marL="0" marR="0" marT="0" marB="0" anchor="b">
                    <a:solidFill>
                      <a:srgbClr val="0056B3"/>
                    </a:solidFill>
                  </a:tcPr>
                </a:tc>
                <a:extLst>
                  <a:ext uri="{0D108BD9-81ED-4DB2-BD59-A6C34878D82A}">
                    <a16:rowId xmlns:a16="http://schemas.microsoft.com/office/drawing/2014/main" val="10000"/>
                  </a:ext>
                </a:extLst>
              </a:tr>
              <a:tr h="161544">
                <a:tc vMerge="1">
                  <a:txBody>
                    <a:bodyPr/>
                    <a:lstStyle/>
                    <a:p>
                      <a:endParaRPr sz="800"/>
                    </a:p>
                  </a:txBody>
                  <a:tcPr marL="0" marR="0" marT="0" marB="0"/>
                </a:tc>
                <a:tc>
                  <a:txBody>
                    <a:bodyPr/>
                    <a:lstStyle/>
                    <a:p>
                      <a:pPr marL="101600" indent="0"/>
                      <a:r>
                        <a:rPr lang="vi" sz="1200" b="1">
                          <a:latin typeface="Times New Roman"/>
                        </a:rPr>
                        <a:t>Số lượng mẫu</a:t>
                      </a:r>
                    </a:p>
                  </a:txBody>
                  <a:tcPr marL="0" marR="0" marT="0" marB="0">
                    <a:solidFill>
                      <a:srgbClr val="0056B3"/>
                    </a:solidFill>
                  </a:tcPr>
                </a:tc>
                <a:tc rowSpan="2">
                  <a:txBody>
                    <a:bodyPr/>
                    <a:lstStyle/>
                    <a:p>
                      <a:pPr marL="101600" indent="0"/>
                      <a:r>
                        <a:rPr lang="vi" sz="1200" b="1" baseline="30000">
                          <a:latin typeface="Times New Roman"/>
                        </a:rPr>
                        <a:t>lớ</a:t>
                      </a:r>
                      <a:r>
                        <a:rPr lang="vi" sz="1200" b="1">
                          <a:latin typeface="Times New Roman"/>
                        </a:rPr>
                        <a:t>p (+&gt; </a:t>
                      </a:r>
                      <a:r>
                        <a:rPr lang="vi" sz="1200" b="1" baseline="30000">
                          <a:latin typeface="Times New Roman"/>
                        </a:rPr>
                        <a:t>-)</a:t>
                      </a:r>
                    </a:p>
                  </a:txBody>
                  <a:tcPr marL="0" marR="0" marT="0" marB="0" anchor="ctr">
                    <a:solidFill>
                      <a:srgbClr val="0056B3"/>
                    </a:solidFill>
                  </a:tcPr>
                </a:tc>
                <a:tc vMerge="1">
                  <a:txBody>
                    <a:bodyPr/>
                    <a:lstStyle/>
                    <a:p>
                      <a:endParaRPr sz="800"/>
                    </a:p>
                  </a:txBody>
                  <a:tcPr marL="0" marR="0" marT="0" marB="0"/>
                </a:tc>
                <a:extLst>
                  <a:ext uri="{0D108BD9-81ED-4DB2-BD59-A6C34878D82A}">
                    <a16:rowId xmlns:a16="http://schemas.microsoft.com/office/drawing/2014/main" val="10001"/>
                  </a:ext>
                </a:extLst>
              </a:tr>
              <a:tr h="329184">
                <a:tc>
                  <a:txBody>
                    <a:bodyPr/>
                    <a:lstStyle/>
                    <a:p>
                      <a:pPr marL="101600" indent="0"/>
                      <a:r>
                        <a:rPr lang="vi" sz="1200" b="1">
                          <a:latin typeface="Times New Roman"/>
                        </a:rPr>
                        <a:t>a2</a:t>
                      </a:r>
                    </a:p>
                  </a:txBody>
                  <a:tcPr marL="0" marR="0" marT="0" marB="0">
                    <a:solidFill>
                      <a:srgbClr val="0056B3"/>
                    </a:solidFill>
                  </a:tcPr>
                </a:tc>
                <a:tc>
                  <a:txBody>
                    <a:bodyPr/>
                    <a:lstStyle/>
                    <a:p>
                      <a:endParaRPr sz="1600"/>
                    </a:p>
                  </a:txBody>
                  <a:tcPr marL="0" marR="0" marT="0" marB="0">
                    <a:solidFill>
                      <a:srgbClr val="0056B3"/>
                    </a:solidFill>
                  </a:tcPr>
                </a:tc>
                <a:tc vMerge="1">
                  <a:txBody>
                    <a:bodyPr/>
                    <a:lstStyle/>
                    <a:p>
                      <a:endParaRPr sz="1600"/>
                    </a:p>
                  </a:txBody>
                  <a:tcPr marL="0" marR="0" marT="0" marB="0"/>
                </a:tc>
                <a:tc>
                  <a:txBody>
                    <a:bodyPr/>
                    <a:lstStyle/>
                    <a:p>
                      <a:endParaRPr sz="1600"/>
                    </a:p>
                  </a:txBody>
                  <a:tcPr marL="0" marR="0" marT="0" marB="0">
                    <a:solidFill>
                      <a:srgbClr val="0056B3"/>
                    </a:solidFill>
                  </a:tcPr>
                </a:tc>
                <a:extLst>
                  <a:ext uri="{0D108BD9-81ED-4DB2-BD59-A6C34878D82A}">
                    <a16:rowId xmlns:a16="http://schemas.microsoft.com/office/drawing/2014/main" val="10002"/>
                  </a:ext>
                </a:extLst>
              </a:tr>
            </a:tbl>
          </a:graphicData>
        </a:graphic>
      </p:graphicFrame>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167384" y="841248"/>
          <a:ext cx="4495800" cy="1780032"/>
        </p:xfrm>
        <a:graphic>
          <a:graphicData uri="http://schemas.openxmlformats.org/drawingml/2006/table">
            <a:tbl>
              <a:tblPr/>
              <a:tblGrid>
                <a:gridCol w="609600">
                  <a:extLst>
                    <a:ext uri="{9D8B030D-6E8A-4147-A177-3AD203B41FA5}">
                      <a16:colId xmlns:a16="http://schemas.microsoft.com/office/drawing/2014/main" val="20000"/>
                    </a:ext>
                  </a:extLst>
                </a:gridCol>
                <a:gridCol w="1103376">
                  <a:extLst>
                    <a:ext uri="{9D8B030D-6E8A-4147-A177-3AD203B41FA5}">
                      <a16:colId xmlns:a16="http://schemas.microsoft.com/office/drawing/2014/main" val="20001"/>
                    </a:ext>
                  </a:extLst>
                </a:gridCol>
                <a:gridCol w="1063752">
                  <a:extLst>
                    <a:ext uri="{9D8B030D-6E8A-4147-A177-3AD203B41FA5}">
                      <a16:colId xmlns:a16="http://schemas.microsoft.com/office/drawing/2014/main" val="20002"/>
                    </a:ext>
                  </a:extLst>
                </a:gridCol>
                <a:gridCol w="1719072">
                  <a:extLst>
                    <a:ext uri="{9D8B030D-6E8A-4147-A177-3AD203B41FA5}">
                      <a16:colId xmlns:a16="http://schemas.microsoft.com/office/drawing/2014/main" val="20003"/>
                    </a:ext>
                  </a:extLst>
                </a:gridCol>
              </a:tblGrid>
              <a:tr h="234696">
                <a:tc rowSpan="2">
                  <a:txBody>
                    <a:bodyPr/>
                    <a:lstStyle/>
                    <a:p>
                      <a:pPr indent="0">
                        <a:spcAft>
                          <a:spcPts val="840"/>
                        </a:spcAft>
                      </a:pPr>
                      <a:r>
                        <a:rPr lang="vi" sz="1200" b="1">
                          <a:latin typeface="Times New Roman"/>
                        </a:rPr>
                        <a:t>T</a:t>
                      </a:r>
                    </a:p>
                    <a:p>
                      <a:pPr indent="0"/>
                      <a:r>
                        <a:rPr lang="vi" sz="1200" b="1">
                          <a:latin typeface="Times New Roman"/>
                        </a:rPr>
                        <a:t>(True)</a:t>
                      </a:r>
                    </a:p>
                  </a:txBody>
                  <a:tcPr marL="0" marR="0" marT="0" marB="0" anchor="ctr"/>
                </a:tc>
                <a:tc rowSpan="2">
                  <a:txBody>
                    <a:bodyPr/>
                    <a:lstStyle/>
                    <a:p>
                      <a:pPr marL="152400" indent="0">
                        <a:lnSpc>
                          <a:spcPts val="2232"/>
                        </a:lnSpc>
                      </a:pPr>
                      <a:r>
                        <a:rPr lang="en-US" sz="1200" b="1">
                          <a:latin typeface="Times New Roman"/>
                        </a:rPr>
                        <a:t>5 (Instance </a:t>
                      </a:r>
                      <a:r>
                        <a:rPr lang="vi" sz="1200" b="1">
                          <a:latin typeface="Times New Roman"/>
                        </a:rPr>
                        <a:t>1,2,5,6,9)</a:t>
                      </a:r>
                    </a:p>
                  </a:txBody>
                  <a:tcPr marL="0" marR="0" marT="0" marB="0" anchor="ctr"/>
                </a:tc>
                <a:tc>
                  <a:txBody>
                    <a:bodyPr/>
                    <a:lstStyle/>
                    <a:p>
                      <a:endParaRPr sz="1200"/>
                    </a:p>
                  </a:txBody>
                  <a:tcPr marL="0" marR="0" marT="0" marB="0"/>
                </a:tc>
                <a:tc>
                  <a:txBody>
                    <a:bodyPr/>
                    <a:lstStyle/>
                    <a:p>
                      <a:pPr marL="152400" indent="0"/>
                      <a:r>
                        <a:rPr lang="vi" sz="1200" b="1">
                          <a:latin typeface="Times New Roman"/>
                        </a:rPr>
                        <a:t>H(T) = -(2/5)log</a:t>
                      </a:r>
                      <a:r>
                        <a:rPr lang="vi" sz="1200">
                          <a:latin typeface="Times New Roman"/>
                        </a:rPr>
                        <a:t>2</a:t>
                      </a:r>
                      <a:r>
                        <a:rPr lang="vi" sz="1200" b="1">
                          <a:latin typeface="Times New Roman"/>
                        </a:rPr>
                        <a:t>(2/5) -</a:t>
                      </a:r>
                    </a:p>
                  </a:txBody>
                  <a:tcPr marL="0" marR="0" marT="0" marB="0"/>
                </a:tc>
                <a:extLst>
                  <a:ext uri="{0D108BD9-81ED-4DB2-BD59-A6C34878D82A}">
                    <a16:rowId xmlns:a16="http://schemas.microsoft.com/office/drawing/2014/main" val="10000"/>
                  </a:ext>
                </a:extLst>
              </a:tr>
              <a:tr h="655320">
                <a:tc vMerge="1">
                  <a:txBody>
                    <a:bodyPr/>
                    <a:lstStyle/>
                    <a:p>
                      <a:endParaRPr sz="3100"/>
                    </a:p>
                  </a:txBody>
                  <a:tcPr marL="0" marR="0" marT="0" marB="0"/>
                </a:tc>
                <a:tc vMerge="1">
                  <a:txBody>
                    <a:bodyPr/>
                    <a:lstStyle/>
                    <a:p>
                      <a:endParaRPr sz="3100"/>
                    </a:p>
                  </a:txBody>
                  <a:tcPr marL="0" marR="0" marT="0" marB="0"/>
                </a:tc>
                <a:tc>
                  <a:txBody>
                    <a:bodyPr/>
                    <a:lstStyle/>
                    <a:p>
                      <a:pPr marL="241300" indent="0"/>
                      <a:r>
                        <a:rPr lang="vi" sz="1200" b="1">
                          <a:latin typeface="Times New Roman"/>
                        </a:rPr>
                        <a:t>2 (+), 3 (-)</a:t>
                      </a:r>
                    </a:p>
                  </a:txBody>
                  <a:tcPr marL="0" marR="0" marT="0" marB="0"/>
                </a:tc>
                <a:tc>
                  <a:txBody>
                    <a:bodyPr/>
                    <a:lstStyle/>
                    <a:p>
                      <a:pPr marL="152400" indent="0">
                        <a:lnSpc>
                          <a:spcPts val="2208"/>
                        </a:lnSpc>
                      </a:pPr>
                      <a:r>
                        <a:rPr lang="vi" sz="1200" b="1">
                          <a:latin typeface="Times New Roman"/>
                        </a:rPr>
                        <a:t>(3/5)log</a:t>
                      </a:r>
                      <a:r>
                        <a:rPr lang="vi" sz="1200">
                          <a:latin typeface="Times New Roman"/>
                        </a:rPr>
                        <a:t>2</a:t>
                      </a:r>
                      <a:r>
                        <a:rPr lang="vi" sz="1200" b="1">
                          <a:latin typeface="Times New Roman"/>
                        </a:rPr>
                        <a:t>(3/5) = 0.971</a:t>
                      </a:r>
                    </a:p>
                  </a:txBody>
                  <a:tcPr marL="0" marR="0" marT="0" marB="0"/>
                </a:tc>
                <a:extLst>
                  <a:ext uri="{0D108BD9-81ED-4DB2-BD59-A6C34878D82A}">
                    <a16:rowId xmlns:a16="http://schemas.microsoft.com/office/drawing/2014/main" val="10001"/>
                  </a:ext>
                </a:extLst>
              </a:tr>
              <a:tr h="399288">
                <a:tc rowSpan="2">
                  <a:txBody>
                    <a:bodyPr/>
                    <a:lstStyle/>
                    <a:p>
                      <a:pPr indent="0">
                        <a:spcAft>
                          <a:spcPts val="840"/>
                        </a:spcAft>
                      </a:pPr>
                      <a:r>
                        <a:rPr lang="vi" sz="1200" b="1">
                          <a:latin typeface="Times New Roman"/>
                        </a:rPr>
                        <a:t>F</a:t>
                      </a:r>
                    </a:p>
                    <a:p>
                      <a:pPr indent="0"/>
                      <a:r>
                        <a:rPr lang="en-US" sz="1200" b="1">
                          <a:latin typeface="Times New Roman"/>
                        </a:rPr>
                        <a:t>(False)</a:t>
                      </a:r>
                    </a:p>
                  </a:txBody>
                  <a:tcPr marL="0" marR="0" marT="0" marB="0" anchor="b"/>
                </a:tc>
                <a:tc rowSpan="2">
                  <a:txBody>
                    <a:bodyPr/>
                    <a:lstStyle/>
                    <a:p>
                      <a:pPr marL="152400" indent="0">
                        <a:lnSpc>
                          <a:spcPts val="2208"/>
                        </a:lnSpc>
                      </a:pPr>
                      <a:r>
                        <a:rPr lang="vi" sz="1200" b="1">
                          <a:latin typeface="Times New Roman"/>
                        </a:rPr>
                        <a:t>4 (Instance 3,4,7,8)</a:t>
                      </a:r>
                    </a:p>
                  </a:txBody>
                  <a:tcPr marL="0" marR="0" marT="0" marB="0" anchor="b"/>
                </a:tc>
                <a:tc>
                  <a:txBody>
                    <a:bodyPr/>
                    <a:lstStyle/>
                    <a:p>
                      <a:endParaRPr sz="1900"/>
                    </a:p>
                  </a:txBody>
                  <a:tcPr marL="0" marR="0" marT="0" marB="0"/>
                </a:tc>
                <a:tc>
                  <a:txBody>
                    <a:bodyPr/>
                    <a:lstStyle/>
                    <a:p>
                      <a:pPr marL="152400" indent="0"/>
                      <a:r>
                        <a:rPr lang="vi" sz="1200" b="1">
                          <a:latin typeface="Times New Roman"/>
                        </a:rPr>
                        <a:t>H(F) = -(2/4)log</a:t>
                      </a:r>
                      <a:r>
                        <a:rPr lang="vi" sz="1200">
                          <a:latin typeface="Times New Roman"/>
                        </a:rPr>
                        <a:t>2</a:t>
                      </a:r>
                      <a:r>
                        <a:rPr lang="vi" sz="1200" b="1">
                          <a:latin typeface="Times New Roman"/>
                        </a:rPr>
                        <a:t>(2/4) -</a:t>
                      </a:r>
                    </a:p>
                  </a:txBody>
                  <a:tcPr marL="0" marR="0" marT="0" marB="0" anchor="b"/>
                </a:tc>
                <a:extLst>
                  <a:ext uri="{0D108BD9-81ED-4DB2-BD59-A6C34878D82A}">
                    <a16:rowId xmlns:a16="http://schemas.microsoft.com/office/drawing/2014/main" val="10002"/>
                  </a:ext>
                </a:extLst>
              </a:tr>
              <a:tr h="490728">
                <a:tc vMerge="1">
                  <a:txBody>
                    <a:bodyPr/>
                    <a:lstStyle/>
                    <a:p>
                      <a:endParaRPr sz="2400"/>
                    </a:p>
                  </a:txBody>
                  <a:tcPr marL="0" marR="0" marT="0" marB="0"/>
                </a:tc>
                <a:tc vMerge="1">
                  <a:txBody>
                    <a:bodyPr/>
                    <a:lstStyle/>
                    <a:p>
                      <a:endParaRPr sz="2400"/>
                    </a:p>
                  </a:txBody>
                  <a:tcPr marL="0" marR="0" marT="0" marB="0"/>
                </a:tc>
                <a:tc>
                  <a:txBody>
                    <a:bodyPr/>
                    <a:lstStyle/>
                    <a:p>
                      <a:pPr marL="241300" indent="0"/>
                      <a:r>
                        <a:rPr lang="vi" sz="1200" b="1">
                          <a:latin typeface="Times New Roman"/>
                        </a:rPr>
                        <a:t>2 (+), 2 (-)</a:t>
                      </a:r>
                    </a:p>
                  </a:txBody>
                  <a:tcPr marL="0" marR="0" marT="0" marB="0"/>
                </a:tc>
                <a:tc>
                  <a:txBody>
                    <a:bodyPr/>
                    <a:lstStyle/>
                    <a:p>
                      <a:pPr marL="152400" indent="0">
                        <a:lnSpc>
                          <a:spcPts val="2208"/>
                        </a:lnSpc>
                      </a:pPr>
                      <a:r>
                        <a:rPr lang="vi" sz="1200" b="1">
                          <a:latin typeface="Times New Roman"/>
                        </a:rPr>
                        <a:t>(2/4)log</a:t>
                      </a:r>
                      <a:r>
                        <a:rPr lang="vi" sz="1200">
                          <a:latin typeface="Times New Roman"/>
                        </a:rPr>
                        <a:t>2</a:t>
                      </a:r>
                      <a:r>
                        <a:rPr lang="vi" sz="1200" b="1">
                          <a:latin typeface="Times New Roman"/>
                        </a:rPr>
                        <a:t>(2/4) = 1.000</a:t>
                      </a:r>
                    </a:p>
                  </a:txBody>
                  <a:tcPr marL="0" marR="0" marT="0" marB="0" anchor="b"/>
                </a:tc>
                <a:extLst>
                  <a:ext uri="{0D108BD9-81ED-4DB2-BD59-A6C34878D82A}">
                    <a16:rowId xmlns:a16="http://schemas.microsoft.com/office/drawing/2014/main" val="10003"/>
                  </a:ext>
                </a:extLst>
              </a:tr>
            </a:tbl>
          </a:graphicData>
        </a:graphic>
      </p:graphicFrame>
      <p:sp>
        <p:nvSpPr>
          <p:cNvPr id="3" name="Rectangle 2"/>
          <p:cNvSpPr/>
          <p:nvPr/>
        </p:nvSpPr>
        <p:spPr>
          <a:xfrm>
            <a:off x="1060704" y="2862072"/>
            <a:ext cx="5154168" cy="6446520"/>
          </a:xfrm>
          <a:prstGeom prst="rect">
            <a:avLst/>
          </a:prstGeom>
        </p:spPr>
        <p:txBody>
          <a:bodyPr lIns="0" tIns="0" rIns="0" bIns="0">
            <a:noAutofit/>
          </a:bodyPr>
          <a:lstStyle/>
          <a:p>
            <a:pPr indent="0" algn="just">
              <a:lnSpc>
                <a:spcPts val="2232"/>
              </a:lnSpc>
              <a:spcBef>
                <a:spcPts val="1260"/>
              </a:spcBef>
            </a:pPr>
            <a:r>
              <a:rPr lang="vi" sz="1200" b="1">
                <a:latin typeface="Times New Roman"/>
              </a:rPr>
              <a:t>Tính Gain(S, </a:t>
            </a:r>
            <a:r>
              <a:rPr lang="en-US" sz="1200" b="1">
                <a:latin typeface="Times New Roman"/>
              </a:rPr>
              <a:t>a2):</a:t>
            </a:r>
          </a:p>
          <a:p>
            <a:pPr indent="0" algn="just">
              <a:lnSpc>
                <a:spcPts val="2232"/>
              </a:lnSpc>
            </a:pPr>
            <a:r>
              <a:rPr lang="vi" sz="1200" b="1">
                <a:latin typeface="Times New Roman"/>
              </a:rPr>
              <a:t>Gain(a</a:t>
            </a:r>
            <a:r>
              <a:rPr lang="vi" sz="800">
                <a:latin typeface="Times New Roman"/>
              </a:rPr>
              <a:t>2</a:t>
            </a:r>
            <a:r>
              <a:rPr lang="vi" sz="1200" b="1">
                <a:latin typeface="Times New Roman"/>
              </a:rPr>
              <a:t>) = H(S) - [(5/9)*H(T) + (4/9)*H(F)]</a:t>
            </a:r>
          </a:p>
          <a:p>
            <a:pPr indent="0" algn="just">
              <a:lnSpc>
                <a:spcPts val="2232"/>
              </a:lnSpc>
            </a:pPr>
            <a:r>
              <a:rPr lang="vi" sz="1200" b="1">
                <a:latin typeface="Times New Roman"/>
              </a:rPr>
              <a:t>Gain(a</a:t>
            </a:r>
            <a:r>
              <a:rPr lang="vi" sz="800">
                <a:latin typeface="Times New Roman"/>
              </a:rPr>
              <a:t>2</a:t>
            </a:r>
            <a:r>
              <a:rPr lang="vi" sz="1200" b="1">
                <a:latin typeface="Times New Roman"/>
              </a:rPr>
              <a:t>) = 0.991 - [(0.556 * 0.971) + (0.444 * 1.0)]</a:t>
            </a:r>
          </a:p>
          <a:p>
            <a:pPr marR="1822196" indent="0">
              <a:lnSpc>
                <a:spcPts val="2232"/>
              </a:lnSpc>
            </a:pPr>
            <a:r>
              <a:rPr lang="vi" sz="1200" b="1">
                <a:latin typeface="Times New Roman"/>
              </a:rPr>
              <a:t>Gain(a</a:t>
            </a:r>
            <a:r>
              <a:rPr lang="vi" sz="800">
                <a:latin typeface="Times New Roman"/>
              </a:rPr>
              <a:t>2</a:t>
            </a:r>
            <a:r>
              <a:rPr lang="vi" sz="1200" b="1">
                <a:latin typeface="Times New Roman"/>
              </a:rPr>
              <a:t>) = 0.991 - [0.539 + 0.444] = 0.991 - 0.983 Kết quả: Gain(a2) &amp;approx; 0.008</a:t>
            </a:r>
          </a:p>
          <a:p>
            <a:pPr indent="0" algn="just">
              <a:lnSpc>
                <a:spcPts val="2232"/>
              </a:lnSpc>
            </a:pPr>
            <a:r>
              <a:rPr lang="vi" sz="1200" b="1">
                <a:latin typeface="Times New Roman"/>
              </a:rPr>
              <a:t>(c) </a:t>
            </a:r>
            <a:r>
              <a:rPr lang="en-US" sz="1200" b="1">
                <a:latin typeface="Times New Roman"/>
              </a:rPr>
              <a:t>Tim Best Split </a:t>
            </a:r>
            <a:r>
              <a:rPr lang="vi" sz="1200" b="1">
                <a:latin typeface="Times New Roman"/>
              </a:rPr>
              <a:t>theo Gini Index</a:t>
            </a:r>
          </a:p>
          <a:p>
            <a:pPr indent="0" algn="just">
              <a:lnSpc>
                <a:spcPts val="2232"/>
              </a:lnSpc>
            </a:pPr>
            <a:r>
              <a:rPr lang="vi" sz="1200" b="1">
                <a:latin typeface="Times New Roman"/>
              </a:rPr>
              <a:t>Công thức Gini: Gini(D) = 1 - X pi</a:t>
            </a:r>
            <a:r>
              <a:rPr lang="vi" sz="1200" b="1" baseline="30000">
                <a:latin typeface="Times New Roman"/>
              </a:rPr>
              <a:t>2</a:t>
            </a:r>
            <a:r>
              <a:rPr lang="vi" sz="1200" b="1">
                <a:latin typeface="Times New Roman"/>
              </a:rPr>
              <a:t>. Mục tiêu: Tìm Gini </a:t>
            </a:r>
            <a:r>
              <a:rPr lang="en-US" sz="1200" b="1">
                <a:latin typeface="Times New Roman"/>
              </a:rPr>
              <a:t>Weighted </a:t>
            </a:r>
            <a:r>
              <a:rPr lang="vi" sz="1200" b="1">
                <a:latin typeface="Times New Roman"/>
              </a:rPr>
              <a:t>thấp nhất.</a:t>
            </a:r>
          </a:p>
          <a:p>
            <a:pPr indent="0" algn="just">
              <a:lnSpc>
                <a:spcPts val="2232"/>
              </a:lnSpc>
            </a:pPr>
            <a:r>
              <a:rPr lang="vi" sz="1200" b="1">
                <a:latin typeface="Times New Roman"/>
              </a:rPr>
              <a:t>1.    Tính Gini cho ai</a:t>
            </a:r>
          </a:p>
          <a:p>
            <a:pPr marL="254000" indent="0">
              <a:lnSpc>
                <a:spcPts val="2232"/>
              </a:lnSpc>
            </a:pPr>
            <a:r>
              <a:rPr lang="vi" sz="1200" b="1">
                <a:latin typeface="Times New Roman"/>
              </a:rPr>
              <a:t>. Nhánh ai = T (3+, </a:t>
            </a:r>
            <a:r>
              <a:rPr lang="en-US" sz="1200" b="1">
                <a:latin typeface="Times New Roman"/>
              </a:rPr>
              <a:t>1-):</a:t>
            </a:r>
          </a:p>
          <a:p>
            <a:pPr marL="254000" marR="615696" indent="228600">
              <a:lnSpc>
                <a:spcPts val="2232"/>
              </a:lnSpc>
            </a:pPr>
            <a:r>
              <a:rPr lang="vi" sz="1200" b="1">
                <a:latin typeface="Times New Roman"/>
              </a:rPr>
              <a:t>Gini(T) = 1 - [(3/4)</a:t>
            </a:r>
            <a:r>
              <a:rPr lang="vi" sz="1200" baseline="30000">
                <a:latin typeface="Times New Roman"/>
              </a:rPr>
              <a:t>2</a:t>
            </a:r>
            <a:r>
              <a:rPr lang="vi" sz="1200">
                <a:latin typeface="Times New Roman"/>
              </a:rPr>
              <a:t> </a:t>
            </a:r>
            <a:r>
              <a:rPr lang="vi" sz="1200" b="1">
                <a:latin typeface="Times New Roman"/>
              </a:rPr>
              <a:t>+ (1/4)</a:t>
            </a:r>
            <a:r>
              <a:rPr lang="vi" sz="1200" baseline="30000">
                <a:latin typeface="Times New Roman"/>
              </a:rPr>
              <a:t>2</a:t>
            </a:r>
            <a:r>
              <a:rPr lang="vi" sz="1200" b="1">
                <a:latin typeface="Times New Roman"/>
              </a:rPr>
              <a:t>] = 1 - (0.5625 + 0.0625) = 0.375 . Nhánh ai = </a:t>
            </a:r>
            <a:r>
              <a:rPr lang="en-US" sz="1200" b="1">
                <a:latin typeface="Times New Roman"/>
              </a:rPr>
              <a:t>F </a:t>
            </a:r>
            <a:r>
              <a:rPr lang="vi" sz="1200" b="1">
                <a:latin typeface="Times New Roman"/>
              </a:rPr>
              <a:t>(1+, 4-):</a:t>
            </a:r>
          </a:p>
          <a:p>
            <a:pPr marR="615696" indent="482600">
              <a:lnSpc>
                <a:spcPts val="2232"/>
              </a:lnSpc>
            </a:pPr>
            <a:r>
              <a:rPr lang="vi" sz="1200" b="1">
                <a:latin typeface="Times New Roman"/>
              </a:rPr>
              <a:t>Gini(F) = 1 - [(1/5)</a:t>
            </a:r>
            <a:r>
              <a:rPr lang="vi" sz="1200" baseline="30000">
                <a:latin typeface="Times New Roman"/>
              </a:rPr>
              <a:t>2</a:t>
            </a:r>
            <a:r>
              <a:rPr lang="vi" sz="1200">
                <a:latin typeface="Times New Roman"/>
              </a:rPr>
              <a:t> </a:t>
            </a:r>
            <a:r>
              <a:rPr lang="vi" sz="1200" b="1">
                <a:latin typeface="Times New Roman"/>
              </a:rPr>
              <a:t>+ (4/5)</a:t>
            </a:r>
            <a:r>
              <a:rPr lang="vi" sz="1200" baseline="30000">
                <a:latin typeface="Times New Roman"/>
              </a:rPr>
              <a:t>2</a:t>
            </a:r>
            <a:r>
              <a:rPr lang="vi" sz="1200" b="1">
                <a:latin typeface="Times New Roman"/>
              </a:rPr>
              <a:t>] = 1 - (0.04 + 0.64) = 0.320 </a:t>
            </a:r>
            <a:r>
              <a:rPr lang="en-US" sz="1200" b="1">
                <a:latin typeface="Times New Roman"/>
              </a:rPr>
              <a:t>Weighted Gini(ai):</a:t>
            </a:r>
          </a:p>
          <a:p>
            <a:pPr marR="1822196" indent="0">
              <a:lnSpc>
                <a:spcPts val="2232"/>
              </a:lnSpc>
            </a:pPr>
            <a:r>
              <a:rPr lang="en-US" sz="1200" b="1">
                <a:latin typeface="Times New Roman"/>
              </a:rPr>
              <a:t>Gini</a:t>
            </a:r>
            <a:r>
              <a:rPr lang="en-US" sz="1200">
                <a:latin typeface="Times New Roman"/>
              </a:rPr>
              <a:t>spKt</a:t>
            </a:r>
            <a:r>
              <a:rPr lang="en-US" sz="1200" b="1">
                <a:latin typeface="Times New Roman"/>
              </a:rPr>
              <a:t>(a</a:t>
            </a:r>
            <a:r>
              <a:rPr lang="en-US" sz="800">
                <a:latin typeface="Times New Roman"/>
              </a:rPr>
              <a:t>1</a:t>
            </a:r>
            <a:r>
              <a:rPr lang="en-US" sz="1200" b="1">
                <a:latin typeface="Times New Roman"/>
              </a:rPr>
              <a:t>) </a:t>
            </a:r>
            <a:r>
              <a:rPr lang="vi" sz="1200" b="1">
                <a:latin typeface="Times New Roman"/>
              </a:rPr>
              <a:t>= (4/9) * 0.375 + (5/9) * 0.320 </a:t>
            </a:r>
            <a:r>
              <a:rPr lang="en-US" sz="1200" b="1">
                <a:latin typeface="Times New Roman"/>
              </a:rPr>
              <a:t>Gini</a:t>
            </a:r>
            <a:r>
              <a:rPr lang="en-US" sz="1200">
                <a:latin typeface="Times New Roman"/>
              </a:rPr>
              <a:t>spKt</a:t>
            </a:r>
            <a:r>
              <a:rPr lang="en-US" sz="1200" b="1">
                <a:latin typeface="Times New Roman"/>
              </a:rPr>
              <a:t>(a</a:t>
            </a:r>
            <a:r>
              <a:rPr lang="en-US" sz="800">
                <a:latin typeface="Times New Roman"/>
              </a:rPr>
              <a:t>1</a:t>
            </a:r>
            <a:r>
              <a:rPr lang="en-US" sz="1200" b="1">
                <a:latin typeface="Times New Roman"/>
              </a:rPr>
              <a:t>) = 0.1667 + 0.1778 </a:t>
            </a:r>
            <a:r>
              <a:rPr lang="vi" sz="1200" b="1">
                <a:latin typeface="Times New Roman"/>
              </a:rPr>
              <a:t>Kết quả: 0.344</a:t>
            </a:r>
          </a:p>
          <a:p>
            <a:pPr indent="0" algn="just">
              <a:lnSpc>
                <a:spcPts val="2232"/>
              </a:lnSpc>
            </a:pPr>
            <a:r>
              <a:rPr lang="vi" sz="1200" b="1">
                <a:latin typeface="Times New Roman"/>
              </a:rPr>
              <a:t>2.    Tính Gini cho a2</a:t>
            </a:r>
          </a:p>
          <a:p>
            <a:pPr marL="254000" indent="0">
              <a:lnSpc>
                <a:spcPts val="2232"/>
              </a:lnSpc>
            </a:pPr>
            <a:r>
              <a:rPr lang="vi" sz="1200" b="1">
                <a:latin typeface="Times New Roman"/>
              </a:rPr>
              <a:t>. Nhánh a2 = T (2+, 3-):</a:t>
            </a:r>
          </a:p>
          <a:p>
            <a:pPr marL="254000" marR="945896" indent="228600">
              <a:lnSpc>
                <a:spcPts val="2232"/>
              </a:lnSpc>
            </a:pPr>
            <a:r>
              <a:rPr lang="vi" sz="1200" b="1">
                <a:latin typeface="Times New Roman"/>
              </a:rPr>
              <a:t>Gini(T) = 1 - [(2/5)</a:t>
            </a:r>
            <a:r>
              <a:rPr lang="vi" sz="1200" baseline="30000">
                <a:latin typeface="Times New Roman"/>
              </a:rPr>
              <a:t>2</a:t>
            </a:r>
            <a:r>
              <a:rPr lang="vi" sz="1200">
                <a:latin typeface="Times New Roman"/>
              </a:rPr>
              <a:t> </a:t>
            </a:r>
            <a:r>
              <a:rPr lang="vi" sz="1200" b="1">
                <a:latin typeface="Times New Roman"/>
              </a:rPr>
              <a:t>+ (3/5)</a:t>
            </a:r>
            <a:r>
              <a:rPr lang="vi" sz="1200" baseline="30000">
                <a:latin typeface="Times New Roman"/>
              </a:rPr>
              <a:t>2</a:t>
            </a:r>
            <a:r>
              <a:rPr lang="vi" sz="1200" b="1">
                <a:latin typeface="Times New Roman"/>
              </a:rPr>
              <a:t>] = 1 - (0.16 + 0.36) = 0.480 . Nhánh a2 = F (2+, 2-):</a:t>
            </a:r>
          </a:p>
          <a:p>
            <a:pPr marR="945896" indent="482600">
              <a:lnSpc>
                <a:spcPts val="2232"/>
              </a:lnSpc>
            </a:pPr>
            <a:r>
              <a:rPr lang="vi" sz="1200" b="1">
                <a:latin typeface="Times New Roman"/>
              </a:rPr>
              <a:t>Gini(F) = 1 - [(2/4)</a:t>
            </a:r>
            <a:r>
              <a:rPr lang="vi" sz="1200" baseline="30000">
                <a:latin typeface="Times New Roman"/>
              </a:rPr>
              <a:t>2</a:t>
            </a:r>
            <a:r>
              <a:rPr lang="vi" sz="1200">
                <a:latin typeface="Times New Roman"/>
              </a:rPr>
              <a:t> </a:t>
            </a:r>
            <a:r>
              <a:rPr lang="vi" sz="1200" b="1">
                <a:latin typeface="Times New Roman"/>
              </a:rPr>
              <a:t>+ (2/4)</a:t>
            </a:r>
            <a:r>
              <a:rPr lang="vi" sz="1200" baseline="30000">
                <a:latin typeface="Times New Roman"/>
              </a:rPr>
              <a:t>2</a:t>
            </a:r>
            <a:r>
              <a:rPr lang="vi" sz="1200" b="1">
                <a:latin typeface="Times New Roman"/>
              </a:rPr>
              <a:t>] = 1 - (0.25 + 0.25) = 0.500 Weighted Gini(a2):</a:t>
            </a:r>
          </a:p>
          <a:p>
            <a:pPr indent="0" algn="just">
              <a:lnSpc>
                <a:spcPts val="2232"/>
              </a:lnSpc>
            </a:pPr>
            <a:r>
              <a:rPr lang="vi" sz="1200" b="1">
                <a:latin typeface="Times New Roman"/>
              </a:rPr>
              <a:t>Gini</a:t>
            </a:r>
            <a:r>
              <a:rPr lang="vi" sz="1200">
                <a:latin typeface="Times New Roman"/>
              </a:rPr>
              <a:t>spKt</a:t>
            </a:r>
            <a:r>
              <a:rPr lang="vi" sz="1200" b="1">
                <a:latin typeface="Times New Roman"/>
              </a:rPr>
              <a:t>(a</a:t>
            </a:r>
            <a:r>
              <a:rPr lang="vi" sz="800">
                <a:latin typeface="Times New Roman"/>
              </a:rPr>
              <a:t>2</a:t>
            </a:r>
            <a:r>
              <a:rPr lang="vi" sz="1200" b="1">
                <a:latin typeface="Times New Roman"/>
              </a:rPr>
              <a:t>) = (5/9) * 0.480 + (4/9) * 0.500</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063752" y="737616"/>
            <a:ext cx="5964936" cy="8497824"/>
          </a:xfrm>
          <a:prstGeom prst="rect">
            <a:avLst/>
          </a:prstGeom>
        </p:spPr>
        <p:txBody>
          <a:bodyPr lIns="0" tIns="0" rIns="0" bIns="0">
            <a:noAutofit/>
          </a:bodyPr>
          <a:lstStyle/>
          <a:p>
            <a:pPr marR="2032000" indent="0">
              <a:lnSpc>
                <a:spcPts val="2232"/>
              </a:lnSpc>
            </a:pPr>
            <a:r>
              <a:rPr lang="en-US" sz="1200">
                <a:latin typeface="Times New Roman"/>
              </a:rPr>
              <a:t>Ginispiit(a</a:t>
            </a:r>
            <a:r>
              <a:rPr lang="en-US" sz="800">
                <a:latin typeface="Times New Roman"/>
              </a:rPr>
              <a:t>2</a:t>
            </a:r>
            <a:r>
              <a:rPr lang="en-US" sz="1200">
                <a:latin typeface="Times New Roman"/>
              </a:rPr>
              <a:t>) = 0.2667 + 0.2222 </a:t>
            </a:r>
            <a:r>
              <a:rPr lang="vi" sz="1200">
                <a:latin typeface="Times New Roman"/>
              </a:rPr>
              <a:t>Kết quả: </a:t>
            </a:r>
            <a:r>
              <a:rPr lang="vi" sz="1200" b="1">
                <a:latin typeface="Times New Roman"/>
              </a:rPr>
              <a:t>0.489 Kết luận</a:t>
            </a:r>
          </a:p>
          <a:p>
            <a:pPr indent="0">
              <a:lnSpc>
                <a:spcPts val="2232"/>
              </a:lnSpc>
            </a:pPr>
            <a:r>
              <a:rPr lang="vi" sz="1200">
                <a:latin typeface="Times New Roman"/>
              </a:rPr>
              <a:t>So sánh Gini Index:</a:t>
            </a:r>
          </a:p>
          <a:p>
            <a:pPr marL="254000" indent="0" algn="just">
              <a:lnSpc>
                <a:spcPts val="2232"/>
              </a:lnSpc>
            </a:pPr>
            <a:r>
              <a:rPr lang="vi" sz="1200">
                <a:latin typeface="Times New Roman"/>
              </a:rPr>
              <a:t>•    a1: 0.344</a:t>
            </a:r>
          </a:p>
          <a:p>
            <a:pPr marL="254000" indent="0" algn="just">
              <a:lnSpc>
                <a:spcPts val="2232"/>
              </a:lnSpc>
            </a:pPr>
            <a:r>
              <a:rPr lang="vi" sz="1200">
                <a:latin typeface="Times New Roman"/>
              </a:rPr>
              <a:t>•    a2: 0.489</a:t>
            </a:r>
          </a:p>
          <a:p>
            <a:pPr indent="0">
              <a:lnSpc>
                <a:spcPts val="2232"/>
              </a:lnSpc>
            </a:pPr>
            <a:r>
              <a:rPr lang="vi" sz="1200">
                <a:latin typeface="Times New Roman"/>
              </a:rPr>
              <a:t>Vì </a:t>
            </a:r>
            <a:r>
              <a:rPr lang="vi" sz="1200" b="1">
                <a:latin typeface="Times New Roman"/>
              </a:rPr>
              <a:t>0.344 &lt; 0.489</a:t>
            </a:r>
            <a:r>
              <a:rPr lang="vi" sz="1200">
                <a:latin typeface="Times New Roman"/>
              </a:rPr>
              <a:t>, thuộc tính a</a:t>
            </a:r>
            <a:r>
              <a:rPr lang="vi" sz="800">
                <a:latin typeface="Times New Roman"/>
              </a:rPr>
              <a:t>1</a:t>
            </a:r>
            <a:r>
              <a:rPr lang="vi" sz="1200">
                <a:latin typeface="Times New Roman"/>
              </a:rPr>
              <a:t> có độ vẩn đục thấp hơn.</a:t>
            </a:r>
          </a:p>
          <a:p>
            <a:pPr indent="0">
              <a:lnSpc>
                <a:spcPts val="2232"/>
              </a:lnSpc>
            </a:pPr>
            <a:r>
              <a:rPr lang="vi" sz="1200" b="1">
                <a:latin typeface="Times New Roman"/>
              </a:rPr>
              <a:t>^ </a:t>
            </a:r>
            <a:r>
              <a:rPr lang="en-US" sz="1200" b="1">
                <a:latin typeface="Times New Roman"/>
              </a:rPr>
              <a:t>Best split </a:t>
            </a:r>
            <a:r>
              <a:rPr lang="vi" sz="1200" b="1">
                <a:latin typeface="Times New Roman"/>
              </a:rPr>
              <a:t>là thuộc tính a</a:t>
            </a:r>
            <a:r>
              <a:rPr lang="vi" sz="800" b="1">
                <a:latin typeface="Times New Roman"/>
              </a:rPr>
              <a:t>i</a:t>
            </a:r>
            <a:r>
              <a:rPr lang="vi" sz="1200" b="1">
                <a:latin typeface="Times New Roman"/>
              </a:rPr>
              <a:t>.</a:t>
            </a:r>
          </a:p>
          <a:p>
            <a:pPr indent="0">
              <a:spcAft>
                <a:spcPts val="840"/>
              </a:spcAft>
            </a:pPr>
            <a:r>
              <a:rPr lang="vi" sz="1500" b="1">
                <a:latin typeface="Times New Roman"/>
              </a:rPr>
              <a:t>Ex7. </a:t>
            </a:r>
            <a:r>
              <a:rPr lang="en-US" sz="1500" b="1">
                <a:latin typeface="Times New Roman"/>
              </a:rPr>
              <a:t>Decision tree</a:t>
            </a:r>
          </a:p>
          <a:p>
            <a:pPr indent="0">
              <a:lnSpc>
                <a:spcPts val="2232"/>
              </a:lnSpc>
            </a:pPr>
            <a:r>
              <a:rPr lang="vi" sz="1200" b="1">
                <a:latin typeface="Times New Roman"/>
              </a:rPr>
              <a:t>Công thức Gini: Gini(D) = 1 - X (p</a:t>
            </a:r>
            <a:r>
              <a:rPr lang="vi" sz="800" b="1">
                <a:latin typeface="Times New Roman"/>
              </a:rPr>
              <a:t>i</a:t>
            </a:r>
            <a:r>
              <a:rPr lang="vi" sz="1200" b="1">
                <a:latin typeface="Times New Roman"/>
              </a:rPr>
              <a:t>)</a:t>
            </a:r>
            <a:r>
              <a:rPr lang="vi" sz="1200" b="1" baseline="30000">
                <a:latin typeface="Times New Roman"/>
              </a:rPr>
              <a:t>2</a:t>
            </a:r>
          </a:p>
          <a:p>
            <a:pPr indent="0">
              <a:lnSpc>
                <a:spcPts val="2232"/>
              </a:lnSpc>
            </a:pPr>
            <a:r>
              <a:rPr lang="vi" sz="1200" b="1">
                <a:latin typeface="Times New Roman"/>
              </a:rPr>
              <a:t>Công thức Gini </a:t>
            </a:r>
            <a:r>
              <a:rPr lang="en-US" sz="1200" b="1">
                <a:latin typeface="Times New Roman"/>
              </a:rPr>
              <a:t>Split: Gini</a:t>
            </a:r>
            <a:r>
              <a:rPr lang="en-US" sz="800" b="1">
                <a:latin typeface="Times New Roman"/>
              </a:rPr>
              <a:t>A</a:t>
            </a:r>
            <a:r>
              <a:rPr lang="en-US" sz="1200" b="1">
                <a:latin typeface="Times New Roman"/>
              </a:rPr>
              <a:t>(D) </a:t>
            </a:r>
            <a:r>
              <a:rPr lang="vi" sz="1200" b="1">
                <a:latin typeface="Times New Roman"/>
              </a:rPr>
              <a:t>= X (|D</a:t>
            </a:r>
            <a:r>
              <a:rPr lang="vi" sz="800" b="1">
                <a:latin typeface="Times New Roman"/>
              </a:rPr>
              <a:t>j</a:t>
            </a:r>
            <a:r>
              <a:rPr lang="vi" sz="1200" b="1">
                <a:latin typeface="Times New Roman"/>
              </a:rPr>
              <a:t>| / |D|) X Gini(D</a:t>
            </a:r>
            <a:r>
              <a:rPr lang="vi" sz="800" b="1">
                <a:latin typeface="Times New Roman"/>
              </a:rPr>
              <a:t>j</a:t>
            </a:r>
            <a:r>
              <a:rPr lang="vi" sz="1200" b="1">
                <a:latin typeface="Times New Roman"/>
              </a:rPr>
              <a:t>)</a:t>
            </a:r>
          </a:p>
          <a:p>
            <a:pPr indent="0">
              <a:lnSpc>
                <a:spcPts val="2232"/>
              </a:lnSpc>
            </a:pPr>
            <a:r>
              <a:rPr lang="vi" sz="1200">
                <a:latin typeface="Times New Roman"/>
              </a:rPr>
              <a:t>Tổng quan dữ liệu </a:t>
            </a:r>
            <a:r>
              <a:rPr lang="en-US" sz="1200">
                <a:latin typeface="Times New Roman"/>
              </a:rPr>
              <a:t>(Data Summary)</a:t>
            </a:r>
          </a:p>
          <a:p>
            <a:pPr indent="0">
              <a:lnSpc>
                <a:spcPts val="2232"/>
              </a:lnSpc>
            </a:pPr>
            <a:r>
              <a:rPr lang="vi" sz="1200">
                <a:latin typeface="Times New Roman"/>
              </a:rPr>
              <a:t>Tổng số mẫu quan sát (N) = </a:t>
            </a:r>
            <a:r>
              <a:rPr lang="vi" sz="1200" b="1">
                <a:latin typeface="Times New Roman"/>
              </a:rPr>
              <a:t>20</a:t>
            </a:r>
            <a:r>
              <a:rPr lang="vi" sz="1200">
                <a:latin typeface="Times New Roman"/>
              </a:rPr>
              <a:t>.</a:t>
            </a:r>
          </a:p>
          <a:p>
            <a:pPr indent="0">
              <a:lnSpc>
                <a:spcPts val="2232"/>
              </a:lnSpc>
            </a:pPr>
            <a:r>
              <a:rPr lang="vi" sz="1200">
                <a:latin typeface="Times New Roman"/>
              </a:rPr>
              <a:t>Biến mục tiêu </a:t>
            </a:r>
            <a:r>
              <a:rPr lang="en-US" sz="1200">
                <a:latin typeface="Times New Roman"/>
              </a:rPr>
              <a:t>(Class) </a:t>
            </a:r>
            <a:r>
              <a:rPr lang="vi" sz="1200">
                <a:latin typeface="Times New Roman"/>
              </a:rPr>
              <a:t>có 2 giá trị: </a:t>
            </a:r>
            <a:r>
              <a:rPr lang="vi" sz="1200" b="1">
                <a:latin typeface="Times New Roman"/>
              </a:rPr>
              <a:t>C0 </a:t>
            </a:r>
            <a:r>
              <a:rPr lang="vi" sz="1200">
                <a:latin typeface="Times New Roman"/>
              </a:rPr>
              <a:t>và </a:t>
            </a:r>
            <a:r>
              <a:rPr lang="vi" sz="1200" b="1">
                <a:latin typeface="Times New Roman"/>
              </a:rPr>
              <a:t>C1</a:t>
            </a:r>
            <a:r>
              <a:rPr lang="vi" sz="1200">
                <a:latin typeface="Times New Roman"/>
              </a:rPr>
              <a:t>.</a:t>
            </a:r>
          </a:p>
          <a:p>
            <a:pPr marL="254000" indent="0" algn="just">
              <a:lnSpc>
                <a:spcPts val="2232"/>
              </a:lnSpc>
            </a:pPr>
            <a:r>
              <a:rPr lang="vi" sz="1200">
                <a:latin typeface="Times New Roman"/>
              </a:rPr>
              <a:t>•</a:t>
            </a:r>
            <a:r>
              <a:rPr lang="vi" sz="1200" b="1">
                <a:latin typeface="Times New Roman"/>
              </a:rPr>
              <a:t> </a:t>
            </a:r>
            <a:r>
              <a:rPr lang="en-US" sz="1200" b="1">
                <a:latin typeface="Times New Roman"/>
              </a:rPr>
              <a:t>Class </a:t>
            </a:r>
            <a:r>
              <a:rPr lang="vi" sz="1200" b="1">
                <a:latin typeface="Times New Roman"/>
              </a:rPr>
              <a:t>C0: </a:t>
            </a:r>
            <a:r>
              <a:rPr lang="vi" sz="1200">
                <a:latin typeface="Times New Roman"/>
              </a:rPr>
              <a:t>10 mẫu (Từ </a:t>
            </a:r>
            <a:r>
              <a:rPr lang="en-US" sz="1200">
                <a:latin typeface="Times New Roman"/>
              </a:rPr>
              <a:t>Customer ID </a:t>
            </a:r>
            <a:r>
              <a:rPr lang="vi" sz="1200">
                <a:latin typeface="Times New Roman"/>
              </a:rPr>
              <a:t>1 đến 10).</a:t>
            </a:r>
          </a:p>
          <a:p>
            <a:pPr marL="254000" indent="0" algn="just">
              <a:lnSpc>
                <a:spcPts val="2232"/>
              </a:lnSpc>
            </a:pPr>
            <a:r>
              <a:rPr lang="vi" sz="1200">
                <a:latin typeface="Times New Roman"/>
              </a:rPr>
              <a:t>•</a:t>
            </a:r>
            <a:r>
              <a:rPr lang="vi" sz="1200" b="1">
                <a:latin typeface="Times New Roman"/>
              </a:rPr>
              <a:t> </a:t>
            </a:r>
            <a:r>
              <a:rPr lang="en-US" sz="1200" b="1">
                <a:latin typeface="Times New Roman"/>
              </a:rPr>
              <a:t>Class </a:t>
            </a:r>
            <a:r>
              <a:rPr lang="vi" sz="1200" b="1">
                <a:latin typeface="Times New Roman"/>
              </a:rPr>
              <a:t>C1: </a:t>
            </a:r>
            <a:r>
              <a:rPr lang="vi" sz="1200">
                <a:latin typeface="Times New Roman"/>
              </a:rPr>
              <a:t>10 mẫu (Từ </a:t>
            </a:r>
            <a:r>
              <a:rPr lang="en-US" sz="1200">
                <a:latin typeface="Times New Roman"/>
              </a:rPr>
              <a:t>Customer ID </a:t>
            </a:r>
            <a:r>
              <a:rPr lang="vi" sz="1200">
                <a:latin typeface="Times New Roman"/>
              </a:rPr>
              <a:t>11 đến 20).</a:t>
            </a:r>
          </a:p>
          <a:p>
            <a:pPr indent="0" algn="just">
              <a:lnSpc>
                <a:spcPts val="2232"/>
              </a:lnSpc>
            </a:pPr>
            <a:r>
              <a:rPr lang="vi" sz="1200" b="1">
                <a:latin typeface="Times New Roman"/>
              </a:rPr>
              <a:t>a)    Tính Gini Index cho toàn bộ tập dữ liệu </a:t>
            </a:r>
            <a:r>
              <a:rPr lang="en-US" sz="1200" b="1">
                <a:latin typeface="Times New Roman"/>
              </a:rPr>
              <a:t>(Overall Collection)</a:t>
            </a:r>
          </a:p>
          <a:p>
            <a:pPr indent="0" algn="just">
              <a:lnSpc>
                <a:spcPts val="2232"/>
              </a:lnSpc>
            </a:pPr>
            <a:r>
              <a:rPr lang="vi" sz="1200">
                <a:latin typeface="Times New Roman"/>
              </a:rPr>
              <a:t>Xác suất xuất hiện của từng lớp trong tập D:</a:t>
            </a:r>
          </a:p>
          <a:p>
            <a:pPr marL="254000" indent="0" algn="just">
              <a:lnSpc>
                <a:spcPts val="2232"/>
              </a:lnSpc>
            </a:pPr>
            <a:r>
              <a:rPr lang="vi" sz="1200">
                <a:latin typeface="Times New Roman"/>
              </a:rPr>
              <a:t>•    P(C0) = 10 / 20 = 0.5</a:t>
            </a:r>
          </a:p>
          <a:p>
            <a:pPr marR="4089400" indent="254000">
              <a:lnSpc>
                <a:spcPts val="2232"/>
              </a:lnSpc>
            </a:pPr>
            <a:r>
              <a:rPr lang="vi" sz="1200">
                <a:latin typeface="Times New Roman"/>
              </a:rPr>
              <a:t>•    P(C1) = 10 / 20 = 0.5 Áp dụng công thức:</a:t>
            </a:r>
          </a:p>
          <a:p>
            <a:pPr indent="0" algn="just">
              <a:lnSpc>
                <a:spcPts val="2232"/>
              </a:lnSpc>
            </a:pPr>
            <a:r>
              <a:rPr lang="vi" sz="1200">
                <a:latin typeface="Times New Roman"/>
              </a:rPr>
              <a:t>Gini(Overall) = 1 - [ P(C0)</a:t>
            </a:r>
            <a:r>
              <a:rPr lang="vi" sz="1200" baseline="30000">
                <a:latin typeface="Times New Roman"/>
              </a:rPr>
              <a:t>2</a:t>
            </a:r>
            <a:r>
              <a:rPr lang="vi" sz="1200">
                <a:latin typeface="Times New Roman"/>
              </a:rPr>
              <a:t> + P(C1)</a:t>
            </a:r>
            <a:r>
              <a:rPr lang="vi" sz="1200" baseline="30000">
                <a:latin typeface="Times New Roman"/>
              </a:rPr>
              <a:t>2</a:t>
            </a:r>
            <a:r>
              <a:rPr lang="vi" sz="1200">
                <a:latin typeface="Times New Roman"/>
              </a:rPr>
              <a:t> ]</a:t>
            </a:r>
          </a:p>
          <a:p>
            <a:pPr indent="0" algn="just">
              <a:lnSpc>
                <a:spcPts val="2232"/>
              </a:lnSpc>
            </a:pPr>
            <a:r>
              <a:rPr lang="vi" sz="1200">
                <a:latin typeface="Times New Roman"/>
              </a:rPr>
              <a:t>Gini(Overall) = 1 - [ (0.5)</a:t>
            </a:r>
            <a:r>
              <a:rPr lang="vi" sz="1200" baseline="30000">
                <a:latin typeface="Times New Roman"/>
              </a:rPr>
              <a:t>2</a:t>
            </a:r>
            <a:r>
              <a:rPr lang="vi" sz="1200">
                <a:latin typeface="Times New Roman"/>
              </a:rPr>
              <a:t> + (0.5)</a:t>
            </a:r>
            <a:r>
              <a:rPr lang="vi" sz="1200" baseline="30000">
                <a:latin typeface="Times New Roman"/>
              </a:rPr>
              <a:t>2</a:t>
            </a:r>
            <a:r>
              <a:rPr lang="vi" sz="1200">
                <a:latin typeface="Times New Roman"/>
              </a:rPr>
              <a:t> ]</a:t>
            </a:r>
          </a:p>
          <a:p>
            <a:pPr marR="2032000" indent="0">
              <a:lnSpc>
                <a:spcPts val="2232"/>
              </a:lnSpc>
            </a:pPr>
            <a:r>
              <a:rPr lang="vi" sz="1200">
                <a:latin typeface="Times New Roman"/>
              </a:rPr>
              <a:t>Gini(Overall) = 1 - [ 0.25 + 0.25 ] = 1 - 0.5 Kết quả: </a:t>
            </a:r>
            <a:r>
              <a:rPr lang="vi" sz="1200" b="1">
                <a:latin typeface="Times New Roman"/>
              </a:rPr>
              <a:t>Gini(Overall) = 0.5</a:t>
            </a:r>
          </a:p>
          <a:p>
            <a:pPr indent="0" algn="just">
              <a:lnSpc>
                <a:spcPts val="2232"/>
              </a:lnSpc>
            </a:pPr>
            <a:r>
              <a:rPr lang="vi" sz="1200" b="1">
                <a:latin typeface="Times New Roman"/>
              </a:rPr>
              <a:t>b)    Tính Gini Index cho thuộc tính </a:t>
            </a:r>
            <a:r>
              <a:rPr lang="en-US" sz="1200" b="1">
                <a:latin typeface="Times New Roman"/>
              </a:rPr>
              <a:t>Customer ID</a:t>
            </a:r>
          </a:p>
          <a:p>
            <a:pPr indent="0" algn="just">
              <a:lnSpc>
                <a:spcPts val="2232"/>
              </a:lnSpc>
            </a:pPr>
            <a:r>
              <a:rPr lang="vi" sz="1200" b="1">
                <a:latin typeface="Times New Roman"/>
              </a:rPr>
              <a:t>Phân tích: </a:t>
            </a:r>
            <a:r>
              <a:rPr lang="vi" sz="1200">
                <a:latin typeface="Times New Roman"/>
              </a:rPr>
              <a:t>Thuộc tính </a:t>
            </a:r>
            <a:r>
              <a:rPr lang="en-US" sz="1200">
                <a:latin typeface="Times New Roman"/>
              </a:rPr>
              <a:t>Customer ID </a:t>
            </a:r>
            <a:r>
              <a:rPr lang="vi" sz="1200">
                <a:latin typeface="Times New Roman"/>
              </a:rPr>
              <a:t>có giá trị duy nhất cho mỗi khách hàng (từ 1 đến 20). Khi chia nhánh theo ID, ta có 20 nhánh con, mỗi nhánh chỉ chứa đúng 1 mẫu.</a:t>
            </a:r>
          </a:p>
          <a:p>
            <a:pPr marL="254000" indent="0" algn="just">
              <a:lnSpc>
                <a:spcPts val="2232"/>
              </a:lnSpc>
            </a:pPr>
            <a:r>
              <a:rPr lang="vi" sz="1200">
                <a:latin typeface="Times New Roman"/>
              </a:rPr>
              <a:t>•    Mỗi nhánh con chỉ chứa hoặc C0 hoặc C1 (thuần khiết tuyệt đối).</a:t>
            </a:r>
          </a:p>
          <a:p>
            <a:pPr marL="254000" indent="0" algn="just">
              <a:lnSpc>
                <a:spcPts val="2232"/>
              </a:lnSpc>
            </a:pPr>
            <a:r>
              <a:rPr lang="vi" sz="1200">
                <a:latin typeface="Times New Roman"/>
              </a:rPr>
              <a:t>•    Gini của một nhánh thuần khiết = 1 - (1)</a:t>
            </a:r>
            <a:r>
              <a:rPr lang="vi" sz="1200" baseline="30000">
                <a:latin typeface="Times New Roman"/>
              </a:rPr>
              <a:t>2</a:t>
            </a:r>
            <a:r>
              <a:rPr lang="vi" sz="1200">
                <a:latin typeface="Times New Roman"/>
              </a:rPr>
              <a:t> = 0.</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066800" y="707136"/>
            <a:ext cx="6010656" cy="6769608"/>
          </a:xfrm>
          <a:prstGeom prst="rect">
            <a:avLst/>
          </a:prstGeom>
        </p:spPr>
        <p:txBody>
          <a:bodyPr lIns="0" tIns="0" rIns="0" bIns="0">
            <a:noAutofit/>
          </a:bodyPr>
          <a:lstStyle/>
          <a:p>
            <a:pPr indent="0">
              <a:lnSpc>
                <a:spcPts val="2232"/>
              </a:lnSpc>
            </a:pPr>
            <a:r>
              <a:rPr lang="vi" sz="1200">
                <a:latin typeface="Times New Roman"/>
              </a:rPr>
              <a:t>Tính tổng trọng số:</a:t>
            </a:r>
          </a:p>
          <a:p>
            <a:pPr marR="3073400" indent="0">
              <a:lnSpc>
                <a:spcPts val="2232"/>
              </a:lnSpc>
            </a:pPr>
            <a:r>
              <a:rPr lang="vi" sz="1200">
                <a:latin typeface="Times New Roman"/>
              </a:rPr>
              <a:t>GiniiD = (1/20)*0 + (1/20)*0 + ... + (1/20)*0 Kết quả: </a:t>
            </a:r>
            <a:r>
              <a:rPr lang="vi" sz="1200" b="1">
                <a:latin typeface="Times New Roman"/>
              </a:rPr>
              <a:t>Gini(Customer </a:t>
            </a:r>
            <a:r>
              <a:rPr lang="en-US" sz="1200" b="1">
                <a:latin typeface="Times New Roman"/>
              </a:rPr>
              <a:t>ID) </a:t>
            </a:r>
            <a:r>
              <a:rPr lang="vi" sz="1200" b="1">
                <a:latin typeface="Times New Roman"/>
              </a:rPr>
              <a:t>= 0</a:t>
            </a:r>
          </a:p>
          <a:p>
            <a:pPr indent="0">
              <a:lnSpc>
                <a:spcPts val="2232"/>
              </a:lnSpc>
            </a:pPr>
            <a:r>
              <a:rPr lang="vi" sz="1200" i="1">
                <a:latin typeface="Times New Roman"/>
              </a:rPr>
              <a:t>*Lưu ý: Mặc dù Gini = 0 là thấp nhất, nhưng </a:t>
            </a:r>
            <a:r>
              <a:rPr lang="en-US" sz="1200" i="1">
                <a:latin typeface="Times New Roman"/>
              </a:rPr>
              <a:t>ID </a:t>
            </a:r>
            <a:r>
              <a:rPr lang="vi" sz="1200" i="1">
                <a:latin typeface="Times New Roman"/>
              </a:rPr>
              <a:t>không được dùng để phân lớp vì không có tính tổng quát hóa </a:t>
            </a:r>
            <a:r>
              <a:rPr lang="en-US" sz="1200" i="1">
                <a:latin typeface="Times New Roman"/>
              </a:rPr>
              <a:t>(overfitting).</a:t>
            </a:r>
          </a:p>
          <a:p>
            <a:pPr indent="0" algn="just">
              <a:lnSpc>
                <a:spcPts val="2232"/>
              </a:lnSpc>
            </a:pPr>
            <a:r>
              <a:rPr lang="vi" sz="1200" b="1">
                <a:latin typeface="Times New Roman"/>
              </a:rPr>
              <a:t>c)    Tính Gini Index cho thuộc tính </a:t>
            </a:r>
            <a:r>
              <a:rPr lang="en-US" sz="1200" b="1">
                <a:latin typeface="Times New Roman"/>
              </a:rPr>
              <a:t>Gender</a:t>
            </a:r>
          </a:p>
          <a:p>
            <a:pPr indent="0" algn="just">
              <a:lnSpc>
                <a:spcPts val="2232"/>
              </a:lnSpc>
            </a:pPr>
            <a:r>
              <a:rPr lang="vi" sz="1200">
                <a:latin typeface="Times New Roman"/>
              </a:rPr>
              <a:t>Thuộc tính </a:t>
            </a:r>
            <a:r>
              <a:rPr lang="en-US" sz="1200">
                <a:latin typeface="Times New Roman"/>
              </a:rPr>
              <a:t>Gender </a:t>
            </a:r>
            <a:r>
              <a:rPr lang="vi" sz="1200">
                <a:latin typeface="Times New Roman"/>
              </a:rPr>
              <a:t>chia tập dữ liệu thành 2 nhánh: </a:t>
            </a:r>
            <a:r>
              <a:rPr lang="vi" sz="1200" b="1">
                <a:latin typeface="Times New Roman"/>
              </a:rPr>
              <a:t>M (Nam) </a:t>
            </a:r>
            <a:r>
              <a:rPr lang="vi" sz="1200">
                <a:latin typeface="Times New Roman"/>
              </a:rPr>
              <a:t>và </a:t>
            </a:r>
            <a:r>
              <a:rPr lang="vi" sz="1200" b="1">
                <a:latin typeface="Times New Roman"/>
              </a:rPr>
              <a:t>F (Nữ)</a:t>
            </a:r>
            <a:r>
              <a:rPr lang="vi" sz="1200">
                <a:latin typeface="Times New Roman"/>
              </a:rPr>
              <a:t>.</a:t>
            </a:r>
          </a:p>
          <a:p>
            <a:pPr indent="0" algn="just">
              <a:lnSpc>
                <a:spcPts val="2232"/>
              </a:lnSpc>
            </a:pPr>
            <a:r>
              <a:rPr lang="vi" sz="1200" b="1">
                <a:latin typeface="Times New Roman"/>
              </a:rPr>
              <a:t>1.    Nhóm M </a:t>
            </a:r>
            <a:r>
              <a:rPr lang="en-US" sz="1200" b="1">
                <a:latin typeface="Times New Roman"/>
              </a:rPr>
              <a:t>(Male)</a:t>
            </a:r>
          </a:p>
          <a:p>
            <a:pPr marL="254000" indent="0" algn="just">
              <a:lnSpc>
                <a:spcPts val="2232"/>
              </a:lnSpc>
            </a:pPr>
            <a:r>
              <a:rPr lang="vi" sz="1200">
                <a:latin typeface="Times New Roman"/>
              </a:rPr>
              <a:t>•    Tổng số mẫu: 10 (Các dòng: 1, 2, 3, 4, 5, 6, 11, 12, 13, 14)</a:t>
            </a:r>
          </a:p>
          <a:p>
            <a:pPr marL="254000" indent="0" algn="just">
              <a:lnSpc>
                <a:spcPts val="2232"/>
              </a:lnSpc>
            </a:pPr>
            <a:r>
              <a:rPr lang="vi" sz="1200">
                <a:latin typeface="Times New Roman"/>
              </a:rPr>
              <a:t>•    </a:t>
            </a:r>
            <a:r>
              <a:rPr lang="en-US" sz="1200">
                <a:latin typeface="Times New Roman"/>
              </a:rPr>
              <a:t>Class </a:t>
            </a:r>
            <a:r>
              <a:rPr lang="vi" sz="1200">
                <a:latin typeface="Times New Roman"/>
              </a:rPr>
              <a:t>C0: 6 mẫu (Dòng 1-6)</a:t>
            </a:r>
          </a:p>
          <a:p>
            <a:pPr marL="254000" indent="0" algn="just">
              <a:lnSpc>
                <a:spcPts val="2232"/>
              </a:lnSpc>
            </a:pPr>
            <a:r>
              <a:rPr lang="vi" sz="1200">
                <a:latin typeface="Times New Roman"/>
              </a:rPr>
              <a:t>•    </a:t>
            </a:r>
            <a:r>
              <a:rPr lang="en-US" sz="1200">
                <a:latin typeface="Times New Roman"/>
              </a:rPr>
              <a:t>Class </a:t>
            </a:r>
            <a:r>
              <a:rPr lang="vi" sz="1200">
                <a:latin typeface="Times New Roman"/>
              </a:rPr>
              <a:t>C1: 4 mẫu (Dòng 11-14)</a:t>
            </a:r>
          </a:p>
          <a:p>
            <a:pPr indent="0" algn="just">
              <a:lnSpc>
                <a:spcPts val="2232"/>
              </a:lnSpc>
            </a:pPr>
            <a:r>
              <a:rPr lang="vi" sz="1200">
                <a:latin typeface="Times New Roman"/>
              </a:rPr>
              <a:t>Gini(M) = 1 - [ (6/10)</a:t>
            </a:r>
            <a:r>
              <a:rPr lang="vi" sz="1200" baseline="30000">
                <a:latin typeface="Times New Roman"/>
              </a:rPr>
              <a:t>1 2</a:t>
            </a:r>
            <a:r>
              <a:rPr lang="vi" sz="1200">
                <a:latin typeface="Times New Roman"/>
              </a:rPr>
              <a:t> + (4/10)</a:t>
            </a:r>
            <a:r>
              <a:rPr lang="vi" sz="1200" baseline="30000">
                <a:latin typeface="Times New Roman"/>
              </a:rPr>
              <a:t>2</a:t>
            </a:r>
            <a:r>
              <a:rPr lang="vi" sz="1200">
                <a:latin typeface="Times New Roman"/>
              </a:rPr>
              <a:t> ] = 1 - [ 0.36 + 0.16 ] = 1 - 0.52 = </a:t>
            </a:r>
            <a:r>
              <a:rPr lang="vi" sz="1200" b="1">
                <a:latin typeface="Times New Roman"/>
              </a:rPr>
              <a:t>0.48</a:t>
            </a:r>
          </a:p>
          <a:p>
            <a:pPr indent="0" algn="just">
              <a:lnSpc>
                <a:spcPts val="2232"/>
              </a:lnSpc>
            </a:pPr>
            <a:r>
              <a:rPr lang="vi" sz="1200" b="1">
                <a:latin typeface="Times New Roman"/>
              </a:rPr>
              <a:t>2.    Nhóm </a:t>
            </a:r>
            <a:r>
              <a:rPr lang="en-US" sz="1200" b="1">
                <a:latin typeface="Times New Roman"/>
              </a:rPr>
              <a:t>F (Female)</a:t>
            </a:r>
          </a:p>
          <a:p>
            <a:pPr marL="254000" indent="0" algn="just">
              <a:lnSpc>
                <a:spcPts val="2232"/>
              </a:lnSpc>
            </a:pPr>
            <a:r>
              <a:rPr lang="vi" sz="1200">
                <a:latin typeface="Times New Roman"/>
              </a:rPr>
              <a:t>•    Tổng số mẫu: 10 (Các dòng: 7, 8, 9, 10, 15, 16, 17, 18, 19, 20)</a:t>
            </a:r>
          </a:p>
          <a:p>
            <a:pPr marL="254000" indent="0" algn="just">
              <a:lnSpc>
                <a:spcPts val="2232"/>
              </a:lnSpc>
            </a:pPr>
            <a:r>
              <a:rPr lang="vi" sz="1200">
                <a:latin typeface="Times New Roman"/>
              </a:rPr>
              <a:t>•    </a:t>
            </a:r>
            <a:r>
              <a:rPr lang="en-US" sz="1200">
                <a:latin typeface="Times New Roman"/>
              </a:rPr>
              <a:t>Class </a:t>
            </a:r>
            <a:r>
              <a:rPr lang="vi" sz="1200">
                <a:latin typeface="Times New Roman"/>
              </a:rPr>
              <a:t>C0: 4 mẫu (Dòng 7-10)</a:t>
            </a:r>
          </a:p>
          <a:p>
            <a:pPr marL="254000" indent="0" algn="just">
              <a:lnSpc>
                <a:spcPts val="2232"/>
              </a:lnSpc>
            </a:pPr>
            <a:r>
              <a:rPr lang="vi" sz="1200">
                <a:latin typeface="Times New Roman"/>
              </a:rPr>
              <a:t>•    </a:t>
            </a:r>
            <a:r>
              <a:rPr lang="en-US" sz="1200">
                <a:latin typeface="Times New Roman"/>
              </a:rPr>
              <a:t>Class </a:t>
            </a:r>
            <a:r>
              <a:rPr lang="vi" sz="1200">
                <a:latin typeface="Times New Roman"/>
              </a:rPr>
              <a:t>C1: 6 mẫu (Dòng 15-20)</a:t>
            </a:r>
          </a:p>
          <a:p>
            <a:pPr indent="0" algn="just">
              <a:lnSpc>
                <a:spcPts val="2232"/>
              </a:lnSpc>
            </a:pPr>
            <a:r>
              <a:rPr lang="vi" sz="1200">
                <a:latin typeface="Times New Roman"/>
              </a:rPr>
              <a:t>Gini(F) = 1 - [ (4/10)</a:t>
            </a:r>
            <a:r>
              <a:rPr lang="vi" sz="1200" baseline="30000">
                <a:latin typeface="Times New Roman"/>
              </a:rPr>
              <a:t>2</a:t>
            </a:r>
            <a:r>
              <a:rPr lang="vi" sz="1200">
                <a:latin typeface="Times New Roman"/>
              </a:rPr>
              <a:t> + (6/10)</a:t>
            </a:r>
            <a:r>
              <a:rPr lang="vi" sz="1200" baseline="30000">
                <a:latin typeface="Times New Roman"/>
              </a:rPr>
              <a:t>2</a:t>
            </a:r>
            <a:r>
              <a:rPr lang="vi" sz="1200">
                <a:latin typeface="Times New Roman"/>
              </a:rPr>
              <a:t> ] = 1 - [ 0.16 + 0.36 ] = 1 - 0.52 = </a:t>
            </a:r>
            <a:r>
              <a:rPr lang="vi" sz="1200" b="1">
                <a:latin typeface="Times New Roman"/>
              </a:rPr>
              <a:t>0.48</a:t>
            </a:r>
          </a:p>
          <a:p>
            <a:pPr indent="0" algn="just">
              <a:lnSpc>
                <a:spcPts val="2232"/>
              </a:lnSpc>
            </a:pPr>
            <a:r>
              <a:rPr lang="vi" sz="1200" b="1">
                <a:latin typeface="Times New Roman"/>
              </a:rPr>
              <a:t>3.    Tính Gini có trọng số </a:t>
            </a:r>
            <a:r>
              <a:rPr lang="en-US" sz="1200" b="1">
                <a:latin typeface="Times New Roman"/>
              </a:rPr>
              <a:t>(Weighted </a:t>
            </a:r>
            <a:r>
              <a:rPr lang="vi" sz="1200" b="1">
                <a:latin typeface="Times New Roman"/>
              </a:rPr>
              <a:t>Gini) cho </a:t>
            </a:r>
            <a:r>
              <a:rPr lang="en-US" sz="1200" b="1">
                <a:latin typeface="Times New Roman"/>
              </a:rPr>
              <a:t>Gender</a:t>
            </a:r>
          </a:p>
          <a:p>
            <a:pPr indent="0" algn="just">
              <a:lnSpc>
                <a:spcPts val="2232"/>
              </a:lnSpc>
            </a:pPr>
            <a:r>
              <a:rPr lang="en-US" sz="1200">
                <a:latin typeface="Times New Roman"/>
              </a:rPr>
              <a:t>GiniGender </a:t>
            </a:r>
            <a:r>
              <a:rPr lang="vi" sz="1200">
                <a:latin typeface="Times New Roman"/>
              </a:rPr>
              <a:t>= (Số lượng M / Tổng) * Gini(M) + (Số lượng F / Tổng) * Gini(F)</a:t>
            </a:r>
          </a:p>
          <a:p>
            <a:pPr indent="0">
              <a:lnSpc>
                <a:spcPts val="2232"/>
              </a:lnSpc>
            </a:pPr>
            <a:r>
              <a:rPr lang="vi" sz="1200">
                <a:latin typeface="Times New Roman"/>
              </a:rPr>
              <a:t>GiniGender = (10/20) * 0.48 + (10/20) * 0.48 GiniGender = 0.5 * 0.48 + 0.5 * 0.48 = 0.24 + 0.24 Kết quả: </a:t>
            </a:r>
            <a:r>
              <a:rPr lang="vi" sz="1200" b="1">
                <a:latin typeface="Times New Roman"/>
              </a:rPr>
              <a:t>Gini(Gender) = 0.48</a:t>
            </a:r>
          </a:p>
          <a:p>
            <a:pPr indent="0" algn="just">
              <a:lnSpc>
                <a:spcPts val="2232"/>
              </a:lnSpc>
            </a:pPr>
            <a:r>
              <a:rPr lang="vi" sz="1200" b="1">
                <a:latin typeface="Times New Roman"/>
              </a:rPr>
              <a:t>d)    Tính Gini Index cho thuộc tính </a:t>
            </a:r>
            <a:r>
              <a:rPr lang="en-US" sz="1200" b="1">
                <a:latin typeface="Times New Roman"/>
              </a:rPr>
              <a:t>Car Type (Multiway split)</a:t>
            </a:r>
          </a:p>
          <a:p>
            <a:pPr indent="0" algn="just">
              <a:lnSpc>
                <a:spcPts val="2232"/>
              </a:lnSpc>
            </a:pPr>
            <a:r>
              <a:rPr lang="vi" sz="1200">
                <a:latin typeface="Times New Roman"/>
              </a:rPr>
              <a:t>Thuộc tính </a:t>
            </a:r>
            <a:r>
              <a:rPr lang="en-US" sz="1200">
                <a:latin typeface="Times New Roman"/>
              </a:rPr>
              <a:t>Car Type </a:t>
            </a:r>
            <a:r>
              <a:rPr lang="vi" sz="1200">
                <a:latin typeface="Times New Roman"/>
              </a:rPr>
              <a:t>chia tập dữ liệu thành 3 nhánh: </a:t>
            </a:r>
            <a:r>
              <a:rPr lang="en-US" sz="1200" b="1">
                <a:latin typeface="Times New Roman"/>
              </a:rPr>
              <a:t>Family, Sports, Luxury</a:t>
            </a:r>
            <a:r>
              <a:rPr lang="en-US" sz="1200">
                <a:latin typeface="Times New Roman"/>
              </a:rPr>
              <a:t>.</a:t>
            </a:r>
          </a:p>
        </p:txBody>
      </p:sp>
      <p:graphicFrame>
        <p:nvGraphicFramePr>
          <p:cNvPr id="3" name="Table 2"/>
          <p:cNvGraphicFramePr>
            <a:graphicFrameLocks noGrp="1"/>
          </p:cNvGraphicFramePr>
          <p:nvPr/>
        </p:nvGraphicFramePr>
        <p:xfrm>
          <a:off x="1088136" y="7562088"/>
          <a:ext cx="5952744" cy="722376"/>
        </p:xfrm>
        <a:graphic>
          <a:graphicData uri="http://schemas.openxmlformats.org/drawingml/2006/table">
            <a:tbl>
              <a:tblPr/>
              <a:tblGrid>
                <a:gridCol w="710184">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859536">
                  <a:extLst>
                    <a:ext uri="{9D8B030D-6E8A-4147-A177-3AD203B41FA5}">
                      <a16:colId xmlns:a16="http://schemas.microsoft.com/office/drawing/2014/main" val="20003"/>
                    </a:ext>
                  </a:extLst>
                </a:gridCol>
                <a:gridCol w="856488">
                  <a:extLst>
                    <a:ext uri="{9D8B030D-6E8A-4147-A177-3AD203B41FA5}">
                      <a16:colId xmlns:a16="http://schemas.microsoft.com/office/drawing/2014/main" val="20004"/>
                    </a:ext>
                  </a:extLst>
                </a:gridCol>
                <a:gridCol w="1240536">
                  <a:extLst>
                    <a:ext uri="{9D8B030D-6E8A-4147-A177-3AD203B41FA5}">
                      <a16:colId xmlns:a16="http://schemas.microsoft.com/office/drawing/2014/main" val="20005"/>
                    </a:ext>
                  </a:extLst>
                </a:gridCol>
              </a:tblGrid>
              <a:tr h="393192">
                <a:tc rowSpan="2">
                  <a:txBody>
                    <a:bodyPr/>
                    <a:lstStyle/>
                    <a:p>
                      <a:pPr marL="114300" indent="0"/>
                      <a:r>
                        <a:rPr lang="vi" sz="1200" b="1">
                          <a:latin typeface="Times New Roman"/>
                        </a:rPr>
                        <a:t>Giá trị</a:t>
                      </a:r>
                    </a:p>
                  </a:txBody>
                  <a:tcPr marL="0" marR="0" marT="0" marB="0" anchor="ctr">
                    <a:solidFill>
                      <a:srgbClr val="34485D"/>
                    </a:solidFill>
                  </a:tcPr>
                </a:tc>
                <a:tc>
                  <a:txBody>
                    <a:bodyPr/>
                    <a:lstStyle/>
                    <a:p>
                      <a:pPr marL="127000" indent="0"/>
                      <a:r>
                        <a:rPr lang="vi" sz="1200" b="1">
                          <a:latin typeface="Times New Roman"/>
                        </a:rPr>
                        <a:t>Các dòng</a:t>
                      </a:r>
                    </a:p>
                  </a:txBody>
                  <a:tcPr marL="0" marR="0" marT="0" marB="0" anchor="ctr">
                    <a:solidFill>
                      <a:srgbClr val="34485D"/>
                    </a:solidFill>
                  </a:tcPr>
                </a:tc>
                <a:tc>
                  <a:txBody>
                    <a:bodyPr/>
                    <a:lstStyle/>
                    <a:p>
                      <a:pPr marL="127000" indent="0"/>
                      <a:r>
                        <a:rPr lang="en-US" sz="900" spc="-150">
                          <a:latin typeface="Courier New"/>
                        </a:rPr>
                        <a:t>rfi A</a:t>
                      </a:r>
                    </a:p>
                    <a:p>
                      <a:pPr marL="127000" indent="0"/>
                      <a:r>
                        <a:rPr lang="vi" sz="1200" b="1">
                          <a:latin typeface="Times New Roman"/>
                        </a:rPr>
                        <a:t>Tổng</a:t>
                      </a:r>
                    </a:p>
                  </a:txBody>
                  <a:tcPr marL="0" marR="0" marT="0" marB="0" anchor="ctr">
                    <a:solidFill>
                      <a:srgbClr val="34485D"/>
                    </a:solidFill>
                  </a:tcPr>
                </a:tc>
                <a:tc>
                  <a:txBody>
                    <a:bodyPr/>
                    <a:lstStyle/>
                    <a:p>
                      <a:pPr marL="127000" indent="0"/>
                      <a:r>
                        <a:rPr lang="vi" sz="1200" b="1">
                          <a:latin typeface="Times New Roman"/>
                        </a:rPr>
                        <a:t>Số lượng</a:t>
                      </a:r>
                    </a:p>
                  </a:txBody>
                  <a:tcPr marL="0" marR="0" marT="0" marB="0" anchor="ctr">
                    <a:solidFill>
                      <a:srgbClr val="34485D"/>
                    </a:solidFill>
                  </a:tcPr>
                </a:tc>
                <a:tc>
                  <a:txBody>
                    <a:bodyPr/>
                    <a:lstStyle/>
                    <a:p>
                      <a:pPr marL="127000" indent="0"/>
                      <a:r>
                        <a:rPr lang="vi" sz="1200" b="1">
                          <a:latin typeface="Times New Roman"/>
                        </a:rPr>
                        <a:t>Số lượng</a:t>
                      </a:r>
                    </a:p>
                  </a:txBody>
                  <a:tcPr marL="0" marR="0" marT="0" marB="0" anchor="ctr">
                    <a:solidFill>
                      <a:srgbClr val="34485D"/>
                    </a:solidFill>
                  </a:tcPr>
                </a:tc>
                <a:tc>
                  <a:txBody>
                    <a:bodyPr/>
                    <a:lstStyle/>
                    <a:p>
                      <a:pPr marL="114300" indent="0"/>
                      <a:r>
                        <a:rPr lang="vi" sz="1200" b="1">
                          <a:latin typeface="Times New Roman"/>
                        </a:rPr>
                        <a:t>Tính Gini</a:t>
                      </a:r>
                    </a:p>
                  </a:txBody>
                  <a:tcPr marL="0" marR="0" marT="0" marB="0" anchor="ctr">
                    <a:solidFill>
                      <a:srgbClr val="34485D"/>
                    </a:solidFill>
                  </a:tcPr>
                </a:tc>
                <a:extLst>
                  <a:ext uri="{0D108BD9-81ED-4DB2-BD59-A6C34878D82A}">
                    <a16:rowId xmlns:a16="http://schemas.microsoft.com/office/drawing/2014/main" val="10000"/>
                  </a:ext>
                </a:extLst>
              </a:tr>
              <a:tr h="329184">
                <a:tc vMerge="1">
                  <a:txBody>
                    <a:bodyPr/>
                    <a:lstStyle/>
                    <a:p>
                      <a:endParaRPr sz="1600"/>
                    </a:p>
                  </a:txBody>
                  <a:tcPr marL="0" marR="0" marT="0" marB="0"/>
                </a:tc>
                <a:tc>
                  <a:txBody>
                    <a:bodyPr/>
                    <a:lstStyle/>
                    <a:p>
                      <a:pPr marL="127000" indent="0"/>
                      <a:r>
                        <a:rPr lang="en-US" sz="1200" b="1">
                          <a:latin typeface="Times New Roman"/>
                        </a:rPr>
                        <a:t>(Customer ID)</a:t>
                      </a:r>
                    </a:p>
                  </a:txBody>
                  <a:tcPr marL="0" marR="0" marT="0" marB="0">
                    <a:solidFill>
                      <a:srgbClr val="34485D"/>
                    </a:solidFill>
                  </a:tcPr>
                </a:tc>
                <a:tc>
                  <a:txBody>
                    <a:bodyPr/>
                    <a:lstStyle/>
                    <a:p>
                      <a:pPr marL="127000" indent="0"/>
                      <a:r>
                        <a:rPr lang="vi" sz="1200" b="1">
                          <a:latin typeface="Times New Roman"/>
                        </a:rPr>
                        <a:t>mẫu</a:t>
                      </a:r>
                    </a:p>
                  </a:txBody>
                  <a:tcPr marL="0" marR="0" marT="0" marB="0">
                    <a:solidFill>
                      <a:srgbClr val="34485D"/>
                    </a:solidFill>
                  </a:tcPr>
                </a:tc>
                <a:tc>
                  <a:txBody>
                    <a:bodyPr/>
                    <a:lstStyle/>
                    <a:p>
                      <a:pPr marL="127000" indent="0"/>
                      <a:r>
                        <a:rPr lang="vi" sz="1200" b="1">
                          <a:latin typeface="Times New Roman"/>
                        </a:rPr>
                        <a:t>C0</a:t>
                      </a:r>
                    </a:p>
                  </a:txBody>
                  <a:tcPr marL="0" marR="0" marT="0" marB="0">
                    <a:solidFill>
                      <a:srgbClr val="34485D"/>
                    </a:solidFill>
                  </a:tcPr>
                </a:tc>
                <a:tc>
                  <a:txBody>
                    <a:bodyPr/>
                    <a:lstStyle/>
                    <a:p>
                      <a:pPr marL="127000" indent="0"/>
                      <a:r>
                        <a:rPr lang="vi" sz="1200" b="1">
                          <a:latin typeface="Times New Roman"/>
                        </a:rPr>
                        <a:t>C1</a:t>
                      </a:r>
                    </a:p>
                  </a:txBody>
                  <a:tcPr marL="0" marR="0" marT="0" marB="0">
                    <a:solidFill>
                      <a:srgbClr val="34485D"/>
                    </a:solidFill>
                  </a:tcPr>
                </a:tc>
                <a:tc>
                  <a:txBody>
                    <a:bodyPr/>
                    <a:lstStyle/>
                    <a:p>
                      <a:pPr marL="114300" indent="0"/>
                      <a:r>
                        <a:rPr lang="vi" sz="1200" b="1">
                          <a:latin typeface="Times New Roman"/>
                        </a:rPr>
                        <a:t>từng nhóm</a:t>
                      </a:r>
                    </a:p>
                  </a:txBody>
                  <a:tcPr marL="0" marR="0" marT="0" marB="0">
                    <a:solidFill>
                      <a:srgbClr val="34485D"/>
                    </a:solidFill>
                  </a:tcPr>
                </a:tc>
                <a:extLst>
                  <a:ext uri="{0D108BD9-81ED-4DB2-BD59-A6C34878D82A}">
                    <a16:rowId xmlns:a16="http://schemas.microsoft.com/office/drawing/2014/main" val="10001"/>
                  </a:ext>
                </a:extLst>
              </a:tr>
            </a:tbl>
          </a:graphicData>
        </a:graphic>
      </p:graphicFrame>
      <p:sp>
        <p:nvSpPr>
          <p:cNvPr id="4" name="Rectangle 3"/>
          <p:cNvSpPr/>
          <p:nvPr/>
        </p:nvSpPr>
        <p:spPr>
          <a:xfrm>
            <a:off x="1185672" y="8372856"/>
            <a:ext cx="5742432" cy="472440"/>
          </a:xfrm>
          <a:prstGeom prst="rect">
            <a:avLst/>
          </a:prstGeom>
        </p:spPr>
        <p:txBody>
          <a:bodyPr lIns="0" tIns="0" rIns="0" bIns="0">
            <a:noAutofit/>
          </a:bodyPr>
          <a:lstStyle/>
          <a:p>
            <a:pPr marL="4876800" indent="0">
              <a:lnSpc>
                <a:spcPts val="2232"/>
              </a:lnSpc>
            </a:pPr>
            <a:r>
              <a:rPr lang="vi" sz="1200">
                <a:latin typeface="Times New Roman"/>
              </a:rPr>
              <a:t>1 - [(1/4)</a:t>
            </a:r>
            <a:r>
              <a:rPr lang="vi" sz="1200" baseline="30000">
                <a:latin typeface="Times New Roman"/>
              </a:rPr>
              <a:t>2</a:t>
            </a:r>
            <a:r>
              <a:rPr lang="vi" sz="1200">
                <a:latin typeface="Times New Roman"/>
              </a:rPr>
              <a:t> +</a:t>
            </a:r>
          </a:p>
          <a:p>
            <a:pPr marL="139700" indent="0" algn="just">
              <a:lnSpc>
                <a:spcPts val="2232"/>
              </a:lnSpc>
            </a:pPr>
            <a:r>
              <a:rPr lang="en-US" sz="1200">
                <a:latin typeface="Times New Roman"/>
              </a:rPr>
              <a:t>Family 1, 11, 12, 13    4    1    3    (3/4)</a:t>
            </a:r>
            <a:r>
              <a:rPr lang="en-US" sz="1200" baseline="30000">
                <a:latin typeface="Times New Roman"/>
              </a:rPr>
              <a:t>2</a:t>
            </a:r>
            <a:r>
              <a:rPr lang="en-US" sz="1200">
                <a:latin typeface="Times New Roman"/>
              </a:rPr>
              <a:t>]</a:t>
            </a:r>
          </a:p>
        </p:txBody>
      </p:sp>
      <p:sp>
        <p:nvSpPr>
          <p:cNvPr id="5" name="Rectangle 4"/>
          <p:cNvSpPr/>
          <p:nvPr/>
        </p:nvSpPr>
        <p:spPr>
          <a:xfrm>
            <a:off x="1185672" y="8976360"/>
            <a:ext cx="5742432" cy="170688"/>
          </a:xfrm>
          <a:prstGeom prst="rect">
            <a:avLst/>
          </a:prstGeom>
        </p:spPr>
        <p:txBody>
          <a:bodyPr wrap="none" lIns="0" tIns="0" rIns="0" bIns="0">
            <a:noAutofit/>
          </a:bodyPr>
          <a:lstStyle/>
          <a:p>
            <a:pPr marR="165100" indent="0" algn="r">
              <a:lnSpc>
                <a:spcPts val="2232"/>
              </a:lnSpc>
            </a:pPr>
            <a:r>
              <a:rPr lang="en-US" sz="1200">
                <a:latin typeface="Times New Roman"/>
              </a:rPr>
              <a:t>= 1 - (0.0625 +</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088136" y="728472"/>
          <a:ext cx="5952744" cy="722376"/>
        </p:xfrm>
        <a:graphic>
          <a:graphicData uri="http://schemas.openxmlformats.org/drawingml/2006/table">
            <a:tbl>
              <a:tblPr/>
              <a:tblGrid>
                <a:gridCol w="710184">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859536">
                  <a:extLst>
                    <a:ext uri="{9D8B030D-6E8A-4147-A177-3AD203B41FA5}">
                      <a16:colId xmlns:a16="http://schemas.microsoft.com/office/drawing/2014/main" val="20003"/>
                    </a:ext>
                  </a:extLst>
                </a:gridCol>
                <a:gridCol w="856488">
                  <a:extLst>
                    <a:ext uri="{9D8B030D-6E8A-4147-A177-3AD203B41FA5}">
                      <a16:colId xmlns:a16="http://schemas.microsoft.com/office/drawing/2014/main" val="20004"/>
                    </a:ext>
                  </a:extLst>
                </a:gridCol>
                <a:gridCol w="1240536">
                  <a:extLst>
                    <a:ext uri="{9D8B030D-6E8A-4147-A177-3AD203B41FA5}">
                      <a16:colId xmlns:a16="http://schemas.microsoft.com/office/drawing/2014/main" val="20005"/>
                    </a:ext>
                  </a:extLst>
                </a:gridCol>
              </a:tblGrid>
              <a:tr h="265176">
                <a:tc rowSpan="2">
                  <a:txBody>
                    <a:bodyPr/>
                    <a:lstStyle/>
                    <a:p>
                      <a:pPr marL="114300" indent="0"/>
                      <a:r>
                        <a:rPr lang="vi" sz="1200" b="1">
                          <a:latin typeface="Times New Roman"/>
                        </a:rPr>
                        <a:t>Giá trị</a:t>
                      </a:r>
                    </a:p>
                  </a:txBody>
                  <a:tcPr marL="0" marR="0" marT="0" marB="0" anchor="ctr">
                    <a:solidFill>
                      <a:srgbClr val="34485D"/>
                    </a:solidFill>
                  </a:tcPr>
                </a:tc>
                <a:tc>
                  <a:txBody>
                    <a:bodyPr/>
                    <a:lstStyle/>
                    <a:p>
                      <a:pPr marL="127000" indent="0"/>
                      <a:r>
                        <a:rPr lang="vi" sz="1200" b="1">
                          <a:latin typeface="Times New Roman"/>
                        </a:rPr>
                        <a:t>Các dòng</a:t>
                      </a:r>
                    </a:p>
                  </a:txBody>
                  <a:tcPr marL="0" marR="0" marT="0" marB="0" anchor="b">
                    <a:solidFill>
                      <a:srgbClr val="34485D"/>
                    </a:solidFill>
                  </a:tcPr>
                </a:tc>
                <a:tc>
                  <a:txBody>
                    <a:bodyPr/>
                    <a:lstStyle/>
                    <a:p>
                      <a:pPr marL="127000" indent="0"/>
                      <a:r>
                        <a:rPr lang="en-US" sz="450">
                          <a:latin typeface="Times New Roman"/>
                        </a:rPr>
                        <a:t>rfi A</a:t>
                      </a:r>
                    </a:p>
                    <a:p>
                      <a:pPr marL="127000" indent="0"/>
                      <a:r>
                        <a:rPr lang="vi" sz="1200" b="1">
                          <a:latin typeface="Times New Roman"/>
                        </a:rPr>
                        <a:t>Tổng</a:t>
                      </a:r>
                    </a:p>
                  </a:txBody>
                  <a:tcPr marL="0" marR="0" marT="0" marB="0" anchor="b">
                    <a:solidFill>
                      <a:srgbClr val="34485D"/>
                    </a:solidFill>
                  </a:tcPr>
                </a:tc>
                <a:tc>
                  <a:txBody>
                    <a:bodyPr/>
                    <a:lstStyle/>
                    <a:p>
                      <a:pPr marL="127000" indent="0"/>
                      <a:r>
                        <a:rPr lang="vi" sz="1200" b="1">
                          <a:latin typeface="Times New Roman"/>
                        </a:rPr>
                        <a:t>Số lượng</a:t>
                      </a:r>
                    </a:p>
                  </a:txBody>
                  <a:tcPr marL="0" marR="0" marT="0" marB="0" anchor="b">
                    <a:solidFill>
                      <a:srgbClr val="34485D"/>
                    </a:solidFill>
                  </a:tcPr>
                </a:tc>
                <a:tc>
                  <a:txBody>
                    <a:bodyPr/>
                    <a:lstStyle/>
                    <a:p>
                      <a:pPr marL="127000" indent="0"/>
                      <a:r>
                        <a:rPr lang="vi" sz="1200" b="1">
                          <a:latin typeface="Times New Roman"/>
                        </a:rPr>
                        <a:t>Số lượng</a:t>
                      </a:r>
                    </a:p>
                  </a:txBody>
                  <a:tcPr marL="0" marR="0" marT="0" marB="0" anchor="b">
                    <a:solidFill>
                      <a:srgbClr val="34485D"/>
                    </a:solidFill>
                  </a:tcPr>
                </a:tc>
                <a:tc>
                  <a:txBody>
                    <a:bodyPr/>
                    <a:lstStyle/>
                    <a:p>
                      <a:pPr marL="114300" indent="0"/>
                      <a:r>
                        <a:rPr lang="vi" sz="1200" b="1">
                          <a:latin typeface="Times New Roman"/>
                        </a:rPr>
                        <a:t>Tính Gini</a:t>
                      </a:r>
                    </a:p>
                  </a:txBody>
                  <a:tcPr marL="0" marR="0" marT="0" marB="0" anchor="b">
                    <a:solidFill>
                      <a:srgbClr val="34485D"/>
                    </a:solidFill>
                  </a:tcPr>
                </a:tc>
                <a:extLst>
                  <a:ext uri="{0D108BD9-81ED-4DB2-BD59-A6C34878D82A}">
                    <a16:rowId xmlns:a16="http://schemas.microsoft.com/office/drawing/2014/main" val="10000"/>
                  </a:ext>
                </a:extLst>
              </a:tr>
              <a:tr h="457200">
                <a:tc vMerge="1">
                  <a:txBody>
                    <a:bodyPr/>
                    <a:lstStyle/>
                    <a:p>
                      <a:endParaRPr sz="2200"/>
                    </a:p>
                  </a:txBody>
                  <a:tcPr marL="0" marR="0" marT="0" marB="0"/>
                </a:tc>
                <a:tc>
                  <a:txBody>
                    <a:bodyPr/>
                    <a:lstStyle/>
                    <a:p>
                      <a:pPr marL="127000" indent="0"/>
                      <a:r>
                        <a:rPr lang="en-US" sz="1200" b="1">
                          <a:latin typeface="Times New Roman"/>
                        </a:rPr>
                        <a:t>(Customer ID)</a:t>
                      </a:r>
                    </a:p>
                  </a:txBody>
                  <a:tcPr marL="0" marR="0" marT="0" marB="0" anchor="ctr">
                    <a:solidFill>
                      <a:srgbClr val="34485D"/>
                    </a:solidFill>
                  </a:tcPr>
                </a:tc>
                <a:tc>
                  <a:txBody>
                    <a:bodyPr/>
                    <a:lstStyle/>
                    <a:p>
                      <a:pPr marL="127000" indent="0"/>
                      <a:r>
                        <a:rPr lang="vi" sz="1200" b="1">
                          <a:latin typeface="Times New Roman"/>
                        </a:rPr>
                        <a:t>mẫu</a:t>
                      </a:r>
                    </a:p>
                  </a:txBody>
                  <a:tcPr marL="0" marR="0" marT="0" marB="0" anchor="ctr">
                    <a:solidFill>
                      <a:srgbClr val="34485D"/>
                    </a:solidFill>
                  </a:tcPr>
                </a:tc>
                <a:tc>
                  <a:txBody>
                    <a:bodyPr/>
                    <a:lstStyle/>
                    <a:p>
                      <a:pPr marL="127000" indent="0"/>
                      <a:r>
                        <a:rPr lang="vi" sz="1200" b="1">
                          <a:latin typeface="Times New Roman"/>
                        </a:rPr>
                        <a:t>C0</a:t>
                      </a:r>
                    </a:p>
                  </a:txBody>
                  <a:tcPr marL="0" marR="0" marT="0" marB="0" anchor="ctr">
                    <a:solidFill>
                      <a:srgbClr val="34485D"/>
                    </a:solidFill>
                  </a:tcPr>
                </a:tc>
                <a:tc>
                  <a:txBody>
                    <a:bodyPr/>
                    <a:lstStyle/>
                    <a:p>
                      <a:pPr marL="127000" indent="0"/>
                      <a:r>
                        <a:rPr lang="vi" sz="1200" b="1">
                          <a:latin typeface="Times New Roman"/>
                        </a:rPr>
                        <a:t>C1</a:t>
                      </a:r>
                    </a:p>
                  </a:txBody>
                  <a:tcPr marL="0" marR="0" marT="0" marB="0" anchor="ctr">
                    <a:solidFill>
                      <a:srgbClr val="34485D"/>
                    </a:solidFill>
                  </a:tcPr>
                </a:tc>
                <a:tc>
                  <a:txBody>
                    <a:bodyPr/>
                    <a:lstStyle/>
                    <a:p>
                      <a:pPr marL="114300" indent="0"/>
                      <a:r>
                        <a:rPr lang="vi" sz="1200" b="1">
                          <a:latin typeface="Times New Roman"/>
                        </a:rPr>
                        <a:t>từng nhóm</a:t>
                      </a:r>
                    </a:p>
                  </a:txBody>
                  <a:tcPr marL="0" marR="0" marT="0" marB="0" anchor="ctr">
                    <a:solidFill>
                      <a:srgbClr val="34485D"/>
                    </a:solidFill>
                  </a:tcPr>
                </a:tc>
                <a:extLst>
                  <a:ext uri="{0D108BD9-81ED-4DB2-BD59-A6C34878D82A}">
                    <a16:rowId xmlns:a16="http://schemas.microsoft.com/office/drawing/2014/main" val="10001"/>
                  </a:ext>
                </a:extLst>
              </a:tr>
            </a:tbl>
          </a:graphicData>
        </a:graphic>
      </p:graphicFrame>
      <p:sp>
        <p:nvSpPr>
          <p:cNvPr id="3" name="Rectangle 2"/>
          <p:cNvSpPr/>
          <p:nvPr/>
        </p:nvSpPr>
        <p:spPr>
          <a:xfrm>
            <a:off x="5900928" y="1554480"/>
            <a:ext cx="536448" cy="441960"/>
          </a:xfrm>
          <a:prstGeom prst="rect">
            <a:avLst/>
          </a:prstGeom>
        </p:spPr>
        <p:txBody>
          <a:bodyPr lIns="0" tIns="0" rIns="0" bIns="0">
            <a:noAutofit/>
          </a:bodyPr>
          <a:lstStyle/>
          <a:p>
            <a:pPr indent="0">
              <a:lnSpc>
                <a:spcPts val="2256"/>
              </a:lnSpc>
              <a:spcBef>
                <a:spcPts val="630"/>
              </a:spcBef>
              <a:spcAft>
                <a:spcPts val="630"/>
              </a:spcAft>
            </a:pPr>
            <a:r>
              <a:rPr lang="en-US" sz="1200">
                <a:latin typeface="Times New Roman"/>
              </a:rPr>
              <a:t>0.5625) = </a:t>
            </a:r>
            <a:r>
              <a:rPr lang="en-US" sz="1200" b="1">
                <a:latin typeface="Times New Roman"/>
              </a:rPr>
              <a:t>0.375</a:t>
            </a:r>
          </a:p>
        </p:txBody>
      </p:sp>
      <p:sp>
        <p:nvSpPr>
          <p:cNvPr id="4" name="Rectangle 3"/>
          <p:cNvSpPr/>
          <p:nvPr/>
        </p:nvSpPr>
        <p:spPr>
          <a:xfrm>
            <a:off x="1066800" y="2270760"/>
            <a:ext cx="5861304" cy="4437888"/>
          </a:xfrm>
          <a:prstGeom prst="rect">
            <a:avLst/>
          </a:prstGeom>
        </p:spPr>
        <p:txBody>
          <a:bodyPr lIns="0" tIns="0" rIns="0" bIns="0">
            <a:noAutofit/>
          </a:bodyPr>
          <a:lstStyle/>
          <a:p>
            <a:pPr marL="4864100" indent="0">
              <a:lnSpc>
                <a:spcPts val="2232"/>
              </a:lnSpc>
              <a:spcBef>
                <a:spcPts val="630"/>
              </a:spcBef>
            </a:pPr>
            <a:r>
              <a:rPr lang="en-US" sz="1200">
                <a:latin typeface="Times New Roman"/>
              </a:rPr>
              <a:t>1 - [(8/8)</a:t>
            </a:r>
            <a:r>
              <a:rPr lang="en-US" sz="1200" baseline="30000">
                <a:latin typeface="Times New Roman"/>
              </a:rPr>
              <a:t>2</a:t>
            </a:r>
            <a:r>
              <a:rPr lang="en-US" sz="1200">
                <a:latin typeface="Times New Roman"/>
              </a:rPr>
              <a:t> +</a:t>
            </a:r>
          </a:p>
          <a:p>
            <a:pPr marL="139700" indent="0" algn="just">
              <a:lnSpc>
                <a:spcPts val="2232"/>
              </a:lnSpc>
            </a:pPr>
            <a:r>
              <a:rPr lang="en-US" sz="1200">
                <a:latin typeface="Times New Roman"/>
              </a:rPr>
              <a:t>Sports    2, 3, 4, 5, 6, 7, 8, 9    8    8    0    (0/8)</a:t>
            </a:r>
            <a:r>
              <a:rPr lang="en-US" sz="1200" baseline="30000">
                <a:latin typeface="Times New Roman"/>
              </a:rPr>
              <a:t>2</a:t>
            </a:r>
            <a:r>
              <a:rPr lang="en-US" sz="1200">
                <a:latin typeface="Times New Roman"/>
              </a:rPr>
              <a:t>]</a:t>
            </a:r>
          </a:p>
          <a:p>
            <a:pPr marL="4864100" indent="0">
              <a:lnSpc>
                <a:spcPts val="2232"/>
              </a:lnSpc>
              <a:spcAft>
                <a:spcPts val="630"/>
              </a:spcAft>
            </a:pPr>
            <a:r>
              <a:rPr lang="en-US" sz="1200">
                <a:latin typeface="Times New Roman"/>
              </a:rPr>
              <a:t>= 1 - 1 = </a:t>
            </a:r>
            <a:r>
              <a:rPr lang="en-US" sz="1200" b="1">
                <a:latin typeface="Times New Roman"/>
              </a:rPr>
              <a:t>0</a:t>
            </a:r>
          </a:p>
          <a:p>
            <a:pPr marL="4864100" indent="0">
              <a:lnSpc>
                <a:spcPts val="2232"/>
              </a:lnSpc>
            </a:pPr>
            <a:r>
              <a:rPr lang="en-US" sz="1200">
                <a:latin typeface="Times New Roman"/>
              </a:rPr>
              <a:t>1 - [(1/8)</a:t>
            </a:r>
            <a:r>
              <a:rPr lang="en-US" sz="1200" baseline="30000">
                <a:latin typeface="Times New Roman"/>
              </a:rPr>
              <a:t>2</a:t>
            </a:r>
            <a:r>
              <a:rPr lang="en-US" sz="1200">
                <a:latin typeface="Times New Roman"/>
              </a:rPr>
              <a:t> + (7/8)</a:t>
            </a:r>
            <a:r>
              <a:rPr lang="en-US" sz="1200" baseline="30000">
                <a:latin typeface="Times New Roman"/>
              </a:rPr>
              <a:t>2</a:t>
            </a:r>
            <a:r>
              <a:rPr lang="en-US" sz="1200">
                <a:latin typeface="Times New Roman"/>
              </a:rPr>
              <a:t>]</a:t>
            </a:r>
          </a:p>
          <a:p>
            <a:pPr marL="863600" indent="0" algn="just">
              <a:lnSpc>
                <a:spcPts val="1104"/>
              </a:lnSpc>
            </a:pPr>
            <a:r>
              <a:rPr lang="en-US" sz="1200">
                <a:latin typeface="Times New Roman"/>
              </a:rPr>
              <a:t>10, 14, 15, 16, 17,</a:t>
            </a:r>
          </a:p>
          <a:p>
            <a:pPr marL="139700" indent="0" algn="just">
              <a:lnSpc>
                <a:spcPts val="1104"/>
              </a:lnSpc>
            </a:pPr>
            <a:r>
              <a:rPr lang="en-US" sz="1200">
                <a:latin typeface="Times New Roman"/>
              </a:rPr>
              <a:t>Luxury    8    1    7    = 1 - (0.0156    +</a:t>
            </a:r>
          </a:p>
          <a:p>
            <a:pPr marL="863600" indent="0" algn="just">
              <a:lnSpc>
                <a:spcPts val="1104"/>
              </a:lnSpc>
            </a:pPr>
            <a:r>
              <a:rPr lang="en-US" sz="1200">
                <a:latin typeface="Times New Roman"/>
              </a:rPr>
              <a:t>18, 19, 20    _</a:t>
            </a:r>
          </a:p>
          <a:p>
            <a:pPr marL="4864100" indent="0">
              <a:lnSpc>
                <a:spcPts val="1104"/>
              </a:lnSpc>
              <a:spcAft>
                <a:spcPts val="630"/>
              </a:spcAft>
            </a:pPr>
            <a:r>
              <a:rPr lang="en-US" sz="1200">
                <a:latin typeface="Times New Roman"/>
              </a:rPr>
              <a:t>0.7656)</a:t>
            </a:r>
          </a:p>
          <a:p>
            <a:pPr marL="4864100" indent="0">
              <a:spcAft>
                <a:spcPts val="1050"/>
              </a:spcAft>
            </a:pPr>
            <a:r>
              <a:rPr lang="en-US" sz="1200">
                <a:latin typeface="Times New Roman"/>
              </a:rPr>
              <a:t>= </a:t>
            </a:r>
            <a:r>
              <a:rPr lang="en-US" sz="1200" b="1">
                <a:latin typeface="Times New Roman"/>
              </a:rPr>
              <a:t>0.21875</a:t>
            </a:r>
          </a:p>
          <a:p>
            <a:pPr indent="0" algn="just">
              <a:lnSpc>
                <a:spcPts val="2232"/>
              </a:lnSpc>
            </a:pPr>
            <a:r>
              <a:rPr lang="vi" sz="1200" b="1">
                <a:latin typeface="Times New Roman"/>
              </a:rPr>
              <a:t>Tính </a:t>
            </a:r>
            <a:r>
              <a:rPr lang="en-US" sz="1200" b="1">
                <a:latin typeface="Times New Roman"/>
              </a:rPr>
              <a:t>Gini </a:t>
            </a:r>
            <a:r>
              <a:rPr lang="vi" sz="1200" b="1">
                <a:latin typeface="Times New Roman"/>
              </a:rPr>
              <a:t>có trọng số cho </a:t>
            </a:r>
            <a:r>
              <a:rPr lang="en-US" sz="1200" b="1">
                <a:latin typeface="Times New Roman"/>
              </a:rPr>
              <a:t>Car Type</a:t>
            </a:r>
          </a:p>
          <a:p>
            <a:pPr indent="0" algn="just">
              <a:lnSpc>
                <a:spcPts val="2232"/>
              </a:lnSpc>
            </a:pPr>
            <a:r>
              <a:rPr lang="en-US" sz="1200">
                <a:latin typeface="Times New Roman"/>
              </a:rPr>
              <a:t>GiniCarType = (4/20)*0.375 + (8/20)*0 + (8/20)*0.21875</a:t>
            </a:r>
          </a:p>
          <a:p>
            <a:pPr indent="0" algn="just">
              <a:lnSpc>
                <a:spcPts val="2232"/>
              </a:lnSpc>
            </a:pPr>
            <a:r>
              <a:rPr lang="en-US" sz="1200">
                <a:latin typeface="Times New Roman"/>
              </a:rPr>
              <a:t>= 0.2 * 0.375 + 0 + 0.4 * 0.21875</a:t>
            </a:r>
          </a:p>
          <a:p>
            <a:pPr indent="0" algn="just">
              <a:lnSpc>
                <a:spcPts val="2232"/>
              </a:lnSpc>
            </a:pPr>
            <a:r>
              <a:rPr lang="en-US" sz="1200">
                <a:latin typeface="Times New Roman"/>
              </a:rPr>
              <a:t>= 0.075 + 0 + 0.0875</a:t>
            </a:r>
          </a:p>
          <a:p>
            <a:pPr indent="0" algn="just">
              <a:lnSpc>
                <a:spcPts val="2232"/>
              </a:lnSpc>
            </a:pPr>
            <a:r>
              <a:rPr lang="vi" sz="1200">
                <a:latin typeface="Times New Roman"/>
              </a:rPr>
              <a:t>Kết quả: </a:t>
            </a:r>
            <a:r>
              <a:rPr lang="en-US" sz="1200" b="1">
                <a:latin typeface="Times New Roman"/>
              </a:rPr>
              <a:t>Gini(Car Type) = 0.1625</a:t>
            </a:r>
          </a:p>
          <a:p>
            <a:pPr indent="0" algn="just">
              <a:lnSpc>
                <a:spcPts val="2232"/>
              </a:lnSpc>
            </a:pPr>
            <a:r>
              <a:rPr lang="en-US" sz="1200" b="1">
                <a:latin typeface="Times New Roman"/>
              </a:rPr>
              <a:t>e) </a:t>
            </a:r>
            <a:r>
              <a:rPr lang="vi" sz="1200" b="1">
                <a:latin typeface="Times New Roman"/>
              </a:rPr>
              <a:t>Tính </a:t>
            </a:r>
            <a:r>
              <a:rPr lang="en-US" sz="1200" b="1">
                <a:latin typeface="Times New Roman"/>
              </a:rPr>
              <a:t>Gini Index </a:t>
            </a:r>
            <a:r>
              <a:rPr lang="vi" sz="1200" b="1">
                <a:latin typeface="Times New Roman"/>
              </a:rPr>
              <a:t>cho thuộc tính </a:t>
            </a:r>
            <a:r>
              <a:rPr lang="en-US" sz="1200" b="1">
                <a:latin typeface="Times New Roman"/>
              </a:rPr>
              <a:t>Shirt Size (Multiway split)</a:t>
            </a:r>
          </a:p>
          <a:p>
            <a:pPr indent="0" algn="just">
              <a:lnSpc>
                <a:spcPts val="2232"/>
              </a:lnSpc>
            </a:pPr>
            <a:r>
              <a:rPr lang="vi" sz="1200">
                <a:latin typeface="Times New Roman"/>
              </a:rPr>
              <a:t>Thuộc tính </a:t>
            </a:r>
            <a:r>
              <a:rPr lang="en-US" sz="1200">
                <a:latin typeface="Times New Roman"/>
              </a:rPr>
              <a:t>Shirt Size </a:t>
            </a:r>
            <a:r>
              <a:rPr lang="vi" sz="1200">
                <a:latin typeface="Times New Roman"/>
              </a:rPr>
              <a:t>chia thành </a:t>
            </a:r>
            <a:r>
              <a:rPr lang="en-US" sz="1200">
                <a:latin typeface="Times New Roman"/>
              </a:rPr>
              <a:t>4 </a:t>
            </a:r>
            <a:r>
              <a:rPr lang="vi" sz="1200" u="sng">
                <a:latin typeface="Times New Roman"/>
              </a:rPr>
              <a:t>nhánh</a:t>
            </a:r>
            <a:r>
              <a:rPr lang="vi" sz="1200">
                <a:latin typeface="Times New Roman"/>
              </a:rPr>
              <a:t>: </a:t>
            </a:r>
            <a:r>
              <a:rPr lang="en-US" sz="1200" b="1">
                <a:latin typeface="Times New Roman"/>
              </a:rPr>
              <a:t>Small, Medium, Large, Extra Large</a:t>
            </a:r>
            <a:r>
              <a:rPr lang="en-US" sz="1200">
                <a:latin typeface="Times New Roman"/>
              </a:rPr>
              <a:t>.</a:t>
            </a:r>
          </a:p>
        </p:txBody>
      </p:sp>
      <p:graphicFrame>
        <p:nvGraphicFramePr>
          <p:cNvPr id="5" name="Table 4"/>
          <p:cNvGraphicFramePr>
            <a:graphicFrameLocks noGrp="1"/>
          </p:cNvGraphicFramePr>
          <p:nvPr/>
        </p:nvGraphicFramePr>
        <p:xfrm>
          <a:off x="1088136" y="6797040"/>
          <a:ext cx="5952744" cy="2029968"/>
        </p:xfrm>
        <a:graphic>
          <a:graphicData uri="http://schemas.openxmlformats.org/drawingml/2006/table">
            <a:tbl>
              <a:tblPr/>
              <a:tblGrid>
                <a:gridCol w="899160">
                  <a:extLst>
                    <a:ext uri="{9D8B030D-6E8A-4147-A177-3AD203B41FA5}">
                      <a16:colId xmlns:a16="http://schemas.microsoft.com/office/drawing/2014/main" val="20000"/>
                    </a:ext>
                  </a:extLst>
                </a:gridCol>
                <a:gridCol w="1493520">
                  <a:extLst>
                    <a:ext uri="{9D8B030D-6E8A-4147-A177-3AD203B41FA5}">
                      <a16:colId xmlns:a16="http://schemas.microsoft.com/office/drawing/2014/main" val="20001"/>
                    </a:ext>
                  </a:extLst>
                </a:gridCol>
                <a:gridCol w="597408">
                  <a:extLst>
                    <a:ext uri="{9D8B030D-6E8A-4147-A177-3AD203B41FA5}">
                      <a16:colId xmlns:a16="http://schemas.microsoft.com/office/drawing/2014/main" val="20002"/>
                    </a:ext>
                  </a:extLst>
                </a:gridCol>
                <a:gridCol w="429768">
                  <a:extLst>
                    <a:ext uri="{9D8B030D-6E8A-4147-A177-3AD203B41FA5}">
                      <a16:colId xmlns:a16="http://schemas.microsoft.com/office/drawing/2014/main" val="20003"/>
                    </a:ext>
                  </a:extLst>
                </a:gridCol>
                <a:gridCol w="429768">
                  <a:extLst>
                    <a:ext uri="{9D8B030D-6E8A-4147-A177-3AD203B41FA5}">
                      <a16:colId xmlns:a16="http://schemas.microsoft.com/office/drawing/2014/main" val="20004"/>
                    </a:ext>
                  </a:extLst>
                </a:gridCol>
                <a:gridCol w="2103120">
                  <a:extLst>
                    <a:ext uri="{9D8B030D-6E8A-4147-A177-3AD203B41FA5}">
                      <a16:colId xmlns:a16="http://schemas.microsoft.com/office/drawing/2014/main" val="20005"/>
                    </a:ext>
                  </a:extLst>
                </a:gridCol>
              </a:tblGrid>
              <a:tr h="716280">
                <a:tc>
                  <a:txBody>
                    <a:bodyPr/>
                    <a:lstStyle/>
                    <a:p>
                      <a:pPr marL="114300" indent="0"/>
                      <a:r>
                        <a:rPr lang="vi" sz="1200" b="1">
                          <a:latin typeface="Times New Roman"/>
                        </a:rPr>
                        <a:t>Giá trị</a:t>
                      </a:r>
                    </a:p>
                  </a:txBody>
                  <a:tcPr marL="0" marR="0" marT="0" marB="0" anchor="ctr">
                    <a:solidFill>
                      <a:srgbClr val="34485D"/>
                    </a:solidFill>
                  </a:tcPr>
                </a:tc>
                <a:tc>
                  <a:txBody>
                    <a:bodyPr/>
                    <a:lstStyle/>
                    <a:p>
                      <a:pPr marL="127000" indent="0">
                        <a:lnSpc>
                          <a:spcPts val="2256"/>
                        </a:lnSpc>
                      </a:pPr>
                      <a:r>
                        <a:rPr lang="vi" sz="1200" b="1">
                          <a:latin typeface="Times New Roman"/>
                        </a:rPr>
                        <a:t>Các dòng </a:t>
                      </a:r>
                      <a:r>
                        <a:rPr lang="en-US" sz="1200" b="1">
                          <a:latin typeface="Times New Roman"/>
                        </a:rPr>
                        <a:t>(Customer ID)</a:t>
                      </a:r>
                    </a:p>
                  </a:txBody>
                  <a:tcPr marL="0" marR="0" marT="0" marB="0" anchor="ctr">
                    <a:solidFill>
                      <a:srgbClr val="34485D"/>
                    </a:solidFill>
                  </a:tcPr>
                </a:tc>
                <a:tc>
                  <a:txBody>
                    <a:bodyPr/>
                    <a:lstStyle/>
                    <a:p>
                      <a:pPr marL="127000" indent="0"/>
                      <a:r>
                        <a:rPr lang="en-US" sz="450">
                          <a:latin typeface="Times New Roman"/>
                        </a:rPr>
                        <a:t>rfi A</a:t>
                      </a:r>
                    </a:p>
                    <a:p>
                      <a:pPr marL="127000" indent="0"/>
                      <a:r>
                        <a:rPr lang="vi" sz="1200" b="1">
                          <a:latin typeface="Times New Roman"/>
                        </a:rPr>
                        <a:t>Tổng</a:t>
                      </a:r>
                    </a:p>
                  </a:txBody>
                  <a:tcPr marL="0" marR="0" marT="0" marB="0" anchor="ctr">
                    <a:solidFill>
                      <a:srgbClr val="34485D"/>
                    </a:solidFill>
                  </a:tcPr>
                </a:tc>
                <a:tc>
                  <a:txBody>
                    <a:bodyPr/>
                    <a:lstStyle/>
                    <a:p>
                      <a:pPr marL="127000" indent="0"/>
                      <a:r>
                        <a:rPr lang="en-US" sz="1200" b="1">
                          <a:latin typeface="Times New Roman"/>
                        </a:rPr>
                        <a:t>C0</a:t>
                      </a:r>
                    </a:p>
                  </a:txBody>
                  <a:tcPr marL="0" marR="0" marT="0" marB="0" anchor="ctr">
                    <a:solidFill>
                      <a:srgbClr val="34485D"/>
                    </a:solidFill>
                  </a:tcPr>
                </a:tc>
                <a:tc>
                  <a:txBody>
                    <a:bodyPr/>
                    <a:lstStyle/>
                    <a:p>
                      <a:pPr marL="114300" indent="0"/>
                      <a:r>
                        <a:rPr lang="en-US" sz="1200" b="1">
                          <a:latin typeface="Times New Roman"/>
                        </a:rPr>
                        <a:t>C1</a:t>
                      </a:r>
                    </a:p>
                  </a:txBody>
                  <a:tcPr marL="0" marR="0" marT="0" marB="0" anchor="ctr">
                    <a:solidFill>
                      <a:srgbClr val="34485D"/>
                    </a:solidFill>
                  </a:tcPr>
                </a:tc>
                <a:tc>
                  <a:txBody>
                    <a:bodyPr/>
                    <a:lstStyle/>
                    <a:p>
                      <a:pPr marL="127000" indent="0"/>
                      <a:r>
                        <a:rPr lang="vi" sz="1200" b="1">
                          <a:latin typeface="Times New Roman"/>
                        </a:rPr>
                        <a:t>Tính </a:t>
                      </a:r>
                      <a:r>
                        <a:rPr lang="en-US" sz="1200" b="1">
                          <a:latin typeface="Times New Roman"/>
                        </a:rPr>
                        <a:t>Gini </a:t>
                      </a:r>
                      <a:r>
                        <a:rPr lang="vi" sz="1200" b="1">
                          <a:latin typeface="Times New Roman"/>
                        </a:rPr>
                        <a:t>từng nhóm</a:t>
                      </a:r>
                    </a:p>
                  </a:txBody>
                  <a:tcPr marL="0" marR="0" marT="0" marB="0" anchor="ctr">
                    <a:solidFill>
                      <a:srgbClr val="34485D"/>
                    </a:solidFill>
                  </a:tcPr>
                </a:tc>
                <a:extLst>
                  <a:ext uri="{0D108BD9-81ED-4DB2-BD59-A6C34878D82A}">
                    <a16:rowId xmlns:a16="http://schemas.microsoft.com/office/drawing/2014/main" val="10000"/>
                  </a:ext>
                </a:extLst>
              </a:tr>
              <a:tr h="707136">
                <a:tc>
                  <a:txBody>
                    <a:bodyPr/>
                    <a:lstStyle/>
                    <a:p>
                      <a:pPr marL="114300" indent="0"/>
                      <a:r>
                        <a:rPr lang="en-US" sz="1200">
                          <a:latin typeface="Times New Roman"/>
                        </a:rPr>
                        <a:t>Small</a:t>
                      </a:r>
                    </a:p>
                  </a:txBody>
                  <a:tcPr marL="0" marR="0" marT="0" marB="0" anchor="ctr"/>
                </a:tc>
                <a:tc>
                  <a:txBody>
                    <a:bodyPr/>
                    <a:lstStyle/>
                    <a:p>
                      <a:pPr marL="127000" indent="0"/>
                      <a:r>
                        <a:rPr lang="vi" sz="1200">
                          <a:latin typeface="Times New Roman"/>
                        </a:rPr>
                        <a:t>1, 7, 8, 15, 16</a:t>
                      </a:r>
                    </a:p>
                  </a:txBody>
                  <a:tcPr marL="0" marR="0" marT="0" marB="0" anchor="ctr"/>
                </a:tc>
                <a:tc>
                  <a:txBody>
                    <a:bodyPr/>
                    <a:lstStyle/>
                    <a:p>
                      <a:pPr marL="127000" indent="0"/>
                      <a:r>
                        <a:rPr lang="en-US" sz="1200">
                          <a:latin typeface="Times New Roman"/>
                        </a:rPr>
                        <a:t>5</a:t>
                      </a:r>
                    </a:p>
                  </a:txBody>
                  <a:tcPr marL="0" marR="0" marT="0" marB="0" anchor="ctr"/>
                </a:tc>
                <a:tc>
                  <a:txBody>
                    <a:bodyPr/>
                    <a:lstStyle/>
                    <a:p>
                      <a:pPr marL="127000" indent="0"/>
                      <a:r>
                        <a:rPr lang="en-US" sz="1200">
                          <a:latin typeface="Times New Roman"/>
                        </a:rPr>
                        <a:t>3</a:t>
                      </a:r>
                    </a:p>
                  </a:txBody>
                  <a:tcPr marL="0" marR="0" marT="0" marB="0" anchor="ctr"/>
                </a:tc>
                <a:tc>
                  <a:txBody>
                    <a:bodyPr/>
                    <a:lstStyle/>
                    <a:p>
                      <a:pPr marL="114300" indent="0"/>
                      <a:r>
                        <a:rPr lang="en-US" sz="1200">
                          <a:latin typeface="Times New Roman"/>
                        </a:rPr>
                        <a:t>2</a:t>
                      </a:r>
                    </a:p>
                  </a:txBody>
                  <a:tcPr marL="0" marR="0" marT="0" marB="0" anchor="ctr"/>
                </a:tc>
                <a:tc>
                  <a:txBody>
                    <a:bodyPr/>
                    <a:lstStyle/>
                    <a:p>
                      <a:pPr marL="127000" indent="0">
                        <a:lnSpc>
                          <a:spcPts val="2232"/>
                        </a:lnSpc>
                      </a:pPr>
                      <a:r>
                        <a:rPr lang="vi" sz="1200">
                          <a:latin typeface="Times New Roman"/>
                        </a:rPr>
                        <a:t>1 - [(3/5)</a:t>
                      </a:r>
                      <a:r>
                        <a:rPr lang="vi" sz="1200" baseline="30000">
                          <a:latin typeface="Times New Roman"/>
                        </a:rPr>
                        <a:t>2</a:t>
                      </a:r>
                      <a:r>
                        <a:rPr lang="vi" sz="1200">
                          <a:latin typeface="Times New Roman"/>
                        </a:rPr>
                        <a:t> + (2/5)</a:t>
                      </a:r>
                      <a:r>
                        <a:rPr lang="vi" sz="1200" baseline="30000">
                          <a:latin typeface="Times New Roman"/>
                        </a:rPr>
                        <a:t>2</a:t>
                      </a:r>
                      <a:r>
                        <a:rPr lang="vi" sz="1200">
                          <a:latin typeface="Times New Roman"/>
                        </a:rPr>
                        <a:t>] = 1 -(0.36+0.16) = </a:t>
                      </a:r>
                      <a:r>
                        <a:rPr lang="vi" sz="1200" b="1">
                          <a:latin typeface="Times New Roman"/>
                        </a:rPr>
                        <a:t>0.48</a:t>
                      </a:r>
                    </a:p>
                  </a:txBody>
                  <a:tcPr marL="0" marR="0" marT="0" marB="0" anchor="ctr"/>
                </a:tc>
                <a:extLst>
                  <a:ext uri="{0D108BD9-81ED-4DB2-BD59-A6C34878D82A}">
                    <a16:rowId xmlns:a16="http://schemas.microsoft.com/office/drawing/2014/main" val="10001"/>
                  </a:ext>
                </a:extLst>
              </a:tr>
              <a:tr h="606552">
                <a:tc>
                  <a:txBody>
                    <a:bodyPr/>
                    <a:lstStyle/>
                    <a:p>
                      <a:pPr marL="114300" indent="0"/>
                      <a:r>
                        <a:rPr lang="en-US" sz="1200">
                          <a:latin typeface="Times New Roman"/>
                        </a:rPr>
                        <a:t>Medium</a:t>
                      </a:r>
                    </a:p>
                  </a:txBody>
                  <a:tcPr marL="0" marR="0" marT="0" marB="0" anchor="ctr"/>
                </a:tc>
                <a:tc>
                  <a:txBody>
                    <a:bodyPr/>
                    <a:lstStyle/>
                    <a:p>
                      <a:pPr marL="127000" indent="0">
                        <a:lnSpc>
                          <a:spcPts val="2232"/>
                        </a:lnSpc>
                      </a:pPr>
                      <a:r>
                        <a:rPr lang="vi" sz="1200">
                          <a:latin typeface="Times New Roman"/>
                        </a:rPr>
                        <a:t>2, 3, 9, 13, 17, 18, 19</a:t>
                      </a:r>
                    </a:p>
                  </a:txBody>
                  <a:tcPr marL="0" marR="0" marT="0" marB="0" anchor="b"/>
                </a:tc>
                <a:tc>
                  <a:txBody>
                    <a:bodyPr/>
                    <a:lstStyle/>
                    <a:p>
                      <a:pPr marL="127000" indent="0"/>
                      <a:r>
                        <a:rPr lang="en-US" sz="1200">
                          <a:latin typeface="Times New Roman"/>
                        </a:rPr>
                        <a:t>7</a:t>
                      </a:r>
                    </a:p>
                  </a:txBody>
                  <a:tcPr marL="0" marR="0" marT="0" marB="0" anchor="ctr"/>
                </a:tc>
                <a:tc>
                  <a:txBody>
                    <a:bodyPr/>
                    <a:lstStyle/>
                    <a:p>
                      <a:pPr marL="127000" indent="0"/>
                      <a:r>
                        <a:rPr lang="en-US" sz="1200">
                          <a:latin typeface="Times New Roman"/>
                        </a:rPr>
                        <a:t>3</a:t>
                      </a:r>
                    </a:p>
                  </a:txBody>
                  <a:tcPr marL="0" marR="0" marT="0" marB="0" anchor="ctr"/>
                </a:tc>
                <a:tc>
                  <a:txBody>
                    <a:bodyPr/>
                    <a:lstStyle/>
                    <a:p>
                      <a:pPr marL="114300" indent="0"/>
                      <a:r>
                        <a:rPr lang="en-US" sz="1200">
                          <a:latin typeface="Times New Roman"/>
                        </a:rPr>
                        <a:t>4</a:t>
                      </a:r>
                    </a:p>
                  </a:txBody>
                  <a:tcPr marL="0" marR="0" marT="0" marB="0" anchor="ctr"/>
                </a:tc>
                <a:tc>
                  <a:txBody>
                    <a:bodyPr/>
                    <a:lstStyle/>
                    <a:p>
                      <a:pPr marL="127000" indent="0">
                        <a:lnSpc>
                          <a:spcPts val="2232"/>
                        </a:lnSpc>
                      </a:pPr>
                      <a:r>
                        <a:rPr lang="vi" sz="1200">
                          <a:latin typeface="Times New Roman"/>
                        </a:rPr>
                        <a:t>1 - [(3/7)</a:t>
                      </a:r>
                      <a:r>
                        <a:rPr lang="vi" sz="1200" baseline="30000">
                          <a:latin typeface="Times New Roman"/>
                        </a:rPr>
                        <a:t>2</a:t>
                      </a:r>
                      <a:r>
                        <a:rPr lang="vi" sz="1200">
                          <a:latin typeface="Times New Roman"/>
                        </a:rPr>
                        <a:t> + (4/7)</a:t>
                      </a:r>
                      <a:r>
                        <a:rPr lang="vi" sz="1200" baseline="30000">
                          <a:latin typeface="Times New Roman"/>
                        </a:rPr>
                        <a:t>2</a:t>
                      </a:r>
                      <a:r>
                        <a:rPr lang="vi" sz="1200">
                          <a:latin typeface="Times New Roman"/>
                        </a:rPr>
                        <a:t>] = 1 -(9/49 + 16/49)</a:t>
                      </a:r>
                    </a:p>
                  </a:txBody>
                  <a:tcPr marL="0" marR="0" marT="0" marB="0" anchor="b"/>
                </a:tc>
                <a:extLst>
                  <a:ext uri="{0D108BD9-81ED-4DB2-BD59-A6C34878D82A}">
                    <a16:rowId xmlns:a16="http://schemas.microsoft.com/office/drawing/2014/main" val="10002"/>
                  </a:ext>
                </a:extLst>
              </a:tr>
            </a:tbl>
          </a:graphicData>
        </a:graphic>
      </p:graphicFrame>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088136" y="728472"/>
          <a:ext cx="5952744" cy="2764536"/>
        </p:xfrm>
        <a:graphic>
          <a:graphicData uri="http://schemas.openxmlformats.org/drawingml/2006/table">
            <a:tbl>
              <a:tblPr/>
              <a:tblGrid>
                <a:gridCol w="899160">
                  <a:extLst>
                    <a:ext uri="{9D8B030D-6E8A-4147-A177-3AD203B41FA5}">
                      <a16:colId xmlns:a16="http://schemas.microsoft.com/office/drawing/2014/main" val="20000"/>
                    </a:ext>
                  </a:extLst>
                </a:gridCol>
                <a:gridCol w="1493520">
                  <a:extLst>
                    <a:ext uri="{9D8B030D-6E8A-4147-A177-3AD203B41FA5}">
                      <a16:colId xmlns:a16="http://schemas.microsoft.com/office/drawing/2014/main" val="20001"/>
                    </a:ext>
                  </a:extLst>
                </a:gridCol>
                <a:gridCol w="597408">
                  <a:extLst>
                    <a:ext uri="{9D8B030D-6E8A-4147-A177-3AD203B41FA5}">
                      <a16:colId xmlns:a16="http://schemas.microsoft.com/office/drawing/2014/main" val="20002"/>
                    </a:ext>
                  </a:extLst>
                </a:gridCol>
                <a:gridCol w="429768">
                  <a:extLst>
                    <a:ext uri="{9D8B030D-6E8A-4147-A177-3AD203B41FA5}">
                      <a16:colId xmlns:a16="http://schemas.microsoft.com/office/drawing/2014/main" val="20003"/>
                    </a:ext>
                  </a:extLst>
                </a:gridCol>
                <a:gridCol w="429768">
                  <a:extLst>
                    <a:ext uri="{9D8B030D-6E8A-4147-A177-3AD203B41FA5}">
                      <a16:colId xmlns:a16="http://schemas.microsoft.com/office/drawing/2014/main" val="20004"/>
                    </a:ext>
                  </a:extLst>
                </a:gridCol>
                <a:gridCol w="2103120">
                  <a:extLst>
                    <a:ext uri="{9D8B030D-6E8A-4147-A177-3AD203B41FA5}">
                      <a16:colId xmlns:a16="http://schemas.microsoft.com/office/drawing/2014/main" val="20005"/>
                    </a:ext>
                  </a:extLst>
                </a:gridCol>
              </a:tblGrid>
              <a:tr h="719328">
                <a:tc>
                  <a:txBody>
                    <a:bodyPr/>
                    <a:lstStyle/>
                    <a:p>
                      <a:pPr marL="114300" indent="0"/>
                      <a:r>
                        <a:rPr lang="vi" sz="1200">
                          <a:latin typeface="Times New Roman"/>
                        </a:rPr>
                        <a:t>Giá trị</a:t>
                      </a:r>
                    </a:p>
                  </a:txBody>
                  <a:tcPr marL="0" marR="0" marT="0" marB="0" anchor="ctr">
                    <a:solidFill>
                      <a:srgbClr val="34485D"/>
                    </a:solidFill>
                  </a:tcPr>
                </a:tc>
                <a:tc>
                  <a:txBody>
                    <a:bodyPr/>
                    <a:lstStyle/>
                    <a:p>
                      <a:pPr marL="127000" marR="355600" indent="0">
                        <a:lnSpc>
                          <a:spcPts val="2256"/>
                        </a:lnSpc>
                      </a:pPr>
                      <a:r>
                        <a:rPr lang="vi" sz="1200">
                          <a:latin typeface="Times New Roman"/>
                        </a:rPr>
                        <a:t>Các dòng </a:t>
                      </a:r>
                      <a:r>
                        <a:rPr lang="en-US" sz="1200">
                          <a:latin typeface="Times New Roman"/>
                        </a:rPr>
                        <a:t>(Customer ID)</a:t>
                      </a:r>
                    </a:p>
                  </a:txBody>
                  <a:tcPr marL="0" marR="0" marT="0" marB="0" anchor="ctr">
                    <a:solidFill>
                      <a:srgbClr val="34485D"/>
                    </a:solidFill>
                  </a:tcPr>
                </a:tc>
                <a:tc>
                  <a:txBody>
                    <a:bodyPr/>
                    <a:lstStyle/>
                    <a:p>
                      <a:pPr marL="114300" indent="0"/>
                      <a:r>
                        <a:rPr lang="en-US" sz="450">
                          <a:latin typeface="Times New Roman"/>
                        </a:rPr>
                        <a:t>rfi A</a:t>
                      </a:r>
                    </a:p>
                    <a:p>
                      <a:pPr marL="114300" indent="0"/>
                      <a:r>
                        <a:rPr lang="vi" sz="1200">
                          <a:latin typeface="Times New Roman"/>
                        </a:rPr>
                        <a:t>Tổng</a:t>
                      </a:r>
                    </a:p>
                  </a:txBody>
                  <a:tcPr marL="0" marR="0" marT="0" marB="0" anchor="ctr">
                    <a:solidFill>
                      <a:srgbClr val="34485D"/>
                    </a:solidFill>
                  </a:tcPr>
                </a:tc>
                <a:tc>
                  <a:txBody>
                    <a:bodyPr/>
                    <a:lstStyle/>
                    <a:p>
                      <a:pPr marL="114300" indent="0"/>
                      <a:r>
                        <a:rPr lang="en-US" sz="1200">
                          <a:latin typeface="Times New Roman"/>
                        </a:rPr>
                        <a:t>C0</a:t>
                      </a:r>
                    </a:p>
                  </a:txBody>
                  <a:tcPr marL="0" marR="0" marT="0" marB="0" anchor="ctr">
                    <a:solidFill>
                      <a:srgbClr val="34485D"/>
                    </a:solidFill>
                  </a:tcPr>
                </a:tc>
                <a:tc>
                  <a:txBody>
                    <a:bodyPr/>
                    <a:lstStyle/>
                    <a:p>
                      <a:pPr marL="114300" indent="0"/>
                      <a:r>
                        <a:rPr lang="en-US" sz="1200">
                          <a:latin typeface="Times New Roman"/>
                        </a:rPr>
                        <a:t>C1</a:t>
                      </a:r>
                    </a:p>
                  </a:txBody>
                  <a:tcPr marL="0" marR="0" marT="0" marB="0" anchor="ctr">
                    <a:solidFill>
                      <a:srgbClr val="34485D"/>
                    </a:solidFill>
                  </a:tcPr>
                </a:tc>
                <a:tc>
                  <a:txBody>
                    <a:bodyPr/>
                    <a:lstStyle/>
                    <a:p>
                      <a:pPr marL="127000" indent="0"/>
                      <a:r>
                        <a:rPr lang="vi" sz="1200">
                          <a:latin typeface="Times New Roman"/>
                        </a:rPr>
                        <a:t>Tính </a:t>
                      </a:r>
                      <a:r>
                        <a:rPr lang="en-US" sz="1200">
                          <a:latin typeface="Times New Roman"/>
                        </a:rPr>
                        <a:t>Gini </a:t>
                      </a:r>
                      <a:r>
                        <a:rPr lang="vi" sz="1200">
                          <a:latin typeface="Times New Roman"/>
                        </a:rPr>
                        <a:t>từng nhóm</a:t>
                      </a:r>
                    </a:p>
                  </a:txBody>
                  <a:tcPr marL="0" marR="0" marT="0" marB="0" anchor="ctr">
                    <a:solidFill>
                      <a:srgbClr val="34485D"/>
                    </a:solidFill>
                  </a:tcPr>
                </a:tc>
                <a:extLst>
                  <a:ext uri="{0D108BD9-81ED-4DB2-BD59-A6C34878D82A}">
                    <a16:rowId xmlns:a16="http://schemas.microsoft.com/office/drawing/2014/main" val="10000"/>
                  </a:ext>
                </a:extLst>
              </a:tr>
              <a:tr h="344424">
                <a:tc>
                  <a:txBody>
                    <a:bodyPr/>
                    <a:lstStyle/>
                    <a:p>
                      <a:endParaRPr sz="1700"/>
                    </a:p>
                  </a:txBody>
                  <a:tcPr marL="0" marR="0" marT="0" marB="0"/>
                </a:tc>
                <a:tc>
                  <a:txBody>
                    <a:bodyPr/>
                    <a:lstStyle/>
                    <a:p>
                      <a:endParaRPr sz="1700"/>
                    </a:p>
                  </a:txBody>
                  <a:tcPr marL="0" marR="0" marT="0" marB="0"/>
                </a:tc>
                <a:tc>
                  <a:txBody>
                    <a:bodyPr/>
                    <a:lstStyle/>
                    <a:p>
                      <a:endParaRPr sz="1700"/>
                    </a:p>
                  </a:txBody>
                  <a:tcPr marL="0" marR="0" marT="0" marB="0"/>
                </a:tc>
                <a:tc>
                  <a:txBody>
                    <a:bodyPr/>
                    <a:lstStyle/>
                    <a:p>
                      <a:endParaRPr sz="1700"/>
                    </a:p>
                  </a:txBody>
                  <a:tcPr marL="0" marR="0" marT="0" marB="0"/>
                </a:tc>
                <a:tc>
                  <a:txBody>
                    <a:bodyPr/>
                    <a:lstStyle/>
                    <a:p>
                      <a:endParaRPr sz="1700"/>
                    </a:p>
                  </a:txBody>
                  <a:tcPr marL="0" marR="0" marT="0" marB="0"/>
                </a:tc>
                <a:tc>
                  <a:txBody>
                    <a:bodyPr/>
                    <a:lstStyle/>
                    <a:p>
                      <a:pPr marL="127000" indent="0"/>
                      <a:r>
                        <a:rPr lang="en-US" sz="1200">
                          <a:latin typeface="Times New Roman"/>
                        </a:rPr>
                        <a:t>= 1 - 25/49 &amp;approx;</a:t>
                      </a:r>
                    </a:p>
                  </a:txBody>
                  <a:tcPr marL="0" marR="0" marT="0" marB="0" anchor="b"/>
                </a:tc>
                <a:extLst>
                  <a:ext uri="{0D108BD9-81ED-4DB2-BD59-A6C34878D82A}">
                    <a16:rowId xmlns:a16="http://schemas.microsoft.com/office/drawing/2014/main" val="10001"/>
                  </a:ext>
                </a:extLst>
              </a:tr>
              <a:tr h="347472">
                <a:tc>
                  <a:txBody>
                    <a:bodyPr/>
                    <a:lstStyle/>
                    <a:p>
                      <a:endParaRPr sz="1700"/>
                    </a:p>
                  </a:txBody>
                  <a:tcPr marL="0" marR="0" marT="0" marB="0"/>
                </a:tc>
                <a:tc>
                  <a:txBody>
                    <a:bodyPr/>
                    <a:lstStyle/>
                    <a:p>
                      <a:endParaRPr sz="1700"/>
                    </a:p>
                  </a:txBody>
                  <a:tcPr marL="0" marR="0" marT="0" marB="0"/>
                </a:tc>
                <a:tc>
                  <a:txBody>
                    <a:bodyPr/>
                    <a:lstStyle/>
                    <a:p>
                      <a:endParaRPr sz="1700"/>
                    </a:p>
                  </a:txBody>
                  <a:tcPr marL="0" marR="0" marT="0" marB="0"/>
                </a:tc>
                <a:tc>
                  <a:txBody>
                    <a:bodyPr/>
                    <a:lstStyle/>
                    <a:p>
                      <a:endParaRPr sz="1700"/>
                    </a:p>
                  </a:txBody>
                  <a:tcPr marL="0" marR="0" marT="0" marB="0"/>
                </a:tc>
                <a:tc>
                  <a:txBody>
                    <a:bodyPr/>
                    <a:lstStyle/>
                    <a:p>
                      <a:endParaRPr sz="1700"/>
                    </a:p>
                  </a:txBody>
                  <a:tcPr marL="0" marR="0" marT="0" marB="0"/>
                </a:tc>
                <a:tc>
                  <a:txBody>
                    <a:bodyPr/>
                    <a:lstStyle/>
                    <a:p>
                      <a:pPr marL="127000" indent="0"/>
                      <a:r>
                        <a:rPr lang="en-US" sz="1200">
                          <a:latin typeface="Times New Roman"/>
                        </a:rPr>
                        <a:t>0.4898</a:t>
                      </a:r>
                    </a:p>
                  </a:txBody>
                  <a:tcPr marL="0" marR="0" marT="0" marB="0"/>
                </a:tc>
                <a:extLst>
                  <a:ext uri="{0D108BD9-81ED-4DB2-BD59-A6C34878D82A}">
                    <a16:rowId xmlns:a16="http://schemas.microsoft.com/office/drawing/2014/main" val="10002"/>
                  </a:ext>
                </a:extLst>
              </a:tr>
              <a:tr h="743712">
                <a:tc>
                  <a:txBody>
                    <a:bodyPr/>
                    <a:lstStyle/>
                    <a:p>
                      <a:pPr marL="114300" indent="0"/>
                      <a:r>
                        <a:rPr lang="en-US" sz="1200">
                          <a:latin typeface="Times New Roman"/>
                        </a:rPr>
                        <a:t>Large</a:t>
                      </a:r>
                    </a:p>
                  </a:txBody>
                  <a:tcPr marL="0" marR="0" marT="0" marB="0" anchor="ctr"/>
                </a:tc>
                <a:tc>
                  <a:txBody>
                    <a:bodyPr/>
                    <a:lstStyle/>
                    <a:p>
                      <a:pPr marL="127000" indent="0"/>
                      <a:r>
                        <a:rPr lang="vi" sz="1200">
                          <a:latin typeface="Times New Roman"/>
                        </a:rPr>
                        <a:t>4, 10, 11, 20</a:t>
                      </a:r>
                    </a:p>
                  </a:txBody>
                  <a:tcPr marL="0" marR="0" marT="0" marB="0" anchor="ctr"/>
                </a:tc>
                <a:tc>
                  <a:txBody>
                    <a:bodyPr/>
                    <a:lstStyle/>
                    <a:p>
                      <a:pPr marL="114300" indent="0"/>
                      <a:r>
                        <a:rPr lang="en-US" sz="1200">
                          <a:latin typeface="Times New Roman"/>
                        </a:rPr>
                        <a:t>4</a:t>
                      </a:r>
                    </a:p>
                  </a:txBody>
                  <a:tcPr marL="0" marR="0" marT="0" marB="0" anchor="ctr"/>
                </a:tc>
                <a:tc>
                  <a:txBody>
                    <a:bodyPr/>
                    <a:lstStyle/>
                    <a:p>
                      <a:pPr marL="114300" indent="0"/>
                      <a:r>
                        <a:rPr lang="en-US" sz="1200">
                          <a:latin typeface="Times New Roman"/>
                        </a:rPr>
                        <a:t>2</a:t>
                      </a:r>
                    </a:p>
                  </a:txBody>
                  <a:tcPr marL="0" marR="0" marT="0" marB="0" anchor="ctr"/>
                </a:tc>
                <a:tc>
                  <a:txBody>
                    <a:bodyPr/>
                    <a:lstStyle/>
                    <a:p>
                      <a:pPr marL="114300" indent="0"/>
                      <a:r>
                        <a:rPr lang="en-US" sz="1200">
                          <a:latin typeface="Times New Roman"/>
                        </a:rPr>
                        <a:t>2</a:t>
                      </a:r>
                    </a:p>
                  </a:txBody>
                  <a:tcPr marL="0" marR="0" marT="0" marB="0" anchor="ctr"/>
                </a:tc>
                <a:tc>
                  <a:txBody>
                    <a:bodyPr/>
                    <a:lstStyle/>
                    <a:p>
                      <a:pPr marL="127000" indent="0">
                        <a:lnSpc>
                          <a:spcPts val="2256"/>
                        </a:lnSpc>
                      </a:pPr>
                      <a:r>
                        <a:rPr lang="en-US" sz="1200">
                          <a:latin typeface="Times New Roman"/>
                        </a:rPr>
                        <a:t>1 - [(2/4)</a:t>
                      </a:r>
                      <a:r>
                        <a:rPr lang="en-US" sz="1200" baseline="30000">
                          <a:latin typeface="Times New Roman"/>
                        </a:rPr>
                        <a:t>2</a:t>
                      </a:r>
                      <a:r>
                        <a:rPr lang="en-US" sz="1200">
                          <a:latin typeface="Times New Roman"/>
                        </a:rPr>
                        <a:t> + (2/4)</a:t>
                      </a:r>
                      <a:r>
                        <a:rPr lang="en-US" sz="1200" baseline="30000">
                          <a:latin typeface="Times New Roman"/>
                        </a:rPr>
                        <a:t>2</a:t>
                      </a:r>
                      <a:r>
                        <a:rPr lang="en-US" sz="1200">
                          <a:latin typeface="Times New Roman"/>
                        </a:rPr>
                        <a:t>] = 1 -(0.25+0.25) = 0.5</a:t>
                      </a:r>
                    </a:p>
                  </a:txBody>
                  <a:tcPr marL="0" marR="0" marT="0" marB="0" anchor="ctr"/>
                </a:tc>
                <a:extLst>
                  <a:ext uri="{0D108BD9-81ED-4DB2-BD59-A6C34878D82A}">
                    <a16:rowId xmlns:a16="http://schemas.microsoft.com/office/drawing/2014/main" val="10003"/>
                  </a:ext>
                </a:extLst>
              </a:tr>
              <a:tr h="609600">
                <a:tc>
                  <a:txBody>
                    <a:bodyPr/>
                    <a:lstStyle/>
                    <a:p>
                      <a:pPr marL="114300" indent="0">
                        <a:spcAft>
                          <a:spcPts val="840"/>
                        </a:spcAft>
                      </a:pPr>
                      <a:r>
                        <a:rPr lang="en-US" sz="1200">
                          <a:latin typeface="Times New Roman"/>
                        </a:rPr>
                        <a:t>Extra</a:t>
                      </a:r>
                    </a:p>
                    <a:p>
                      <a:pPr marL="114300" indent="0"/>
                      <a:r>
                        <a:rPr lang="en-US" sz="1200">
                          <a:latin typeface="Times New Roman"/>
                        </a:rPr>
                        <a:t>Large</a:t>
                      </a:r>
                    </a:p>
                  </a:txBody>
                  <a:tcPr marL="0" marR="0" marT="0" marB="0" anchor="b"/>
                </a:tc>
                <a:tc>
                  <a:txBody>
                    <a:bodyPr/>
                    <a:lstStyle/>
                    <a:p>
                      <a:pPr marL="127000" indent="0"/>
                      <a:r>
                        <a:rPr lang="vi" sz="1200">
                          <a:latin typeface="Times New Roman"/>
                        </a:rPr>
                        <a:t>5, 6, 12, 14</a:t>
                      </a:r>
                    </a:p>
                  </a:txBody>
                  <a:tcPr marL="0" marR="0" marT="0" marB="0" anchor="ctr"/>
                </a:tc>
                <a:tc>
                  <a:txBody>
                    <a:bodyPr/>
                    <a:lstStyle/>
                    <a:p>
                      <a:pPr marL="114300" indent="0"/>
                      <a:r>
                        <a:rPr lang="en-US" sz="1200">
                          <a:latin typeface="Times New Roman"/>
                        </a:rPr>
                        <a:t>4</a:t>
                      </a:r>
                    </a:p>
                  </a:txBody>
                  <a:tcPr marL="0" marR="0" marT="0" marB="0" anchor="ctr"/>
                </a:tc>
                <a:tc>
                  <a:txBody>
                    <a:bodyPr/>
                    <a:lstStyle/>
                    <a:p>
                      <a:pPr marL="114300" indent="0"/>
                      <a:r>
                        <a:rPr lang="en-US" sz="1200">
                          <a:latin typeface="Times New Roman"/>
                        </a:rPr>
                        <a:t>2</a:t>
                      </a:r>
                    </a:p>
                  </a:txBody>
                  <a:tcPr marL="0" marR="0" marT="0" marB="0" anchor="b"/>
                </a:tc>
                <a:tc>
                  <a:txBody>
                    <a:bodyPr/>
                    <a:lstStyle/>
                    <a:p>
                      <a:pPr marL="114300" indent="0"/>
                      <a:r>
                        <a:rPr lang="en-US" sz="1200">
                          <a:latin typeface="Times New Roman"/>
                        </a:rPr>
                        <a:t>2</a:t>
                      </a:r>
                    </a:p>
                  </a:txBody>
                  <a:tcPr marL="0" marR="0" marT="0" marB="0" anchor="b"/>
                </a:tc>
                <a:tc>
                  <a:txBody>
                    <a:bodyPr/>
                    <a:lstStyle/>
                    <a:p>
                      <a:pPr marL="127000" indent="0">
                        <a:lnSpc>
                          <a:spcPts val="2256"/>
                        </a:lnSpc>
                      </a:pPr>
                      <a:r>
                        <a:rPr lang="en-US" sz="1200">
                          <a:latin typeface="Times New Roman"/>
                        </a:rPr>
                        <a:t>1 - [(2/4)</a:t>
                      </a:r>
                      <a:r>
                        <a:rPr lang="en-US" sz="1200" baseline="30000">
                          <a:latin typeface="Times New Roman"/>
                        </a:rPr>
                        <a:t>2</a:t>
                      </a:r>
                      <a:r>
                        <a:rPr lang="en-US" sz="1200">
                          <a:latin typeface="Times New Roman"/>
                        </a:rPr>
                        <a:t> + (2/4)</a:t>
                      </a:r>
                      <a:r>
                        <a:rPr lang="en-US" sz="1200" baseline="30000">
                          <a:latin typeface="Times New Roman"/>
                        </a:rPr>
                        <a:t>2</a:t>
                      </a:r>
                      <a:r>
                        <a:rPr lang="en-US" sz="1200">
                          <a:latin typeface="Times New Roman"/>
                        </a:rPr>
                        <a:t>] = 1 -(0.25+0.25) = 0.5</a:t>
                      </a:r>
                    </a:p>
                  </a:txBody>
                  <a:tcPr marL="0" marR="0" marT="0" marB="0" anchor="b"/>
                </a:tc>
                <a:extLst>
                  <a:ext uri="{0D108BD9-81ED-4DB2-BD59-A6C34878D82A}">
                    <a16:rowId xmlns:a16="http://schemas.microsoft.com/office/drawing/2014/main" val="10004"/>
                  </a:ext>
                </a:extLst>
              </a:tr>
            </a:tbl>
          </a:graphicData>
        </a:graphic>
      </p:graphicFrame>
      <p:sp>
        <p:nvSpPr>
          <p:cNvPr id="3" name="Rectangle 2"/>
          <p:cNvSpPr/>
          <p:nvPr/>
        </p:nvSpPr>
        <p:spPr>
          <a:xfrm>
            <a:off x="1063752" y="3645408"/>
            <a:ext cx="5937504" cy="5455920"/>
          </a:xfrm>
          <a:prstGeom prst="rect">
            <a:avLst/>
          </a:prstGeom>
        </p:spPr>
        <p:txBody>
          <a:bodyPr lIns="0" tIns="0" rIns="0" bIns="0">
            <a:noAutofit/>
          </a:bodyPr>
          <a:lstStyle/>
          <a:p>
            <a:pPr indent="0" algn="just">
              <a:lnSpc>
                <a:spcPts val="2232"/>
              </a:lnSpc>
              <a:spcBef>
                <a:spcPts val="840"/>
              </a:spcBef>
            </a:pPr>
            <a:r>
              <a:rPr lang="vi" sz="1200">
                <a:latin typeface="Times New Roman"/>
              </a:rPr>
              <a:t>Tính Gini có trọng số cho </a:t>
            </a:r>
            <a:r>
              <a:rPr lang="en-US" sz="1200">
                <a:latin typeface="Times New Roman"/>
              </a:rPr>
              <a:t>Shirt Size</a:t>
            </a:r>
          </a:p>
          <a:p>
            <a:pPr indent="0">
              <a:lnSpc>
                <a:spcPts val="2232"/>
              </a:lnSpc>
            </a:pPr>
            <a:r>
              <a:rPr lang="vi" sz="1200">
                <a:latin typeface="Times New Roman"/>
              </a:rPr>
              <a:t>Ginishirt = (5/20)*Gini(Small) + (7/20)*Gini(Med) + (4/20)*Gini(Lrg) + (4/20)*Gini(XL) = (0.25 * 0.48) + (0.35 * 0.4898) + (0.2 * 0.5) + (0.2 * 0.5)</a:t>
            </a:r>
          </a:p>
          <a:p>
            <a:pPr indent="0" algn="just">
              <a:lnSpc>
                <a:spcPts val="2232"/>
              </a:lnSpc>
            </a:pPr>
            <a:r>
              <a:rPr lang="vi" sz="1200">
                <a:latin typeface="Times New Roman"/>
              </a:rPr>
              <a:t>= 0.12 + 0.1714 + 0.1 + 0.1</a:t>
            </a:r>
          </a:p>
          <a:p>
            <a:pPr indent="0" algn="just">
              <a:lnSpc>
                <a:spcPts val="2232"/>
              </a:lnSpc>
            </a:pPr>
            <a:r>
              <a:rPr lang="vi" sz="1200">
                <a:latin typeface="Times New Roman"/>
              </a:rPr>
              <a:t>Kết quả: Gini(Shirt </a:t>
            </a:r>
            <a:r>
              <a:rPr lang="en-US" sz="1200">
                <a:latin typeface="Times New Roman"/>
              </a:rPr>
              <a:t>Size) </a:t>
            </a:r>
            <a:r>
              <a:rPr lang="vi" sz="1200">
                <a:latin typeface="Times New Roman"/>
              </a:rPr>
              <a:t>= 0.4914</a:t>
            </a:r>
          </a:p>
          <a:p>
            <a:pPr indent="0" algn="just">
              <a:lnSpc>
                <a:spcPts val="2232"/>
              </a:lnSpc>
            </a:pPr>
            <a:r>
              <a:rPr lang="vi" sz="1200">
                <a:latin typeface="Times New Roman"/>
              </a:rPr>
              <a:t>f) Kết luận: Chọn thuộc tính tốt nhất</a:t>
            </a:r>
          </a:p>
          <a:p>
            <a:pPr indent="0" algn="just">
              <a:lnSpc>
                <a:spcPts val="2232"/>
              </a:lnSpc>
            </a:pPr>
            <a:r>
              <a:rPr lang="vi" sz="1200">
                <a:latin typeface="Times New Roman"/>
              </a:rPr>
              <a:t>Tổng hợp kết quả </a:t>
            </a:r>
            <a:r>
              <a:rPr lang="en-US" sz="1200">
                <a:latin typeface="Times New Roman"/>
              </a:rPr>
              <a:t>Weighted </a:t>
            </a:r>
            <a:r>
              <a:rPr lang="vi" sz="1200">
                <a:latin typeface="Times New Roman"/>
              </a:rPr>
              <a:t>Gini Index của các thuộc tính (giá trị càng nhỏ càng tốt):</a:t>
            </a:r>
          </a:p>
          <a:p>
            <a:pPr marL="254000" indent="0" algn="just">
              <a:lnSpc>
                <a:spcPts val="2232"/>
              </a:lnSpc>
            </a:pPr>
            <a:r>
              <a:rPr lang="vi" sz="1200">
                <a:latin typeface="Times New Roman"/>
              </a:rPr>
              <a:t>•    </a:t>
            </a:r>
            <a:r>
              <a:rPr lang="en-US" sz="1200">
                <a:latin typeface="Times New Roman"/>
              </a:rPr>
              <a:t>Gender: </a:t>
            </a:r>
            <a:r>
              <a:rPr lang="vi" sz="1200">
                <a:latin typeface="Times New Roman"/>
              </a:rPr>
              <a:t>0.48</a:t>
            </a:r>
          </a:p>
          <a:p>
            <a:pPr marL="254000" indent="0" algn="just">
              <a:lnSpc>
                <a:spcPts val="2232"/>
              </a:lnSpc>
            </a:pPr>
            <a:r>
              <a:rPr lang="vi" sz="1200">
                <a:latin typeface="Times New Roman"/>
              </a:rPr>
              <a:t>•    </a:t>
            </a:r>
            <a:r>
              <a:rPr lang="en-US" sz="1200">
                <a:latin typeface="Times New Roman"/>
              </a:rPr>
              <a:t>Shirt Size: </a:t>
            </a:r>
            <a:r>
              <a:rPr lang="vi" sz="1200">
                <a:latin typeface="Times New Roman"/>
              </a:rPr>
              <a:t>0.4914</a:t>
            </a:r>
          </a:p>
          <a:p>
            <a:pPr marR="4240276" indent="254000">
              <a:lnSpc>
                <a:spcPts val="2232"/>
              </a:lnSpc>
            </a:pPr>
            <a:r>
              <a:rPr lang="vi" sz="1200">
                <a:latin typeface="Times New Roman"/>
              </a:rPr>
              <a:t>•    </a:t>
            </a:r>
            <a:r>
              <a:rPr lang="en-US" sz="1200">
                <a:latin typeface="Times New Roman"/>
              </a:rPr>
              <a:t>Car Type: 0.1625 </a:t>
            </a:r>
            <a:r>
              <a:rPr lang="vi" sz="1200">
                <a:latin typeface="Times New Roman"/>
              </a:rPr>
              <a:t>KẾT LUẬN:</a:t>
            </a:r>
          </a:p>
          <a:p>
            <a:pPr indent="0">
              <a:lnSpc>
                <a:spcPts val="2232"/>
              </a:lnSpc>
            </a:pPr>
            <a:r>
              <a:rPr lang="vi" sz="1200">
                <a:latin typeface="Times New Roman"/>
              </a:rPr>
              <a:t>Thuộc tính </a:t>
            </a:r>
            <a:r>
              <a:rPr lang="en-US" sz="1200">
                <a:latin typeface="Times New Roman"/>
              </a:rPr>
              <a:t>Car Type </a:t>
            </a:r>
            <a:r>
              <a:rPr lang="vi" sz="1200">
                <a:latin typeface="Times New Roman"/>
              </a:rPr>
              <a:t>có chỉ số Gini thấp nhất (0.1625), tức là độ tinh khiết </a:t>
            </a:r>
            <a:r>
              <a:rPr lang="en-US" sz="1200">
                <a:latin typeface="Times New Roman"/>
              </a:rPr>
              <a:t>(purity) </a:t>
            </a:r>
            <a:r>
              <a:rPr lang="vi" sz="1200">
                <a:latin typeface="Times New Roman"/>
              </a:rPr>
              <a:t>sau khi chia cao nhất.</a:t>
            </a:r>
          </a:p>
          <a:p>
            <a:pPr indent="0">
              <a:lnSpc>
                <a:spcPts val="2232"/>
              </a:lnSpc>
              <a:spcAft>
                <a:spcPts val="1470"/>
              </a:spcAft>
            </a:pPr>
            <a:r>
              <a:rPr lang="vi" sz="1200">
                <a:latin typeface="Times New Roman"/>
              </a:rPr>
              <a:t>Do đó, Car Type là thuộc tính tốt nhất để chọn làm nút gốc (root node) </a:t>
            </a:r>
            <a:r>
              <a:rPr lang="en-US" sz="1200">
                <a:latin typeface="Times New Roman"/>
              </a:rPr>
              <a:t>cho </a:t>
            </a:r>
            <a:r>
              <a:rPr lang="vi" sz="1200">
                <a:latin typeface="Times New Roman"/>
              </a:rPr>
              <a:t>cây quyết định.</a:t>
            </a:r>
          </a:p>
          <a:p>
            <a:pPr indent="0" algn="just">
              <a:spcAft>
                <a:spcPts val="1050"/>
              </a:spcAft>
            </a:pPr>
            <a:r>
              <a:rPr lang="vi" sz="1500">
                <a:solidFill>
                  <a:srgbClr val="2980B9"/>
                </a:solidFill>
                <a:latin typeface="Times New Roman"/>
              </a:rPr>
              <a:t>Ex 8: K-means</a:t>
            </a:r>
          </a:p>
          <a:p>
            <a:pPr indent="0">
              <a:lnSpc>
                <a:spcPts val="2208"/>
              </a:lnSpc>
            </a:pPr>
            <a:r>
              <a:rPr lang="vi" sz="1200">
                <a:latin typeface="Times New Roman"/>
              </a:rPr>
              <a:t>1. Dữ liệu đầu vào &amp; Khởi tạo Dữ liệu: 8 điểm mẫu với tọa độ như sau:</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066800" y="737616"/>
            <a:ext cx="3048000" cy="3035808"/>
          </a:xfrm>
          <a:prstGeom prst="rect">
            <a:avLst/>
          </a:prstGeom>
        </p:spPr>
        <p:txBody>
          <a:bodyPr lIns="0" tIns="0" rIns="0" bIns="0">
            <a:noAutofit/>
          </a:bodyPr>
          <a:lstStyle/>
          <a:p>
            <a:pPr marL="250952" indent="0" algn="just">
              <a:lnSpc>
                <a:spcPts val="2232"/>
              </a:lnSpc>
            </a:pPr>
            <a:r>
              <a:rPr lang="en-US" sz="1200">
                <a:latin typeface="Times New Roman"/>
              </a:rPr>
              <a:t>. A1(2, 10), A2(2, 5), A3(8, 4), A4(5, 8)</a:t>
            </a:r>
          </a:p>
          <a:p>
            <a:pPr indent="254000">
              <a:lnSpc>
                <a:spcPts val="2232"/>
              </a:lnSpc>
            </a:pPr>
            <a:r>
              <a:rPr lang="en-US" sz="1200">
                <a:latin typeface="Times New Roman"/>
              </a:rPr>
              <a:t>•    A5(7, 5), A6(6, 4), A7(1, 2), A8(4, 9) </a:t>
            </a:r>
            <a:r>
              <a:rPr lang="vi" sz="1200" b="1">
                <a:latin typeface="Times New Roman"/>
              </a:rPr>
              <a:t>Số cụm </a:t>
            </a:r>
            <a:r>
              <a:rPr lang="en-US" sz="1200" b="1">
                <a:latin typeface="Times New Roman"/>
              </a:rPr>
              <a:t>(k): </a:t>
            </a:r>
            <a:r>
              <a:rPr lang="en-US" sz="1200">
                <a:latin typeface="Times New Roman"/>
              </a:rPr>
              <a:t>3</a:t>
            </a:r>
          </a:p>
          <a:p>
            <a:pPr indent="0" algn="just">
              <a:lnSpc>
                <a:spcPts val="2232"/>
              </a:lnSpc>
            </a:pPr>
            <a:r>
              <a:rPr lang="vi" sz="1200" b="1">
                <a:latin typeface="Times New Roman"/>
              </a:rPr>
              <a:t>Công thức khoảng cách </a:t>
            </a:r>
            <a:r>
              <a:rPr lang="en-US" sz="1200" b="1">
                <a:latin typeface="Times New Roman"/>
              </a:rPr>
              <a:t>Euclidean:</a:t>
            </a:r>
          </a:p>
          <a:p>
            <a:pPr indent="0" algn="just">
              <a:lnSpc>
                <a:spcPts val="2232"/>
              </a:lnSpc>
            </a:pPr>
            <a:r>
              <a:rPr lang="vi" sz="1200">
                <a:latin typeface="Times New Roman"/>
              </a:rPr>
              <a:t>d = V[(x - xi)</a:t>
            </a:r>
            <a:r>
              <a:rPr lang="vi" sz="1200" baseline="30000">
                <a:latin typeface="Times New Roman"/>
              </a:rPr>
              <a:t>2</a:t>
            </a:r>
            <a:r>
              <a:rPr lang="vi" sz="1200">
                <a:latin typeface="Times New Roman"/>
              </a:rPr>
              <a:t> + (y</a:t>
            </a:r>
            <a:r>
              <a:rPr lang="vi" sz="1200" baseline="-25000">
                <a:latin typeface="Times New Roman"/>
              </a:rPr>
              <a:t>2</a:t>
            </a:r>
            <a:r>
              <a:rPr lang="vi" sz="1200">
                <a:latin typeface="Times New Roman"/>
              </a:rPr>
              <a:t> - yi)</a:t>
            </a:r>
            <a:r>
              <a:rPr lang="vi" sz="1200" baseline="30000">
                <a:latin typeface="Times New Roman"/>
              </a:rPr>
              <a:t>2</a:t>
            </a:r>
            <a:r>
              <a:rPr lang="vi" sz="1200">
                <a:latin typeface="Times New Roman"/>
              </a:rPr>
              <a:t>]</a:t>
            </a:r>
          </a:p>
          <a:p>
            <a:pPr indent="0">
              <a:lnSpc>
                <a:spcPts val="2232"/>
              </a:lnSpc>
            </a:pPr>
            <a:r>
              <a:rPr lang="vi" sz="1200" b="1">
                <a:latin typeface="Times New Roman"/>
              </a:rPr>
              <a:t>Khởi tạo Tâm cụm </a:t>
            </a:r>
            <a:r>
              <a:rPr lang="en-US" sz="1200" b="1">
                <a:latin typeface="Times New Roman"/>
              </a:rPr>
              <a:t>(Initial Centroids): </a:t>
            </a:r>
            <a:r>
              <a:rPr lang="vi" sz="1200">
                <a:latin typeface="Times New Roman"/>
              </a:rPr>
              <a:t>Chọn 3 điểm đầu tiên làm tâm cụm ban đầu:</a:t>
            </a:r>
          </a:p>
          <a:p>
            <a:pPr marL="250952" indent="0" algn="just">
              <a:lnSpc>
                <a:spcPts val="2232"/>
              </a:lnSpc>
            </a:pPr>
            <a:r>
              <a:rPr lang="vi" sz="1200">
                <a:latin typeface="Times New Roman"/>
              </a:rPr>
              <a:t>•</a:t>
            </a:r>
            <a:r>
              <a:rPr lang="vi" sz="1200" b="1">
                <a:latin typeface="Times New Roman"/>
              </a:rPr>
              <a:t>    Tâm C1: (2, 10) </a:t>
            </a:r>
            <a:r>
              <a:rPr lang="vi" sz="1200">
                <a:latin typeface="Times New Roman"/>
              </a:rPr>
              <a:t>(lấy từ A1)</a:t>
            </a:r>
          </a:p>
          <a:p>
            <a:pPr marL="250952" indent="0" algn="just">
              <a:lnSpc>
                <a:spcPts val="2232"/>
              </a:lnSpc>
            </a:pPr>
            <a:r>
              <a:rPr lang="vi" sz="1200">
                <a:latin typeface="Times New Roman"/>
              </a:rPr>
              <a:t>•</a:t>
            </a:r>
            <a:r>
              <a:rPr lang="vi" sz="1200" b="1">
                <a:latin typeface="Times New Roman"/>
              </a:rPr>
              <a:t>    Tâm C2: (2, 5) </a:t>
            </a:r>
            <a:r>
              <a:rPr lang="vi" sz="1200">
                <a:latin typeface="Times New Roman"/>
              </a:rPr>
              <a:t>(lấy từ A2)</a:t>
            </a:r>
          </a:p>
          <a:p>
            <a:pPr marL="250952" indent="0" algn="just">
              <a:lnSpc>
                <a:spcPts val="2232"/>
              </a:lnSpc>
            </a:pPr>
            <a:r>
              <a:rPr lang="vi" sz="1200">
                <a:latin typeface="Times New Roman"/>
              </a:rPr>
              <a:t>•</a:t>
            </a:r>
            <a:r>
              <a:rPr lang="vi" sz="1200" b="1">
                <a:latin typeface="Times New Roman"/>
              </a:rPr>
              <a:t>    Tâm C3: (8, 4) </a:t>
            </a:r>
            <a:r>
              <a:rPr lang="vi" sz="1200">
                <a:latin typeface="Times New Roman"/>
              </a:rPr>
              <a:t>(lấy từ A3)</a:t>
            </a:r>
          </a:p>
          <a:p>
            <a:pPr marL="479552" indent="0">
              <a:lnSpc>
                <a:spcPts val="2232"/>
              </a:lnSpc>
            </a:pPr>
            <a:r>
              <a:rPr lang="vi" sz="1200">
                <a:latin typeface="Times New Roman"/>
              </a:rPr>
              <a:t>2. Lần lặp 1 </a:t>
            </a:r>
            <a:r>
              <a:rPr lang="en-US" sz="1200">
                <a:latin typeface="Times New Roman"/>
              </a:rPr>
              <a:t>(Iteration </a:t>
            </a:r>
            <a:r>
              <a:rPr lang="vi" sz="1200">
                <a:latin typeface="Times New Roman"/>
              </a:rPr>
              <a:t>1)</a:t>
            </a:r>
          </a:p>
        </p:txBody>
      </p:sp>
      <p:sp>
        <p:nvSpPr>
          <p:cNvPr id="3" name="Rectangle 2"/>
          <p:cNvSpPr/>
          <p:nvPr/>
        </p:nvSpPr>
        <p:spPr>
          <a:xfrm>
            <a:off x="1063752" y="3874008"/>
            <a:ext cx="6001512" cy="755904"/>
          </a:xfrm>
          <a:prstGeom prst="rect">
            <a:avLst/>
          </a:prstGeom>
        </p:spPr>
        <p:txBody>
          <a:bodyPr lIns="0" tIns="0" rIns="0" bIns="0">
            <a:noAutofit/>
          </a:bodyPr>
          <a:lstStyle/>
          <a:p>
            <a:pPr indent="0" algn="just">
              <a:lnSpc>
                <a:spcPts val="2232"/>
              </a:lnSpc>
            </a:pPr>
            <a:r>
              <a:rPr lang="vi" sz="1200" b="1">
                <a:latin typeface="Times New Roman"/>
              </a:rPr>
              <a:t>Bước 2.1: Tính khoảng cách và Phân nhóm</a:t>
            </a:r>
          </a:p>
          <a:p>
            <a:pPr indent="0" algn="just">
              <a:lnSpc>
                <a:spcPts val="2232"/>
              </a:lnSpc>
            </a:pPr>
            <a:r>
              <a:rPr lang="vi" sz="1200">
                <a:latin typeface="Times New Roman"/>
              </a:rPr>
              <a:t>Tính khoảng cách từ mỗi điểm đến 3 tâm C1(2,10), C2(2,5), C3(8,4). Khoảng cách nhỏ nhất (bôi đậm) quyết định cụm.</a:t>
            </a:r>
          </a:p>
        </p:txBody>
      </p:sp>
      <p:graphicFrame>
        <p:nvGraphicFramePr>
          <p:cNvPr id="4" name="Table 3"/>
          <p:cNvGraphicFramePr>
            <a:graphicFrameLocks noGrp="1"/>
          </p:cNvGraphicFramePr>
          <p:nvPr/>
        </p:nvGraphicFramePr>
        <p:xfrm>
          <a:off x="1088136" y="4715256"/>
          <a:ext cx="5952744" cy="4029456"/>
        </p:xfrm>
        <a:graphic>
          <a:graphicData uri="http://schemas.openxmlformats.org/drawingml/2006/table">
            <a:tbl>
              <a:tblPr/>
              <a:tblGrid>
                <a:gridCol w="600456">
                  <a:extLst>
                    <a:ext uri="{9D8B030D-6E8A-4147-A177-3AD203B41FA5}">
                      <a16:colId xmlns:a16="http://schemas.microsoft.com/office/drawing/2014/main" val="20000"/>
                    </a:ext>
                  </a:extLst>
                </a:gridCol>
                <a:gridCol w="664464">
                  <a:extLst>
                    <a:ext uri="{9D8B030D-6E8A-4147-A177-3AD203B41FA5}">
                      <a16:colId xmlns:a16="http://schemas.microsoft.com/office/drawing/2014/main" val="20001"/>
                    </a:ext>
                  </a:extLst>
                </a:gridCol>
                <a:gridCol w="1271016">
                  <a:extLst>
                    <a:ext uri="{9D8B030D-6E8A-4147-A177-3AD203B41FA5}">
                      <a16:colId xmlns:a16="http://schemas.microsoft.com/office/drawing/2014/main" val="20002"/>
                    </a:ext>
                  </a:extLst>
                </a:gridCol>
                <a:gridCol w="1185672">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1042416">
                  <a:extLst>
                    <a:ext uri="{9D8B030D-6E8A-4147-A177-3AD203B41FA5}">
                      <a16:colId xmlns:a16="http://schemas.microsoft.com/office/drawing/2014/main" val="20005"/>
                    </a:ext>
                  </a:extLst>
                </a:gridCol>
              </a:tblGrid>
              <a:tr h="792480">
                <a:tc>
                  <a:txBody>
                    <a:bodyPr/>
                    <a:lstStyle/>
                    <a:p>
                      <a:pPr marL="114300" indent="0"/>
                      <a:r>
                        <a:rPr lang="vi" sz="1200" b="1">
                          <a:latin typeface="Times New Roman"/>
                        </a:rPr>
                        <a:t>Điểm</a:t>
                      </a:r>
                    </a:p>
                  </a:txBody>
                  <a:tcPr marL="0" marR="0" marT="0" marB="0" anchor="ctr">
                    <a:solidFill>
                      <a:srgbClr val="34485D"/>
                    </a:solidFill>
                  </a:tcPr>
                </a:tc>
                <a:tc>
                  <a:txBody>
                    <a:bodyPr/>
                    <a:lstStyle/>
                    <a:p>
                      <a:pPr marL="127000" indent="0">
                        <a:spcAft>
                          <a:spcPts val="840"/>
                        </a:spcAft>
                      </a:pPr>
                      <a:r>
                        <a:rPr lang="vi" sz="1200" b="1">
                          <a:latin typeface="Times New Roman"/>
                        </a:rPr>
                        <a:t>Tọa</a:t>
                      </a:r>
                    </a:p>
                    <a:p>
                      <a:pPr marL="127000" indent="0"/>
                      <a:r>
                        <a:rPr lang="vi" sz="1200" b="1">
                          <a:latin typeface="Times New Roman"/>
                        </a:rPr>
                        <a:t>độ</a:t>
                      </a:r>
                    </a:p>
                  </a:txBody>
                  <a:tcPr marL="0" marR="0" marT="0" marB="0" anchor="ctr">
                    <a:solidFill>
                      <a:srgbClr val="34485D"/>
                    </a:solidFill>
                  </a:tcPr>
                </a:tc>
                <a:tc>
                  <a:txBody>
                    <a:bodyPr/>
                    <a:lstStyle/>
                    <a:p>
                      <a:pPr marL="127000" indent="0">
                        <a:lnSpc>
                          <a:spcPts val="2232"/>
                        </a:lnSpc>
                      </a:pPr>
                      <a:r>
                        <a:rPr lang="vi" sz="1200" b="1">
                          <a:latin typeface="Times New Roman"/>
                        </a:rPr>
                        <a:t>Dist đến C1 (2,10)</a:t>
                      </a:r>
                    </a:p>
                  </a:txBody>
                  <a:tcPr marL="0" marR="0" marT="0" marB="0" anchor="ctr">
                    <a:solidFill>
                      <a:srgbClr val="34485D"/>
                    </a:solidFill>
                  </a:tcPr>
                </a:tc>
                <a:tc>
                  <a:txBody>
                    <a:bodyPr/>
                    <a:lstStyle/>
                    <a:p>
                      <a:pPr marL="127000" indent="0">
                        <a:lnSpc>
                          <a:spcPts val="2232"/>
                        </a:lnSpc>
                      </a:pPr>
                      <a:r>
                        <a:rPr lang="vi" sz="1200" b="1">
                          <a:latin typeface="Times New Roman"/>
                        </a:rPr>
                        <a:t>Dist đến C2 (2,5)</a:t>
                      </a:r>
                    </a:p>
                  </a:txBody>
                  <a:tcPr marL="0" marR="0" marT="0" marB="0" anchor="ctr">
                    <a:solidFill>
                      <a:srgbClr val="34485D"/>
                    </a:solidFill>
                  </a:tcPr>
                </a:tc>
                <a:tc>
                  <a:txBody>
                    <a:bodyPr/>
                    <a:lstStyle/>
                    <a:p>
                      <a:pPr marL="127000" indent="0">
                        <a:lnSpc>
                          <a:spcPts val="2232"/>
                        </a:lnSpc>
                      </a:pPr>
                      <a:r>
                        <a:rPr lang="vi" sz="1200" b="1">
                          <a:latin typeface="Times New Roman"/>
                        </a:rPr>
                        <a:t>Dist đến C3 (8,4)</a:t>
                      </a:r>
                    </a:p>
                  </a:txBody>
                  <a:tcPr marL="0" marR="0" marT="0" marB="0" anchor="ctr">
                    <a:solidFill>
                      <a:srgbClr val="34485D"/>
                    </a:solidFill>
                  </a:tcPr>
                </a:tc>
                <a:tc>
                  <a:txBody>
                    <a:bodyPr/>
                    <a:lstStyle/>
                    <a:p>
                      <a:pPr marL="127000" marR="342900" indent="0">
                        <a:lnSpc>
                          <a:spcPts val="2256"/>
                        </a:lnSpc>
                      </a:pPr>
                      <a:r>
                        <a:rPr lang="vi" sz="1200" b="1">
                          <a:latin typeface="Times New Roman"/>
                        </a:rPr>
                        <a:t>Gán vào Cụm</a:t>
                      </a:r>
                    </a:p>
                  </a:txBody>
                  <a:tcPr marL="0" marR="0" marT="0" marB="0" anchor="ctr">
                    <a:solidFill>
                      <a:srgbClr val="34485D"/>
                    </a:solidFill>
                  </a:tcPr>
                </a:tc>
                <a:extLst>
                  <a:ext uri="{0D108BD9-81ED-4DB2-BD59-A6C34878D82A}">
                    <a16:rowId xmlns:a16="http://schemas.microsoft.com/office/drawing/2014/main" val="10000"/>
                  </a:ext>
                </a:extLst>
              </a:tr>
              <a:tr h="438912">
                <a:tc>
                  <a:txBody>
                    <a:bodyPr/>
                    <a:lstStyle/>
                    <a:p>
                      <a:pPr marL="114300" indent="0"/>
                      <a:r>
                        <a:rPr lang="vi" sz="1200">
                          <a:latin typeface="Times New Roman"/>
                        </a:rPr>
                        <a:t>A1</a:t>
                      </a:r>
                    </a:p>
                  </a:txBody>
                  <a:tcPr marL="0" marR="0" marT="0" marB="0" anchor="b"/>
                </a:tc>
                <a:tc>
                  <a:txBody>
                    <a:bodyPr/>
                    <a:lstStyle/>
                    <a:p>
                      <a:pPr marL="127000" indent="0"/>
                      <a:r>
                        <a:rPr lang="vi" sz="1200">
                          <a:latin typeface="Times New Roman"/>
                        </a:rPr>
                        <a:t>(2,</a:t>
                      </a:r>
                    </a:p>
                  </a:txBody>
                  <a:tcPr marL="0" marR="0" marT="0" marB="0" anchor="ctr"/>
                </a:tc>
                <a:tc>
                  <a:txBody>
                    <a:bodyPr/>
                    <a:lstStyle/>
                    <a:p>
                      <a:pPr marL="127000" indent="0"/>
                      <a:r>
                        <a:rPr lang="vi" sz="1200" b="1">
                          <a:latin typeface="Times New Roman"/>
                        </a:rPr>
                        <a:t>0</a:t>
                      </a:r>
                    </a:p>
                  </a:txBody>
                  <a:tcPr marL="0" marR="0" marT="0" marB="0" anchor="b"/>
                </a:tc>
                <a:tc>
                  <a:txBody>
                    <a:bodyPr/>
                    <a:lstStyle/>
                    <a:p>
                      <a:pPr marL="127000" indent="0"/>
                      <a:r>
                        <a:rPr lang="vi" sz="1200">
                          <a:latin typeface="Times New Roman"/>
                        </a:rPr>
                        <a:t>5.00</a:t>
                      </a:r>
                    </a:p>
                  </a:txBody>
                  <a:tcPr marL="0" marR="0" marT="0" marB="0" anchor="b"/>
                </a:tc>
                <a:tc>
                  <a:txBody>
                    <a:bodyPr/>
                    <a:lstStyle/>
                    <a:p>
                      <a:pPr marL="127000" indent="0"/>
                      <a:r>
                        <a:rPr lang="vi" sz="1200">
                          <a:latin typeface="Times New Roman"/>
                        </a:rPr>
                        <a:t>8.49</a:t>
                      </a:r>
                    </a:p>
                  </a:txBody>
                  <a:tcPr marL="0" marR="0" marT="0" marB="0" anchor="b"/>
                </a:tc>
                <a:tc>
                  <a:txBody>
                    <a:bodyPr/>
                    <a:lstStyle/>
                    <a:p>
                      <a:pPr marL="127000" indent="0"/>
                      <a:r>
                        <a:rPr lang="vi" sz="1200" b="1">
                          <a:latin typeface="Times New Roman"/>
                        </a:rPr>
                        <a:t>1</a:t>
                      </a:r>
                    </a:p>
                  </a:txBody>
                  <a:tcPr marL="0" marR="0" marT="0" marB="0" anchor="b"/>
                </a:tc>
                <a:extLst>
                  <a:ext uri="{0D108BD9-81ED-4DB2-BD59-A6C34878D82A}">
                    <a16:rowId xmlns:a16="http://schemas.microsoft.com/office/drawing/2014/main" val="10001"/>
                  </a:ext>
                </a:extLst>
              </a:tr>
              <a:tr h="350520">
                <a:tc>
                  <a:txBody>
                    <a:bodyPr/>
                    <a:lstStyle/>
                    <a:p>
                      <a:endParaRPr sz="1700"/>
                    </a:p>
                  </a:txBody>
                  <a:tcPr marL="0" marR="0" marT="0" marB="0"/>
                </a:tc>
                <a:tc>
                  <a:txBody>
                    <a:bodyPr/>
                    <a:lstStyle/>
                    <a:p>
                      <a:pPr marL="127000" indent="0"/>
                      <a:r>
                        <a:rPr lang="vi" sz="1200">
                          <a:latin typeface="Times New Roman"/>
                        </a:rPr>
                        <a:t>10)</a:t>
                      </a:r>
                    </a:p>
                  </a:txBody>
                  <a:tcPr marL="0" marR="0" marT="0" marB="0"/>
                </a:tc>
                <a:tc>
                  <a:txBody>
                    <a:bodyPr/>
                    <a:lstStyle/>
                    <a:p>
                      <a:endParaRPr sz="1700"/>
                    </a:p>
                  </a:txBody>
                  <a:tcPr marL="0" marR="0" marT="0" marB="0"/>
                </a:tc>
                <a:tc>
                  <a:txBody>
                    <a:bodyPr/>
                    <a:lstStyle/>
                    <a:p>
                      <a:endParaRPr sz="1700"/>
                    </a:p>
                  </a:txBody>
                  <a:tcPr marL="0" marR="0" marT="0" marB="0"/>
                </a:tc>
                <a:tc>
                  <a:txBody>
                    <a:bodyPr/>
                    <a:lstStyle/>
                    <a:p>
                      <a:endParaRPr sz="1700"/>
                    </a:p>
                  </a:txBody>
                  <a:tcPr marL="0" marR="0" marT="0" marB="0"/>
                </a:tc>
                <a:tc>
                  <a:txBody>
                    <a:bodyPr/>
                    <a:lstStyle/>
                    <a:p>
                      <a:endParaRPr sz="1700"/>
                    </a:p>
                  </a:txBody>
                  <a:tcPr marL="0" marR="0" marT="0" marB="0"/>
                </a:tc>
                <a:extLst>
                  <a:ext uri="{0D108BD9-81ED-4DB2-BD59-A6C34878D82A}">
                    <a16:rowId xmlns:a16="http://schemas.microsoft.com/office/drawing/2014/main" val="10002"/>
                  </a:ext>
                </a:extLst>
              </a:tr>
              <a:tr h="515112">
                <a:tc>
                  <a:txBody>
                    <a:bodyPr/>
                    <a:lstStyle/>
                    <a:p>
                      <a:pPr marL="114300" indent="0"/>
                      <a:r>
                        <a:rPr lang="vi" sz="1200">
                          <a:latin typeface="Times New Roman"/>
                        </a:rPr>
                        <a:t>A2</a:t>
                      </a:r>
                    </a:p>
                  </a:txBody>
                  <a:tcPr marL="0" marR="0" marT="0" marB="0" anchor="ctr"/>
                </a:tc>
                <a:tc>
                  <a:txBody>
                    <a:bodyPr/>
                    <a:lstStyle/>
                    <a:p>
                      <a:pPr marL="127000" indent="0"/>
                      <a:r>
                        <a:rPr lang="vi" sz="1200">
                          <a:latin typeface="Times New Roman"/>
                        </a:rPr>
                        <a:t>(2, 5)</a:t>
                      </a:r>
                    </a:p>
                  </a:txBody>
                  <a:tcPr marL="0" marR="0" marT="0" marB="0" anchor="ctr"/>
                </a:tc>
                <a:tc>
                  <a:txBody>
                    <a:bodyPr/>
                    <a:lstStyle/>
                    <a:p>
                      <a:pPr marL="127000" indent="0"/>
                      <a:r>
                        <a:rPr lang="vi" sz="1200">
                          <a:latin typeface="Times New Roman"/>
                        </a:rPr>
                        <a:t>5.00</a:t>
                      </a:r>
                    </a:p>
                  </a:txBody>
                  <a:tcPr marL="0" marR="0" marT="0" marB="0" anchor="ctr"/>
                </a:tc>
                <a:tc>
                  <a:txBody>
                    <a:bodyPr/>
                    <a:lstStyle/>
                    <a:p>
                      <a:pPr marL="127000" indent="0"/>
                      <a:r>
                        <a:rPr lang="vi" sz="1200" b="1">
                          <a:latin typeface="Times New Roman"/>
                        </a:rPr>
                        <a:t>0</a:t>
                      </a:r>
                    </a:p>
                  </a:txBody>
                  <a:tcPr marL="0" marR="0" marT="0" marB="0" anchor="ctr"/>
                </a:tc>
                <a:tc>
                  <a:txBody>
                    <a:bodyPr/>
                    <a:lstStyle/>
                    <a:p>
                      <a:pPr marL="127000" indent="0"/>
                      <a:r>
                        <a:rPr lang="vi" sz="1200">
                          <a:latin typeface="Times New Roman"/>
                        </a:rPr>
                        <a:t>6.08</a:t>
                      </a:r>
                    </a:p>
                  </a:txBody>
                  <a:tcPr marL="0" marR="0" marT="0" marB="0" anchor="ctr"/>
                </a:tc>
                <a:tc>
                  <a:txBody>
                    <a:bodyPr/>
                    <a:lstStyle/>
                    <a:p>
                      <a:pPr marL="127000" indent="0"/>
                      <a:r>
                        <a:rPr lang="vi" sz="1200" b="1">
                          <a:latin typeface="Times New Roman"/>
                        </a:rPr>
                        <a:t>2</a:t>
                      </a:r>
                    </a:p>
                  </a:txBody>
                  <a:tcPr marL="0" marR="0" marT="0" marB="0" anchor="ctr"/>
                </a:tc>
                <a:extLst>
                  <a:ext uri="{0D108BD9-81ED-4DB2-BD59-A6C34878D82A}">
                    <a16:rowId xmlns:a16="http://schemas.microsoft.com/office/drawing/2014/main" val="10003"/>
                  </a:ext>
                </a:extLst>
              </a:tr>
              <a:tr h="521208">
                <a:tc>
                  <a:txBody>
                    <a:bodyPr/>
                    <a:lstStyle/>
                    <a:p>
                      <a:pPr marL="114300" indent="0"/>
                      <a:r>
                        <a:rPr lang="vi" sz="1200">
                          <a:latin typeface="Times New Roman"/>
                        </a:rPr>
                        <a:t>A3</a:t>
                      </a:r>
                    </a:p>
                  </a:txBody>
                  <a:tcPr marL="0" marR="0" marT="0" marB="0" anchor="ctr"/>
                </a:tc>
                <a:tc>
                  <a:txBody>
                    <a:bodyPr/>
                    <a:lstStyle/>
                    <a:p>
                      <a:pPr marL="127000" indent="0"/>
                      <a:r>
                        <a:rPr lang="vi" sz="1200">
                          <a:latin typeface="Times New Roman"/>
                        </a:rPr>
                        <a:t>(8, 4)</a:t>
                      </a:r>
                    </a:p>
                  </a:txBody>
                  <a:tcPr marL="0" marR="0" marT="0" marB="0" anchor="ctr"/>
                </a:tc>
                <a:tc>
                  <a:txBody>
                    <a:bodyPr/>
                    <a:lstStyle/>
                    <a:p>
                      <a:pPr marL="127000" indent="0"/>
                      <a:r>
                        <a:rPr lang="vi" sz="1200">
                          <a:latin typeface="Times New Roman"/>
                        </a:rPr>
                        <a:t>8.49</a:t>
                      </a:r>
                    </a:p>
                  </a:txBody>
                  <a:tcPr marL="0" marR="0" marT="0" marB="0" anchor="ctr"/>
                </a:tc>
                <a:tc>
                  <a:txBody>
                    <a:bodyPr/>
                    <a:lstStyle/>
                    <a:p>
                      <a:pPr marL="127000" indent="0"/>
                      <a:r>
                        <a:rPr lang="vi" sz="1200">
                          <a:latin typeface="Times New Roman"/>
                        </a:rPr>
                        <a:t>6.08</a:t>
                      </a:r>
                    </a:p>
                  </a:txBody>
                  <a:tcPr marL="0" marR="0" marT="0" marB="0" anchor="ctr"/>
                </a:tc>
                <a:tc>
                  <a:txBody>
                    <a:bodyPr/>
                    <a:lstStyle/>
                    <a:p>
                      <a:pPr marL="127000" indent="0"/>
                      <a:r>
                        <a:rPr lang="vi" sz="1200" b="1">
                          <a:latin typeface="Times New Roman"/>
                        </a:rPr>
                        <a:t>0</a:t>
                      </a:r>
                    </a:p>
                  </a:txBody>
                  <a:tcPr marL="0" marR="0" marT="0" marB="0" anchor="ctr"/>
                </a:tc>
                <a:tc>
                  <a:txBody>
                    <a:bodyPr/>
                    <a:lstStyle/>
                    <a:p>
                      <a:pPr marL="127000" indent="0"/>
                      <a:r>
                        <a:rPr lang="vi" sz="1200" b="1">
                          <a:latin typeface="Times New Roman"/>
                        </a:rPr>
                        <a:t>3</a:t>
                      </a:r>
                    </a:p>
                  </a:txBody>
                  <a:tcPr marL="0" marR="0" marT="0" marB="0" anchor="ctr"/>
                </a:tc>
                <a:extLst>
                  <a:ext uri="{0D108BD9-81ED-4DB2-BD59-A6C34878D82A}">
                    <a16:rowId xmlns:a16="http://schemas.microsoft.com/office/drawing/2014/main" val="10004"/>
                  </a:ext>
                </a:extLst>
              </a:tr>
              <a:tr h="521208">
                <a:tc>
                  <a:txBody>
                    <a:bodyPr/>
                    <a:lstStyle/>
                    <a:p>
                      <a:pPr marL="114300" indent="0"/>
                      <a:r>
                        <a:rPr lang="vi" sz="1200">
                          <a:latin typeface="Times New Roman"/>
                        </a:rPr>
                        <a:t>A4</a:t>
                      </a:r>
                    </a:p>
                  </a:txBody>
                  <a:tcPr marL="0" marR="0" marT="0" marB="0" anchor="ctr"/>
                </a:tc>
                <a:tc>
                  <a:txBody>
                    <a:bodyPr/>
                    <a:lstStyle/>
                    <a:p>
                      <a:pPr marL="127000" indent="0"/>
                      <a:r>
                        <a:rPr lang="vi" sz="1200">
                          <a:latin typeface="Times New Roman"/>
                        </a:rPr>
                        <a:t>(5, 8)</a:t>
                      </a:r>
                    </a:p>
                  </a:txBody>
                  <a:tcPr marL="0" marR="0" marT="0" marB="0" anchor="ctr"/>
                </a:tc>
                <a:tc>
                  <a:txBody>
                    <a:bodyPr/>
                    <a:lstStyle/>
                    <a:p>
                      <a:pPr marL="127000" indent="0"/>
                      <a:r>
                        <a:rPr lang="vi" sz="1200" b="1">
                          <a:latin typeface="Times New Roman"/>
                        </a:rPr>
                        <a:t>3.61</a:t>
                      </a:r>
                    </a:p>
                  </a:txBody>
                  <a:tcPr marL="0" marR="0" marT="0" marB="0" anchor="ctr"/>
                </a:tc>
                <a:tc>
                  <a:txBody>
                    <a:bodyPr/>
                    <a:lstStyle/>
                    <a:p>
                      <a:pPr marL="127000" indent="0"/>
                      <a:r>
                        <a:rPr lang="vi" sz="1200">
                          <a:latin typeface="Times New Roman"/>
                        </a:rPr>
                        <a:t>4.24</a:t>
                      </a:r>
                    </a:p>
                  </a:txBody>
                  <a:tcPr marL="0" marR="0" marT="0" marB="0" anchor="ctr"/>
                </a:tc>
                <a:tc>
                  <a:txBody>
                    <a:bodyPr/>
                    <a:lstStyle/>
                    <a:p>
                      <a:pPr marL="127000" indent="0"/>
                      <a:r>
                        <a:rPr lang="vi" sz="1200">
                          <a:latin typeface="Times New Roman"/>
                        </a:rPr>
                        <a:t>5.00</a:t>
                      </a:r>
                    </a:p>
                  </a:txBody>
                  <a:tcPr marL="0" marR="0" marT="0" marB="0" anchor="ctr"/>
                </a:tc>
                <a:tc>
                  <a:txBody>
                    <a:bodyPr/>
                    <a:lstStyle/>
                    <a:p>
                      <a:pPr marL="127000" indent="0"/>
                      <a:r>
                        <a:rPr lang="vi" sz="1200" b="1">
                          <a:latin typeface="Times New Roman"/>
                        </a:rPr>
                        <a:t>1</a:t>
                      </a:r>
                    </a:p>
                  </a:txBody>
                  <a:tcPr marL="0" marR="0" marT="0" marB="0" anchor="ctr"/>
                </a:tc>
                <a:extLst>
                  <a:ext uri="{0D108BD9-81ED-4DB2-BD59-A6C34878D82A}">
                    <a16:rowId xmlns:a16="http://schemas.microsoft.com/office/drawing/2014/main" val="10005"/>
                  </a:ext>
                </a:extLst>
              </a:tr>
              <a:tr h="524256">
                <a:tc>
                  <a:txBody>
                    <a:bodyPr/>
                    <a:lstStyle/>
                    <a:p>
                      <a:pPr marL="114300" indent="0"/>
                      <a:r>
                        <a:rPr lang="vi" sz="1200">
                          <a:latin typeface="Times New Roman"/>
                        </a:rPr>
                        <a:t>A5</a:t>
                      </a:r>
                    </a:p>
                  </a:txBody>
                  <a:tcPr marL="0" marR="0" marT="0" marB="0" anchor="ctr"/>
                </a:tc>
                <a:tc>
                  <a:txBody>
                    <a:bodyPr/>
                    <a:lstStyle/>
                    <a:p>
                      <a:pPr marL="127000" indent="0"/>
                      <a:r>
                        <a:rPr lang="vi" sz="1200">
                          <a:latin typeface="Times New Roman"/>
                        </a:rPr>
                        <a:t>(7, 5)</a:t>
                      </a:r>
                    </a:p>
                  </a:txBody>
                  <a:tcPr marL="0" marR="0" marT="0" marB="0" anchor="ctr"/>
                </a:tc>
                <a:tc>
                  <a:txBody>
                    <a:bodyPr/>
                    <a:lstStyle/>
                    <a:p>
                      <a:pPr marL="127000" indent="0"/>
                      <a:r>
                        <a:rPr lang="vi" sz="1200">
                          <a:latin typeface="Times New Roman"/>
                        </a:rPr>
                        <a:t>7.07</a:t>
                      </a:r>
                    </a:p>
                  </a:txBody>
                  <a:tcPr marL="0" marR="0" marT="0" marB="0" anchor="ctr"/>
                </a:tc>
                <a:tc>
                  <a:txBody>
                    <a:bodyPr/>
                    <a:lstStyle/>
                    <a:p>
                      <a:pPr marL="127000" indent="0"/>
                      <a:r>
                        <a:rPr lang="vi" sz="1200">
                          <a:latin typeface="Times New Roman"/>
                        </a:rPr>
                        <a:t>5.00</a:t>
                      </a:r>
                    </a:p>
                  </a:txBody>
                  <a:tcPr marL="0" marR="0" marT="0" marB="0" anchor="ctr"/>
                </a:tc>
                <a:tc>
                  <a:txBody>
                    <a:bodyPr/>
                    <a:lstStyle/>
                    <a:p>
                      <a:pPr marL="127000" indent="0"/>
                      <a:r>
                        <a:rPr lang="vi" sz="1200" b="1">
                          <a:latin typeface="Times New Roman"/>
                        </a:rPr>
                        <a:t>1.41</a:t>
                      </a:r>
                    </a:p>
                  </a:txBody>
                  <a:tcPr marL="0" marR="0" marT="0" marB="0" anchor="ctr"/>
                </a:tc>
                <a:tc>
                  <a:txBody>
                    <a:bodyPr/>
                    <a:lstStyle/>
                    <a:p>
                      <a:pPr marL="127000" indent="0"/>
                      <a:r>
                        <a:rPr lang="vi" sz="1200" b="1">
                          <a:latin typeface="Times New Roman"/>
                        </a:rPr>
                        <a:t>3</a:t>
                      </a:r>
                    </a:p>
                  </a:txBody>
                  <a:tcPr marL="0" marR="0" marT="0" marB="0" anchor="ctr"/>
                </a:tc>
                <a:extLst>
                  <a:ext uri="{0D108BD9-81ED-4DB2-BD59-A6C34878D82A}">
                    <a16:rowId xmlns:a16="http://schemas.microsoft.com/office/drawing/2014/main" val="10006"/>
                  </a:ext>
                </a:extLst>
              </a:tr>
              <a:tr h="365760">
                <a:tc>
                  <a:txBody>
                    <a:bodyPr/>
                    <a:lstStyle/>
                    <a:p>
                      <a:pPr marL="114300" indent="0"/>
                      <a:r>
                        <a:rPr lang="vi" sz="1200">
                          <a:latin typeface="Times New Roman"/>
                        </a:rPr>
                        <a:t>A6</a:t>
                      </a:r>
                    </a:p>
                  </a:txBody>
                  <a:tcPr marL="0" marR="0" marT="0" marB="0" anchor="b"/>
                </a:tc>
                <a:tc>
                  <a:txBody>
                    <a:bodyPr/>
                    <a:lstStyle/>
                    <a:p>
                      <a:pPr marL="127000" indent="0"/>
                      <a:r>
                        <a:rPr lang="vi" sz="1200">
                          <a:latin typeface="Times New Roman"/>
                        </a:rPr>
                        <a:t>(6, 4)</a:t>
                      </a:r>
                    </a:p>
                  </a:txBody>
                  <a:tcPr marL="0" marR="0" marT="0" marB="0" anchor="b"/>
                </a:tc>
                <a:tc>
                  <a:txBody>
                    <a:bodyPr/>
                    <a:lstStyle/>
                    <a:p>
                      <a:pPr marL="127000" indent="0"/>
                      <a:r>
                        <a:rPr lang="vi" sz="1200">
                          <a:latin typeface="Times New Roman"/>
                        </a:rPr>
                        <a:t>7.21</a:t>
                      </a:r>
                    </a:p>
                  </a:txBody>
                  <a:tcPr marL="0" marR="0" marT="0" marB="0" anchor="b"/>
                </a:tc>
                <a:tc>
                  <a:txBody>
                    <a:bodyPr/>
                    <a:lstStyle/>
                    <a:p>
                      <a:pPr marL="127000" indent="0"/>
                      <a:r>
                        <a:rPr lang="vi" sz="1200">
                          <a:latin typeface="Times New Roman"/>
                        </a:rPr>
                        <a:t>4.12</a:t>
                      </a:r>
                    </a:p>
                  </a:txBody>
                  <a:tcPr marL="0" marR="0" marT="0" marB="0" anchor="b"/>
                </a:tc>
                <a:tc>
                  <a:txBody>
                    <a:bodyPr/>
                    <a:lstStyle/>
                    <a:p>
                      <a:pPr marL="127000" indent="0"/>
                      <a:r>
                        <a:rPr lang="vi" sz="1200" b="1">
                          <a:latin typeface="Times New Roman"/>
                        </a:rPr>
                        <a:t>2.00</a:t>
                      </a:r>
                    </a:p>
                  </a:txBody>
                  <a:tcPr marL="0" marR="0" marT="0" marB="0" anchor="b"/>
                </a:tc>
                <a:tc>
                  <a:txBody>
                    <a:bodyPr/>
                    <a:lstStyle/>
                    <a:p>
                      <a:pPr marL="127000" indent="0"/>
                      <a:r>
                        <a:rPr lang="vi" sz="1200" b="1">
                          <a:latin typeface="Times New Roman"/>
                        </a:rPr>
                        <a:t>3</a:t>
                      </a:r>
                    </a:p>
                  </a:txBody>
                  <a:tcPr marL="0" marR="0" marT="0" marB="0" anchor="b"/>
                </a:tc>
                <a:extLst>
                  <a:ext uri="{0D108BD9-81ED-4DB2-BD59-A6C34878D82A}">
                    <a16:rowId xmlns:a16="http://schemas.microsoft.com/office/drawing/2014/main" val="10007"/>
                  </a:ext>
                </a:extLst>
              </a:tr>
            </a:tbl>
          </a:graphicData>
        </a:graphic>
      </p:graphicFrame>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088136" y="728472"/>
          <a:ext cx="5952744" cy="1652016"/>
        </p:xfrm>
        <a:graphic>
          <a:graphicData uri="http://schemas.openxmlformats.org/drawingml/2006/table">
            <a:tbl>
              <a:tblPr/>
              <a:tblGrid>
                <a:gridCol w="600456">
                  <a:extLst>
                    <a:ext uri="{9D8B030D-6E8A-4147-A177-3AD203B41FA5}">
                      <a16:colId xmlns:a16="http://schemas.microsoft.com/office/drawing/2014/main" val="20000"/>
                    </a:ext>
                  </a:extLst>
                </a:gridCol>
                <a:gridCol w="664464">
                  <a:extLst>
                    <a:ext uri="{9D8B030D-6E8A-4147-A177-3AD203B41FA5}">
                      <a16:colId xmlns:a16="http://schemas.microsoft.com/office/drawing/2014/main" val="20001"/>
                    </a:ext>
                  </a:extLst>
                </a:gridCol>
                <a:gridCol w="1271016">
                  <a:extLst>
                    <a:ext uri="{9D8B030D-6E8A-4147-A177-3AD203B41FA5}">
                      <a16:colId xmlns:a16="http://schemas.microsoft.com/office/drawing/2014/main" val="20002"/>
                    </a:ext>
                  </a:extLst>
                </a:gridCol>
                <a:gridCol w="1185672">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1042416">
                  <a:extLst>
                    <a:ext uri="{9D8B030D-6E8A-4147-A177-3AD203B41FA5}">
                      <a16:colId xmlns:a16="http://schemas.microsoft.com/office/drawing/2014/main" val="20005"/>
                    </a:ext>
                  </a:extLst>
                </a:gridCol>
              </a:tblGrid>
              <a:tr h="792480">
                <a:tc>
                  <a:txBody>
                    <a:bodyPr/>
                    <a:lstStyle/>
                    <a:p>
                      <a:pPr marL="114300" indent="0"/>
                      <a:r>
                        <a:rPr lang="vi" sz="1200" b="1">
                          <a:latin typeface="Times New Roman"/>
                        </a:rPr>
                        <a:t>Điểm</a:t>
                      </a:r>
                    </a:p>
                  </a:txBody>
                  <a:tcPr marL="0" marR="0" marT="0" marB="0" anchor="ctr">
                    <a:solidFill>
                      <a:srgbClr val="34485D"/>
                    </a:solidFill>
                  </a:tcPr>
                </a:tc>
                <a:tc>
                  <a:txBody>
                    <a:bodyPr/>
                    <a:lstStyle/>
                    <a:p>
                      <a:pPr marL="127000" indent="0">
                        <a:spcAft>
                          <a:spcPts val="840"/>
                        </a:spcAft>
                      </a:pPr>
                      <a:r>
                        <a:rPr lang="vi" sz="1200" b="1">
                          <a:latin typeface="Times New Roman"/>
                        </a:rPr>
                        <a:t>Tọa</a:t>
                      </a:r>
                    </a:p>
                    <a:p>
                      <a:pPr marL="127000" indent="0"/>
                      <a:r>
                        <a:rPr lang="vi" sz="1200" b="1">
                          <a:latin typeface="Times New Roman"/>
                        </a:rPr>
                        <a:t>độ</a:t>
                      </a:r>
                    </a:p>
                  </a:txBody>
                  <a:tcPr marL="0" marR="0" marT="0" marB="0" anchor="ctr">
                    <a:solidFill>
                      <a:srgbClr val="34485D"/>
                    </a:solidFill>
                  </a:tcPr>
                </a:tc>
                <a:tc>
                  <a:txBody>
                    <a:bodyPr/>
                    <a:lstStyle/>
                    <a:p>
                      <a:pPr marL="127000" indent="0">
                        <a:lnSpc>
                          <a:spcPts val="2232"/>
                        </a:lnSpc>
                      </a:pPr>
                      <a:r>
                        <a:rPr lang="vi" sz="1200" b="1">
                          <a:latin typeface="Times New Roman"/>
                        </a:rPr>
                        <a:t>Dist đến C1 (2,10)</a:t>
                      </a:r>
                    </a:p>
                  </a:txBody>
                  <a:tcPr marL="0" marR="0" marT="0" marB="0" anchor="ctr">
                    <a:solidFill>
                      <a:srgbClr val="34485D"/>
                    </a:solidFill>
                  </a:tcPr>
                </a:tc>
                <a:tc>
                  <a:txBody>
                    <a:bodyPr/>
                    <a:lstStyle/>
                    <a:p>
                      <a:pPr marL="114300" indent="0">
                        <a:lnSpc>
                          <a:spcPts val="2232"/>
                        </a:lnSpc>
                      </a:pPr>
                      <a:r>
                        <a:rPr lang="vi" sz="1200" b="1">
                          <a:latin typeface="Times New Roman"/>
                        </a:rPr>
                        <a:t>Dist đến C2 (2,5)</a:t>
                      </a:r>
                    </a:p>
                  </a:txBody>
                  <a:tcPr marL="0" marR="0" marT="0" marB="0" anchor="ctr">
                    <a:solidFill>
                      <a:srgbClr val="34485D"/>
                    </a:solidFill>
                  </a:tcPr>
                </a:tc>
                <a:tc>
                  <a:txBody>
                    <a:bodyPr/>
                    <a:lstStyle/>
                    <a:p>
                      <a:pPr marL="127000" indent="0">
                        <a:lnSpc>
                          <a:spcPts val="2232"/>
                        </a:lnSpc>
                      </a:pPr>
                      <a:r>
                        <a:rPr lang="vi" sz="1200" b="1">
                          <a:latin typeface="Times New Roman"/>
                        </a:rPr>
                        <a:t>Dist đến C3 (8,4)</a:t>
                      </a:r>
                    </a:p>
                  </a:txBody>
                  <a:tcPr marL="0" marR="0" marT="0" marB="0" anchor="ctr">
                    <a:solidFill>
                      <a:srgbClr val="34485D"/>
                    </a:solidFill>
                  </a:tcPr>
                </a:tc>
                <a:tc>
                  <a:txBody>
                    <a:bodyPr/>
                    <a:lstStyle/>
                    <a:p>
                      <a:pPr marL="127000" marR="342900" indent="0">
                        <a:lnSpc>
                          <a:spcPts val="2256"/>
                        </a:lnSpc>
                      </a:pPr>
                      <a:r>
                        <a:rPr lang="vi" sz="1200" b="1">
                          <a:latin typeface="Times New Roman"/>
                        </a:rPr>
                        <a:t>Gán vào Cụm</a:t>
                      </a:r>
                    </a:p>
                  </a:txBody>
                  <a:tcPr marL="0" marR="0" marT="0" marB="0" anchor="ctr">
                    <a:solidFill>
                      <a:srgbClr val="34485D"/>
                    </a:solidFill>
                  </a:tcPr>
                </a:tc>
                <a:extLst>
                  <a:ext uri="{0D108BD9-81ED-4DB2-BD59-A6C34878D82A}">
                    <a16:rowId xmlns:a16="http://schemas.microsoft.com/office/drawing/2014/main" val="10000"/>
                  </a:ext>
                </a:extLst>
              </a:tr>
              <a:tr h="493776">
                <a:tc>
                  <a:txBody>
                    <a:bodyPr/>
                    <a:lstStyle/>
                    <a:p>
                      <a:pPr marL="114300" indent="0"/>
                      <a:r>
                        <a:rPr lang="vi" sz="1200">
                          <a:latin typeface="Times New Roman"/>
                        </a:rPr>
                        <a:t>A7</a:t>
                      </a:r>
                    </a:p>
                  </a:txBody>
                  <a:tcPr marL="0" marR="0" marT="0" marB="0" anchor="ctr"/>
                </a:tc>
                <a:tc>
                  <a:txBody>
                    <a:bodyPr/>
                    <a:lstStyle/>
                    <a:p>
                      <a:pPr marL="127000" indent="0"/>
                      <a:r>
                        <a:rPr lang="vi" sz="1200">
                          <a:latin typeface="Times New Roman"/>
                        </a:rPr>
                        <a:t>(1, 2)</a:t>
                      </a:r>
                    </a:p>
                  </a:txBody>
                  <a:tcPr marL="0" marR="0" marT="0" marB="0" anchor="ctr"/>
                </a:tc>
                <a:tc>
                  <a:txBody>
                    <a:bodyPr/>
                    <a:lstStyle/>
                    <a:p>
                      <a:pPr marL="127000" indent="0"/>
                      <a:r>
                        <a:rPr lang="vi" sz="1200">
                          <a:latin typeface="Times New Roman"/>
                        </a:rPr>
                        <a:t>8.06</a:t>
                      </a:r>
                    </a:p>
                  </a:txBody>
                  <a:tcPr marL="0" marR="0" marT="0" marB="0" anchor="ctr"/>
                </a:tc>
                <a:tc>
                  <a:txBody>
                    <a:bodyPr/>
                    <a:lstStyle/>
                    <a:p>
                      <a:pPr marL="114300" indent="0"/>
                      <a:r>
                        <a:rPr lang="vi" sz="1200" b="1">
                          <a:latin typeface="Times New Roman"/>
                        </a:rPr>
                        <a:t>3.16</a:t>
                      </a:r>
                    </a:p>
                  </a:txBody>
                  <a:tcPr marL="0" marR="0" marT="0" marB="0" anchor="ctr"/>
                </a:tc>
                <a:tc>
                  <a:txBody>
                    <a:bodyPr/>
                    <a:lstStyle/>
                    <a:p>
                      <a:pPr marL="127000" indent="0"/>
                      <a:r>
                        <a:rPr lang="vi" sz="1200">
                          <a:latin typeface="Times New Roman"/>
                        </a:rPr>
                        <a:t>7.28</a:t>
                      </a:r>
                    </a:p>
                  </a:txBody>
                  <a:tcPr marL="0" marR="0" marT="0" marB="0" anchor="ctr"/>
                </a:tc>
                <a:tc>
                  <a:txBody>
                    <a:bodyPr/>
                    <a:lstStyle/>
                    <a:p>
                      <a:pPr marL="127000" indent="0"/>
                      <a:r>
                        <a:rPr lang="vi" sz="1200" b="1">
                          <a:latin typeface="Times New Roman"/>
                        </a:rPr>
                        <a:t>2</a:t>
                      </a:r>
                    </a:p>
                  </a:txBody>
                  <a:tcPr marL="0" marR="0" marT="0" marB="0" anchor="ctr"/>
                </a:tc>
                <a:extLst>
                  <a:ext uri="{0D108BD9-81ED-4DB2-BD59-A6C34878D82A}">
                    <a16:rowId xmlns:a16="http://schemas.microsoft.com/office/drawing/2014/main" val="10001"/>
                  </a:ext>
                </a:extLst>
              </a:tr>
              <a:tr h="365760">
                <a:tc>
                  <a:txBody>
                    <a:bodyPr/>
                    <a:lstStyle/>
                    <a:p>
                      <a:pPr marL="114300" indent="0"/>
                      <a:r>
                        <a:rPr lang="vi" sz="1200">
                          <a:latin typeface="Times New Roman"/>
                        </a:rPr>
                        <a:t>A8</a:t>
                      </a:r>
                    </a:p>
                  </a:txBody>
                  <a:tcPr marL="0" marR="0" marT="0" marB="0" anchor="b"/>
                </a:tc>
                <a:tc>
                  <a:txBody>
                    <a:bodyPr/>
                    <a:lstStyle/>
                    <a:p>
                      <a:pPr marL="127000" indent="0"/>
                      <a:r>
                        <a:rPr lang="vi" sz="1200">
                          <a:latin typeface="Times New Roman"/>
                        </a:rPr>
                        <a:t>(4, 9)</a:t>
                      </a:r>
                    </a:p>
                  </a:txBody>
                  <a:tcPr marL="0" marR="0" marT="0" marB="0" anchor="b"/>
                </a:tc>
                <a:tc>
                  <a:txBody>
                    <a:bodyPr/>
                    <a:lstStyle/>
                    <a:p>
                      <a:pPr marL="127000" indent="0"/>
                      <a:r>
                        <a:rPr lang="vi" sz="1200" b="1">
                          <a:latin typeface="Times New Roman"/>
                        </a:rPr>
                        <a:t>2.24</a:t>
                      </a:r>
                    </a:p>
                  </a:txBody>
                  <a:tcPr marL="0" marR="0" marT="0" marB="0" anchor="b"/>
                </a:tc>
                <a:tc>
                  <a:txBody>
                    <a:bodyPr/>
                    <a:lstStyle/>
                    <a:p>
                      <a:pPr marL="114300" indent="0"/>
                      <a:r>
                        <a:rPr lang="vi" sz="1200">
                          <a:latin typeface="Times New Roman"/>
                        </a:rPr>
                        <a:t>4.47</a:t>
                      </a:r>
                    </a:p>
                  </a:txBody>
                  <a:tcPr marL="0" marR="0" marT="0" marB="0" anchor="b"/>
                </a:tc>
                <a:tc>
                  <a:txBody>
                    <a:bodyPr/>
                    <a:lstStyle/>
                    <a:p>
                      <a:pPr marL="127000" indent="0"/>
                      <a:r>
                        <a:rPr lang="vi" sz="1200">
                          <a:latin typeface="Times New Roman"/>
                        </a:rPr>
                        <a:t>6.40</a:t>
                      </a:r>
                    </a:p>
                  </a:txBody>
                  <a:tcPr marL="0" marR="0" marT="0" marB="0" anchor="b"/>
                </a:tc>
                <a:tc>
                  <a:txBody>
                    <a:bodyPr/>
                    <a:lstStyle/>
                    <a:p>
                      <a:pPr marL="127000" indent="0"/>
                      <a:r>
                        <a:rPr lang="vi" sz="1200" b="1">
                          <a:latin typeface="Times New Roman"/>
                        </a:rPr>
                        <a:t>1</a:t>
                      </a:r>
                    </a:p>
                  </a:txBody>
                  <a:tcPr marL="0" marR="0" marT="0" marB="0" anchor="b"/>
                </a:tc>
                <a:extLst>
                  <a:ext uri="{0D108BD9-81ED-4DB2-BD59-A6C34878D82A}">
                    <a16:rowId xmlns:a16="http://schemas.microsoft.com/office/drawing/2014/main" val="10002"/>
                  </a:ext>
                </a:extLst>
              </a:tr>
            </a:tbl>
          </a:graphicData>
        </a:graphic>
      </p:graphicFrame>
      <p:sp>
        <p:nvSpPr>
          <p:cNvPr id="3" name="Rectangle 2"/>
          <p:cNvSpPr/>
          <p:nvPr/>
        </p:nvSpPr>
        <p:spPr>
          <a:xfrm>
            <a:off x="1060704" y="2606040"/>
            <a:ext cx="4361688" cy="4456176"/>
          </a:xfrm>
          <a:prstGeom prst="rect">
            <a:avLst/>
          </a:prstGeom>
        </p:spPr>
        <p:txBody>
          <a:bodyPr lIns="0" tIns="0" rIns="0" bIns="0">
            <a:noAutofit/>
          </a:bodyPr>
          <a:lstStyle/>
          <a:p>
            <a:pPr indent="0">
              <a:lnSpc>
                <a:spcPts val="2232"/>
              </a:lnSpc>
              <a:spcBef>
                <a:spcPts val="1260"/>
              </a:spcBef>
            </a:pPr>
            <a:r>
              <a:rPr lang="vi" sz="1200" b="1">
                <a:latin typeface="Times New Roman"/>
              </a:rPr>
              <a:t>Bước 2.2: Cập nhật Tâm cụm mới</a:t>
            </a:r>
          </a:p>
          <a:p>
            <a:pPr indent="0">
              <a:lnSpc>
                <a:spcPts val="2232"/>
              </a:lnSpc>
            </a:pPr>
            <a:r>
              <a:rPr lang="vi" sz="1200">
                <a:latin typeface="Times New Roman"/>
              </a:rPr>
              <a:t>Tính trung bình cộng tọa độ </a:t>
            </a:r>
            <a:r>
              <a:rPr lang="en-US" sz="1200">
                <a:latin typeface="Times New Roman"/>
              </a:rPr>
              <a:t>(Mean) </a:t>
            </a:r>
            <a:r>
              <a:rPr lang="vi" sz="1200">
                <a:latin typeface="Times New Roman"/>
              </a:rPr>
              <a:t>của các điểm trong mỗi cụm: </a:t>
            </a:r>
            <a:r>
              <a:rPr lang="vi" sz="1200" b="1">
                <a:latin typeface="Times New Roman"/>
              </a:rPr>
              <a:t>Cụm 1 {A1, A4, A8}: </a:t>
            </a:r>
            <a:r>
              <a:rPr lang="vi" sz="1200">
                <a:latin typeface="Times New Roman"/>
              </a:rPr>
              <a:t>x = (2 + 5 + 4) / 3 = 11/3 - 3.67 y = (10 + 8 + 9) / 3 = 27/3 = 9 =&gt; </a:t>
            </a:r>
            <a:r>
              <a:rPr lang="en-US" sz="1200" b="1">
                <a:latin typeface="Times New Roman"/>
              </a:rPr>
              <a:t>New </a:t>
            </a:r>
            <a:r>
              <a:rPr lang="vi" sz="1200" b="1">
                <a:latin typeface="Times New Roman"/>
              </a:rPr>
              <a:t>C1 = (3.67, 9)</a:t>
            </a:r>
          </a:p>
          <a:p>
            <a:pPr indent="0">
              <a:lnSpc>
                <a:spcPts val="2232"/>
              </a:lnSpc>
            </a:pPr>
            <a:r>
              <a:rPr lang="vi" sz="1200" b="1">
                <a:latin typeface="Times New Roman"/>
              </a:rPr>
              <a:t>Cụm 2 {A2, A7}: </a:t>
            </a:r>
            <a:r>
              <a:rPr lang="vi" sz="1200">
                <a:latin typeface="Times New Roman"/>
              </a:rPr>
              <a:t>x = (2 + 1) / 2 = 1.5 y = (5 + 2) / 2 = 3.5 =&gt; </a:t>
            </a:r>
            <a:r>
              <a:rPr lang="en-US" sz="1200" b="1">
                <a:latin typeface="Times New Roman"/>
              </a:rPr>
              <a:t>New </a:t>
            </a:r>
            <a:r>
              <a:rPr lang="vi" sz="1200" b="1">
                <a:latin typeface="Times New Roman"/>
              </a:rPr>
              <a:t>C2 = (1.5, 3.5)</a:t>
            </a:r>
          </a:p>
          <a:p>
            <a:pPr indent="0">
              <a:lnSpc>
                <a:spcPts val="2232"/>
              </a:lnSpc>
            </a:pPr>
            <a:r>
              <a:rPr lang="vi" sz="1200" b="1">
                <a:latin typeface="Times New Roman"/>
              </a:rPr>
              <a:t>Cụm 3 {A3, A5, A6}: </a:t>
            </a:r>
            <a:r>
              <a:rPr lang="vi" sz="1200">
                <a:latin typeface="Times New Roman"/>
              </a:rPr>
              <a:t>x = (8 + 7 + 6) / 3 = 7 y = (4 + 5 + 4) / 3 = 13/3 - 4.33 =&gt; </a:t>
            </a:r>
            <a:r>
              <a:rPr lang="en-US" sz="1200" b="1">
                <a:latin typeface="Times New Roman"/>
              </a:rPr>
              <a:t>New </a:t>
            </a:r>
            <a:r>
              <a:rPr lang="vi" sz="1200" b="1">
                <a:latin typeface="Times New Roman"/>
              </a:rPr>
              <a:t>C3 = (7, 4.33)</a:t>
            </a:r>
          </a:p>
          <a:p>
            <a:pPr indent="0" algn="just">
              <a:lnSpc>
                <a:spcPts val="2232"/>
              </a:lnSpc>
            </a:pPr>
            <a:r>
              <a:rPr lang="vi" sz="1200" b="1">
                <a:latin typeface="Times New Roman"/>
              </a:rPr>
              <a:t>3. Lần lặp 2 </a:t>
            </a:r>
            <a:r>
              <a:rPr lang="en-US" sz="1200" b="1">
                <a:latin typeface="Times New Roman"/>
              </a:rPr>
              <a:t>(Iteration </a:t>
            </a:r>
            <a:r>
              <a:rPr lang="vi" sz="1200" b="1">
                <a:latin typeface="Times New Roman"/>
              </a:rPr>
              <a:t>2)</a:t>
            </a:r>
          </a:p>
          <a:p>
            <a:pPr indent="0" algn="just">
              <a:lnSpc>
                <a:spcPts val="2232"/>
              </a:lnSpc>
            </a:pPr>
            <a:r>
              <a:rPr lang="vi" sz="1200">
                <a:latin typeface="Times New Roman"/>
              </a:rPr>
              <a:t>Sử dụng tâm cụm mới: </a:t>
            </a:r>
            <a:r>
              <a:rPr lang="vi" sz="1200" b="1">
                <a:latin typeface="Times New Roman"/>
              </a:rPr>
              <a:t>C1(3.67, 9), C2(1.5, 3.5), C3(7, 4.33)</a:t>
            </a:r>
            <a:r>
              <a:rPr lang="vi" sz="1200">
                <a:latin typeface="Times New Roman"/>
              </a:rPr>
              <a:t>.</a:t>
            </a:r>
          </a:p>
        </p:txBody>
      </p:sp>
      <p:graphicFrame>
        <p:nvGraphicFramePr>
          <p:cNvPr id="4" name="Table 3"/>
          <p:cNvGraphicFramePr>
            <a:graphicFrameLocks noGrp="1"/>
          </p:cNvGraphicFramePr>
          <p:nvPr/>
        </p:nvGraphicFramePr>
        <p:xfrm>
          <a:off x="1088136" y="7147560"/>
          <a:ext cx="5952744" cy="1368552"/>
        </p:xfrm>
        <a:graphic>
          <a:graphicData uri="http://schemas.openxmlformats.org/drawingml/2006/table">
            <a:tbl>
              <a:tblPr/>
              <a:tblGrid>
                <a:gridCol w="661416">
                  <a:extLst>
                    <a:ext uri="{9D8B030D-6E8A-4147-A177-3AD203B41FA5}">
                      <a16:colId xmlns:a16="http://schemas.microsoft.com/office/drawing/2014/main" val="20000"/>
                    </a:ext>
                  </a:extLst>
                </a:gridCol>
                <a:gridCol w="795528">
                  <a:extLst>
                    <a:ext uri="{9D8B030D-6E8A-4147-A177-3AD203B41FA5}">
                      <a16:colId xmlns:a16="http://schemas.microsoft.com/office/drawing/2014/main" val="20001"/>
                    </a:ext>
                  </a:extLst>
                </a:gridCol>
                <a:gridCol w="1164336">
                  <a:extLst>
                    <a:ext uri="{9D8B030D-6E8A-4147-A177-3AD203B41FA5}">
                      <a16:colId xmlns:a16="http://schemas.microsoft.com/office/drawing/2014/main" val="20002"/>
                    </a:ext>
                  </a:extLst>
                </a:gridCol>
                <a:gridCol w="1164336">
                  <a:extLst>
                    <a:ext uri="{9D8B030D-6E8A-4147-A177-3AD203B41FA5}">
                      <a16:colId xmlns:a16="http://schemas.microsoft.com/office/drawing/2014/main" val="20003"/>
                    </a:ext>
                  </a:extLst>
                </a:gridCol>
                <a:gridCol w="1164336">
                  <a:extLst>
                    <a:ext uri="{9D8B030D-6E8A-4147-A177-3AD203B41FA5}">
                      <a16:colId xmlns:a16="http://schemas.microsoft.com/office/drawing/2014/main" val="20004"/>
                    </a:ext>
                  </a:extLst>
                </a:gridCol>
                <a:gridCol w="1002792">
                  <a:extLst>
                    <a:ext uri="{9D8B030D-6E8A-4147-A177-3AD203B41FA5}">
                      <a16:colId xmlns:a16="http://schemas.microsoft.com/office/drawing/2014/main" val="20005"/>
                    </a:ext>
                  </a:extLst>
                </a:gridCol>
              </a:tblGrid>
              <a:tr h="512064">
                <a:tc>
                  <a:txBody>
                    <a:bodyPr/>
                    <a:lstStyle/>
                    <a:p>
                      <a:pPr marL="114300" indent="0"/>
                      <a:r>
                        <a:rPr lang="vi" sz="1200" b="1">
                          <a:latin typeface="Times New Roman"/>
                        </a:rPr>
                        <a:t>Điểm</a:t>
                      </a:r>
                    </a:p>
                  </a:txBody>
                  <a:tcPr marL="0" marR="0" marT="0" marB="0" anchor="ctr">
                    <a:solidFill>
                      <a:srgbClr val="34485D"/>
                    </a:solidFill>
                  </a:tcPr>
                </a:tc>
                <a:tc>
                  <a:txBody>
                    <a:bodyPr/>
                    <a:lstStyle/>
                    <a:p>
                      <a:pPr marL="127000" indent="0"/>
                      <a:r>
                        <a:rPr lang="vi" sz="1200" b="1">
                          <a:latin typeface="Times New Roman"/>
                        </a:rPr>
                        <a:t>Tọa độ</a:t>
                      </a:r>
                    </a:p>
                  </a:txBody>
                  <a:tcPr marL="0" marR="0" marT="0" marB="0" anchor="ctr">
                    <a:solidFill>
                      <a:srgbClr val="34485D"/>
                    </a:solidFill>
                  </a:tcPr>
                </a:tc>
                <a:tc>
                  <a:txBody>
                    <a:bodyPr/>
                    <a:lstStyle/>
                    <a:p>
                      <a:pPr marL="127000" indent="0"/>
                      <a:r>
                        <a:rPr lang="vi" sz="1200" b="1">
                          <a:latin typeface="Times New Roman"/>
                        </a:rPr>
                        <a:t>Dist đến C1</a:t>
                      </a:r>
                    </a:p>
                  </a:txBody>
                  <a:tcPr marL="0" marR="0" marT="0" marB="0" anchor="ctr">
                    <a:solidFill>
                      <a:srgbClr val="34485D"/>
                    </a:solidFill>
                  </a:tcPr>
                </a:tc>
                <a:tc>
                  <a:txBody>
                    <a:bodyPr/>
                    <a:lstStyle/>
                    <a:p>
                      <a:pPr marL="127000" indent="0"/>
                      <a:r>
                        <a:rPr lang="vi" sz="1200" b="1">
                          <a:latin typeface="Times New Roman"/>
                        </a:rPr>
                        <a:t>Dist đến C2</a:t>
                      </a:r>
                    </a:p>
                  </a:txBody>
                  <a:tcPr marL="0" marR="0" marT="0" marB="0" anchor="ctr">
                    <a:solidFill>
                      <a:srgbClr val="34485D"/>
                    </a:solidFill>
                  </a:tcPr>
                </a:tc>
                <a:tc>
                  <a:txBody>
                    <a:bodyPr/>
                    <a:lstStyle/>
                    <a:p>
                      <a:pPr marL="127000" indent="0"/>
                      <a:r>
                        <a:rPr lang="vi" sz="1200" b="1">
                          <a:latin typeface="Times New Roman"/>
                        </a:rPr>
                        <a:t>Dist đến C3</a:t>
                      </a:r>
                    </a:p>
                  </a:txBody>
                  <a:tcPr marL="0" marR="0" marT="0" marB="0" anchor="ctr">
                    <a:solidFill>
                      <a:srgbClr val="34485D"/>
                    </a:solidFill>
                  </a:tcPr>
                </a:tc>
                <a:tc>
                  <a:txBody>
                    <a:bodyPr/>
                    <a:lstStyle/>
                    <a:p>
                      <a:pPr marL="127000" indent="0"/>
                      <a:r>
                        <a:rPr lang="vi" sz="1200" b="1">
                          <a:latin typeface="Times New Roman"/>
                        </a:rPr>
                        <a:t>Cụm Mới</a:t>
                      </a:r>
                    </a:p>
                  </a:txBody>
                  <a:tcPr marL="0" marR="0" marT="0" marB="0" anchor="ctr">
                    <a:solidFill>
                      <a:srgbClr val="34485D"/>
                    </a:solidFill>
                  </a:tcPr>
                </a:tc>
                <a:extLst>
                  <a:ext uri="{0D108BD9-81ED-4DB2-BD59-A6C34878D82A}">
                    <a16:rowId xmlns:a16="http://schemas.microsoft.com/office/drawing/2014/main" val="10000"/>
                  </a:ext>
                </a:extLst>
              </a:tr>
              <a:tr h="490728">
                <a:tc>
                  <a:txBody>
                    <a:bodyPr/>
                    <a:lstStyle/>
                    <a:p>
                      <a:pPr marL="114300" indent="0"/>
                      <a:r>
                        <a:rPr lang="vi" sz="1200">
                          <a:latin typeface="Times New Roman"/>
                        </a:rPr>
                        <a:t>A1</a:t>
                      </a:r>
                    </a:p>
                  </a:txBody>
                  <a:tcPr marL="0" marR="0" marT="0" marB="0" anchor="ctr"/>
                </a:tc>
                <a:tc>
                  <a:txBody>
                    <a:bodyPr/>
                    <a:lstStyle/>
                    <a:p>
                      <a:pPr marL="127000" indent="0"/>
                      <a:r>
                        <a:rPr lang="vi" sz="1200">
                          <a:latin typeface="Times New Roman"/>
                        </a:rPr>
                        <a:t>(2, 10)</a:t>
                      </a:r>
                    </a:p>
                  </a:txBody>
                  <a:tcPr marL="0" marR="0" marT="0" marB="0" anchor="ctr"/>
                </a:tc>
                <a:tc>
                  <a:txBody>
                    <a:bodyPr/>
                    <a:lstStyle/>
                    <a:p>
                      <a:pPr marL="127000" indent="0"/>
                      <a:r>
                        <a:rPr lang="vi" sz="1200" b="1">
                          <a:latin typeface="Times New Roman"/>
                        </a:rPr>
                        <a:t>1.94</a:t>
                      </a:r>
                    </a:p>
                  </a:txBody>
                  <a:tcPr marL="0" marR="0" marT="0" marB="0" anchor="ctr"/>
                </a:tc>
                <a:tc>
                  <a:txBody>
                    <a:bodyPr/>
                    <a:lstStyle/>
                    <a:p>
                      <a:pPr marL="127000" indent="0"/>
                      <a:r>
                        <a:rPr lang="vi" sz="1200">
                          <a:latin typeface="Times New Roman"/>
                        </a:rPr>
                        <a:t>6.52</a:t>
                      </a:r>
                    </a:p>
                  </a:txBody>
                  <a:tcPr marL="0" marR="0" marT="0" marB="0" anchor="ctr"/>
                </a:tc>
                <a:tc>
                  <a:txBody>
                    <a:bodyPr/>
                    <a:lstStyle/>
                    <a:p>
                      <a:pPr marL="127000" indent="0"/>
                      <a:r>
                        <a:rPr lang="vi" sz="1200">
                          <a:latin typeface="Times New Roman"/>
                        </a:rPr>
                        <a:t>7.56</a:t>
                      </a:r>
                    </a:p>
                  </a:txBody>
                  <a:tcPr marL="0" marR="0" marT="0" marB="0" anchor="ctr"/>
                </a:tc>
                <a:tc>
                  <a:txBody>
                    <a:bodyPr/>
                    <a:lstStyle/>
                    <a:p>
                      <a:pPr marL="127000" indent="0"/>
                      <a:r>
                        <a:rPr lang="vi" sz="1200" b="1">
                          <a:latin typeface="Times New Roman"/>
                        </a:rPr>
                        <a:t>1</a:t>
                      </a:r>
                    </a:p>
                  </a:txBody>
                  <a:tcPr marL="0" marR="0" marT="0" marB="0" anchor="ctr"/>
                </a:tc>
                <a:extLst>
                  <a:ext uri="{0D108BD9-81ED-4DB2-BD59-A6C34878D82A}">
                    <a16:rowId xmlns:a16="http://schemas.microsoft.com/office/drawing/2014/main" val="10001"/>
                  </a:ext>
                </a:extLst>
              </a:tr>
              <a:tr h="365760">
                <a:tc>
                  <a:txBody>
                    <a:bodyPr/>
                    <a:lstStyle/>
                    <a:p>
                      <a:pPr marL="114300" indent="0"/>
                      <a:r>
                        <a:rPr lang="vi" sz="1200">
                          <a:latin typeface="Times New Roman"/>
                        </a:rPr>
                        <a:t>A2</a:t>
                      </a:r>
                    </a:p>
                  </a:txBody>
                  <a:tcPr marL="0" marR="0" marT="0" marB="0" anchor="b"/>
                </a:tc>
                <a:tc>
                  <a:txBody>
                    <a:bodyPr/>
                    <a:lstStyle/>
                    <a:p>
                      <a:pPr marL="127000" indent="0"/>
                      <a:r>
                        <a:rPr lang="vi" sz="1200">
                          <a:latin typeface="Times New Roman"/>
                        </a:rPr>
                        <a:t>(2, 5)</a:t>
                      </a:r>
                    </a:p>
                  </a:txBody>
                  <a:tcPr marL="0" marR="0" marT="0" marB="0" anchor="b"/>
                </a:tc>
                <a:tc>
                  <a:txBody>
                    <a:bodyPr/>
                    <a:lstStyle/>
                    <a:p>
                      <a:pPr marL="127000" indent="0"/>
                      <a:r>
                        <a:rPr lang="vi" sz="1200">
                          <a:latin typeface="Times New Roman"/>
                        </a:rPr>
                        <a:t>4.33</a:t>
                      </a:r>
                    </a:p>
                  </a:txBody>
                  <a:tcPr marL="0" marR="0" marT="0" marB="0" anchor="b"/>
                </a:tc>
                <a:tc>
                  <a:txBody>
                    <a:bodyPr/>
                    <a:lstStyle/>
                    <a:p>
                      <a:pPr marL="127000" indent="0"/>
                      <a:r>
                        <a:rPr lang="vi" sz="1200" b="1">
                          <a:latin typeface="Times New Roman"/>
                        </a:rPr>
                        <a:t>1.58</a:t>
                      </a:r>
                    </a:p>
                  </a:txBody>
                  <a:tcPr marL="0" marR="0" marT="0" marB="0" anchor="b"/>
                </a:tc>
                <a:tc>
                  <a:txBody>
                    <a:bodyPr/>
                    <a:lstStyle/>
                    <a:p>
                      <a:pPr marL="127000" indent="0"/>
                      <a:r>
                        <a:rPr lang="vi" sz="1200">
                          <a:latin typeface="Times New Roman"/>
                        </a:rPr>
                        <a:t>5.04</a:t>
                      </a:r>
                    </a:p>
                  </a:txBody>
                  <a:tcPr marL="0" marR="0" marT="0" marB="0" anchor="b"/>
                </a:tc>
                <a:tc>
                  <a:txBody>
                    <a:bodyPr/>
                    <a:lstStyle/>
                    <a:p>
                      <a:pPr marL="127000" indent="0"/>
                      <a:r>
                        <a:rPr lang="vi" sz="1200" b="1">
                          <a:latin typeface="Times New Roman"/>
                        </a:rPr>
                        <a:t>2</a:t>
                      </a:r>
                    </a:p>
                  </a:txBody>
                  <a:tcPr marL="0" marR="0" marT="0" marB="0" anchor="b"/>
                </a:tc>
                <a:extLst>
                  <a:ext uri="{0D108BD9-81ED-4DB2-BD59-A6C34878D82A}">
                    <a16:rowId xmlns:a16="http://schemas.microsoft.com/office/drawing/2014/main" val="10002"/>
                  </a:ext>
                </a:extLst>
              </a:tr>
            </a:tbl>
          </a:graphicData>
        </a:graphic>
      </p:graphicFrame>
      <p:sp>
        <p:nvSpPr>
          <p:cNvPr id="5" name="Rectangle 4"/>
          <p:cNvSpPr/>
          <p:nvPr/>
        </p:nvSpPr>
        <p:spPr>
          <a:xfrm>
            <a:off x="1182624" y="8851392"/>
            <a:ext cx="222504" cy="149352"/>
          </a:xfrm>
          <a:prstGeom prst="rect">
            <a:avLst/>
          </a:prstGeom>
        </p:spPr>
        <p:txBody>
          <a:bodyPr wrap="none" lIns="0" tIns="0" rIns="0" bIns="0">
            <a:noAutofit/>
          </a:bodyPr>
          <a:lstStyle/>
          <a:p>
            <a:pPr indent="0"/>
            <a:r>
              <a:rPr lang="vi" sz="1200">
                <a:latin typeface="Times New Roman"/>
              </a:rPr>
              <a:t>A3</a:t>
            </a:r>
          </a:p>
        </p:txBody>
      </p:sp>
      <p:sp>
        <p:nvSpPr>
          <p:cNvPr id="6" name="Rectangle 5"/>
          <p:cNvSpPr/>
          <p:nvPr/>
        </p:nvSpPr>
        <p:spPr>
          <a:xfrm>
            <a:off x="1856232" y="8848344"/>
            <a:ext cx="1097280" cy="188976"/>
          </a:xfrm>
          <a:prstGeom prst="rect">
            <a:avLst/>
          </a:prstGeom>
        </p:spPr>
        <p:txBody>
          <a:bodyPr wrap="none" lIns="0" tIns="0" rIns="0" bIns="0">
            <a:noAutofit/>
          </a:bodyPr>
          <a:lstStyle/>
          <a:p>
            <a:pPr indent="0" algn="just"/>
            <a:r>
              <a:rPr lang="vi" sz="1200">
                <a:latin typeface="Times New Roman"/>
              </a:rPr>
              <a:t>(8, 4)    6.61</a:t>
            </a:r>
          </a:p>
        </p:txBody>
      </p:sp>
      <p:sp>
        <p:nvSpPr>
          <p:cNvPr id="7" name="Rectangle 6"/>
          <p:cNvSpPr/>
          <p:nvPr/>
        </p:nvSpPr>
        <p:spPr>
          <a:xfrm>
            <a:off x="3813048" y="8854440"/>
            <a:ext cx="313944" cy="149352"/>
          </a:xfrm>
          <a:prstGeom prst="rect">
            <a:avLst/>
          </a:prstGeom>
        </p:spPr>
        <p:txBody>
          <a:bodyPr wrap="none" lIns="0" tIns="0" rIns="0" bIns="0">
            <a:noAutofit/>
          </a:bodyPr>
          <a:lstStyle/>
          <a:p>
            <a:pPr indent="0"/>
            <a:r>
              <a:rPr lang="vi" sz="1200">
                <a:latin typeface="Times New Roman"/>
              </a:rPr>
              <a:t>6.52</a:t>
            </a:r>
          </a:p>
        </p:txBody>
      </p:sp>
      <p:sp>
        <p:nvSpPr>
          <p:cNvPr id="8" name="Rectangle 7"/>
          <p:cNvSpPr/>
          <p:nvPr/>
        </p:nvSpPr>
        <p:spPr>
          <a:xfrm>
            <a:off x="4986528" y="8860536"/>
            <a:ext cx="304800" cy="149352"/>
          </a:xfrm>
          <a:prstGeom prst="rect">
            <a:avLst/>
          </a:prstGeom>
        </p:spPr>
        <p:txBody>
          <a:bodyPr wrap="none" lIns="0" tIns="0" rIns="0" bIns="0">
            <a:noAutofit/>
          </a:bodyPr>
          <a:lstStyle/>
          <a:p>
            <a:pPr indent="0"/>
            <a:r>
              <a:rPr lang="vi" sz="1200" b="1">
                <a:latin typeface="Times New Roman"/>
              </a:rPr>
              <a:t>1.05</a:t>
            </a:r>
          </a:p>
        </p:txBody>
      </p:sp>
      <p:sp>
        <p:nvSpPr>
          <p:cNvPr id="9" name="Rectangle 8"/>
          <p:cNvSpPr/>
          <p:nvPr/>
        </p:nvSpPr>
        <p:spPr>
          <a:xfrm>
            <a:off x="6141720" y="8860536"/>
            <a:ext cx="106680" cy="146304"/>
          </a:xfrm>
          <a:prstGeom prst="rect">
            <a:avLst/>
          </a:prstGeom>
        </p:spPr>
        <p:txBody>
          <a:bodyPr wrap="none" lIns="0" tIns="0" rIns="0" bIns="0">
            <a:noAutofit/>
          </a:bodyPr>
          <a:lstStyle/>
          <a:p>
            <a:pPr indent="0"/>
            <a:r>
              <a:rPr lang="vi" sz="1200" b="1">
                <a:latin typeface="Times New Roman"/>
              </a:rPr>
              <a:t>3</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088136" y="728472"/>
          <a:ext cx="5952744" cy="3005328"/>
        </p:xfrm>
        <a:graphic>
          <a:graphicData uri="http://schemas.openxmlformats.org/drawingml/2006/table">
            <a:tbl>
              <a:tblPr/>
              <a:tblGrid>
                <a:gridCol w="661416">
                  <a:extLst>
                    <a:ext uri="{9D8B030D-6E8A-4147-A177-3AD203B41FA5}">
                      <a16:colId xmlns:a16="http://schemas.microsoft.com/office/drawing/2014/main" val="20000"/>
                    </a:ext>
                  </a:extLst>
                </a:gridCol>
                <a:gridCol w="795528">
                  <a:extLst>
                    <a:ext uri="{9D8B030D-6E8A-4147-A177-3AD203B41FA5}">
                      <a16:colId xmlns:a16="http://schemas.microsoft.com/office/drawing/2014/main" val="20001"/>
                    </a:ext>
                  </a:extLst>
                </a:gridCol>
                <a:gridCol w="1164336">
                  <a:extLst>
                    <a:ext uri="{9D8B030D-6E8A-4147-A177-3AD203B41FA5}">
                      <a16:colId xmlns:a16="http://schemas.microsoft.com/office/drawing/2014/main" val="20002"/>
                    </a:ext>
                  </a:extLst>
                </a:gridCol>
                <a:gridCol w="1164336">
                  <a:extLst>
                    <a:ext uri="{9D8B030D-6E8A-4147-A177-3AD203B41FA5}">
                      <a16:colId xmlns:a16="http://schemas.microsoft.com/office/drawing/2014/main" val="20003"/>
                    </a:ext>
                  </a:extLst>
                </a:gridCol>
                <a:gridCol w="1164336">
                  <a:extLst>
                    <a:ext uri="{9D8B030D-6E8A-4147-A177-3AD203B41FA5}">
                      <a16:colId xmlns:a16="http://schemas.microsoft.com/office/drawing/2014/main" val="20004"/>
                    </a:ext>
                  </a:extLst>
                </a:gridCol>
                <a:gridCol w="1002792">
                  <a:extLst>
                    <a:ext uri="{9D8B030D-6E8A-4147-A177-3AD203B41FA5}">
                      <a16:colId xmlns:a16="http://schemas.microsoft.com/office/drawing/2014/main" val="20005"/>
                    </a:ext>
                  </a:extLst>
                </a:gridCol>
              </a:tblGrid>
              <a:tr h="512064">
                <a:tc>
                  <a:txBody>
                    <a:bodyPr/>
                    <a:lstStyle/>
                    <a:p>
                      <a:pPr marL="114300" indent="0"/>
                      <a:r>
                        <a:rPr lang="vi" sz="1200" b="1">
                          <a:latin typeface="Times New Roman"/>
                        </a:rPr>
                        <a:t>Điểm</a:t>
                      </a:r>
                    </a:p>
                  </a:txBody>
                  <a:tcPr marL="0" marR="0" marT="0" marB="0" anchor="ctr">
                    <a:solidFill>
                      <a:srgbClr val="34485D"/>
                    </a:solidFill>
                  </a:tcPr>
                </a:tc>
                <a:tc>
                  <a:txBody>
                    <a:bodyPr/>
                    <a:lstStyle/>
                    <a:p>
                      <a:pPr marL="127000" indent="0"/>
                      <a:r>
                        <a:rPr lang="vi" sz="1200" b="1">
                          <a:latin typeface="Times New Roman"/>
                        </a:rPr>
                        <a:t>Tọa độ</a:t>
                      </a:r>
                    </a:p>
                  </a:txBody>
                  <a:tcPr marL="0" marR="0" marT="0" marB="0" anchor="ctr">
                    <a:solidFill>
                      <a:srgbClr val="34485D"/>
                    </a:solidFill>
                  </a:tcPr>
                </a:tc>
                <a:tc>
                  <a:txBody>
                    <a:bodyPr/>
                    <a:lstStyle/>
                    <a:p>
                      <a:pPr marL="127000" indent="0"/>
                      <a:r>
                        <a:rPr lang="vi" sz="1200" b="1">
                          <a:latin typeface="Times New Roman"/>
                        </a:rPr>
                        <a:t>Dist đến C1</a:t>
                      </a:r>
                    </a:p>
                  </a:txBody>
                  <a:tcPr marL="0" marR="0" marT="0" marB="0" anchor="ctr">
                    <a:solidFill>
                      <a:srgbClr val="34485D"/>
                    </a:solidFill>
                  </a:tcPr>
                </a:tc>
                <a:tc>
                  <a:txBody>
                    <a:bodyPr/>
                    <a:lstStyle/>
                    <a:p>
                      <a:pPr marL="127000" indent="0"/>
                      <a:r>
                        <a:rPr lang="vi" sz="1200" b="1">
                          <a:latin typeface="Times New Roman"/>
                        </a:rPr>
                        <a:t>Dist đến C2</a:t>
                      </a:r>
                    </a:p>
                  </a:txBody>
                  <a:tcPr marL="0" marR="0" marT="0" marB="0" anchor="ctr">
                    <a:solidFill>
                      <a:srgbClr val="34485D"/>
                    </a:solidFill>
                  </a:tcPr>
                </a:tc>
                <a:tc>
                  <a:txBody>
                    <a:bodyPr/>
                    <a:lstStyle/>
                    <a:p>
                      <a:pPr marL="127000" indent="0"/>
                      <a:r>
                        <a:rPr lang="vi" sz="1200" b="1">
                          <a:latin typeface="Times New Roman"/>
                        </a:rPr>
                        <a:t>Dist đến C3</a:t>
                      </a:r>
                    </a:p>
                  </a:txBody>
                  <a:tcPr marL="0" marR="0" marT="0" marB="0" anchor="ctr">
                    <a:solidFill>
                      <a:srgbClr val="34485D"/>
                    </a:solidFill>
                  </a:tcPr>
                </a:tc>
                <a:tc>
                  <a:txBody>
                    <a:bodyPr/>
                    <a:lstStyle/>
                    <a:p>
                      <a:pPr marL="127000" indent="0"/>
                      <a:r>
                        <a:rPr lang="vi" sz="1200" b="1">
                          <a:latin typeface="Times New Roman"/>
                        </a:rPr>
                        <a:t>Cụm Mới</a:t>
                      </a:r>
                    </a:p>
                  </a:txBody>
                  <a:tcPr marL="0" marR="0" marT="0" marB="0" anchor="ctr">
                    <a:solidFill>
                      <a:srgbClr val="34485D"/>
                    </a:solidFill>
                  </a:tcPr>
                </a:tc>
                <a:extLst>
                  <a:ext uri="{0D108BD9-81ED-4DB2-BD59-A6C34878D82A}">
                    <a16:rowId xmlns:a16="http://schemas.microsoft.com/office/drawing/2014/main" val="10000"/>
                  </a:ext>
                </a:extLst>
              </a:tr>
              <a:tr h="499872">
                <a:tc>
                  <a:txBody>
                    <a:bodyPr/>
                    <a:lstStyle/>
                    <a:p>
                      <a:pPr marL="114300" indent="0"/>
                      <a:r>
                        <a:rPr lang="vi" sz="1200">
                          <a:latin typeface="Times New Roman"/>
                        </a:rPr>
                        <a:t>A4</a:t>
                      </a:r>
                    </a:p>
                  </a:txBody>
                  <a:tcPr marL="0" marR="0" marT="0" marB="0" anchor="ctr"/>
                </a:tc>
                <a:tc>
                  <a:txBody>
                    <a:bodyPr/>
                    <a:lstStyle/>
                    <a:p>
                      <a:pPr marL="127000" indent="0"/>
                      <a:r>
                        <a:rPr lang="vi" sz="1200">
                          <a:latin typeface="Times New Roman"/>
                        </a:rPr>
                        <a:t>(5, 8)</a:t>
                      </a:r>
                    </a:p>
                  </a:txBody>
                  <a:tcPr marL="0" marR="0" marT="0" marB="0" anchor="ctr"/>
                </a:tc>
                <a:tc>
                  <a:txBody>
                    <a:bodyPr/>
                    <a:lstStyle/>
                    <a:p>
                      <a:pPr marL="127000" indent="0"/>
                      <a:r>
                        <a:rPr lang="vi" sz="1200" b="1">
                          <a:latin typeface="Times New Roman"/>
                        </a:rPr>
                        <a:t>1.66</a:t>
                      </a:r>
                    </a:p>
                  </a:txBody>
                  <a:tcPr marL="0" marR="0" marT="0" marB="0" anchor="ctr"/>
                </a:tc>
                <a:tc>
                  <a:txBody>
                    <a:bodyPr/>
                    <a:lstStyle/>
                    <a:p>
                      <a:pPr marL="127000" indent="0"/>
                      <a:r>
                        <a:rPr lang="vi" sz="1200">
                          <a:latin typeface="Times New Roman"/>
                        </a:rPr>
                        <a:t>5.70</a:t>
                      </a:r>
                    </a:p>
                  </a:txBody>
                  <a:tcPr marL="0" marR="0" marT="0" marB="0" anchor="ctr"/>
                </a:tc>
                <a:tc>
                  <a:txBody>
                    <a:bodyPr/>
                    <a:lstStyle/>
                    <a:p>
                      <a:pPr marL="127000" indent="0"/>
                      <a:r>
                        <a:rPr lang="vi" sz="1200">
                          <a:latin typeface="Times New Roman"/>
                        </a:rPr>
                        <a:t>4.18</a:t>
                      </a:r>
                    </a:p>
                  </a:txBody>
                  <a:tcPr marL="0" marR="0" marT="0" marB="0" anchor="ctr"/>
                </a:tc>
                <a:tc>
                  <a:txBody>
                    <a:bodyPr/>
                    <a:lstStyle/>
                    <a:p>
                      <a:pPr marL="127000" indent="0"/>
                      <a:r>
                        <a:rPr lang="vi" sz="1200" b="1">
                          <a:latin typeface="Times New Roman"/>
                        </a:rPr>
                        <a:t>1</a:t>
                      </a:r>
                    </a:p>
                  </a:txBody>
                  <a:tcPr marL="0" marR="0" marT="0" marB="0" anchor="ctr"/>
                </a:tc>
                <a:extLst>
                  <a:ext uri="{0D108BD9-81ED-4DB2-BD59-A6C34878D82A}">
                    <a16:rowId xmlns:a16="http://schemas.microsoft.com/office/drawing/2014/main" val="10001"/>
                  </a:ext>
                </a:extLst>
              </a:tr>
              <a:tr h="545592">
                <a:tc>
                  <a:txBody>
                    <a:bodyPr/>
                    <a:lstStyle/>
                    <a:p>
                      <a:pPr marL="114300" indent="0"/>
                      <a:r>
                        <a:rPr lang="vi" sz="1200">
                          <a:latin typeface="Times New Roman"/>
                        </a:rPr>
                        <a:t>A5</a:t>
                      </a:r>
                    </a:p>
                  </a:txBody>
                  <a:tcPr marL="0" marR="0" marT="0" marB="0" anchor="ctr"/>
                </a:tc>
                <a:tc>
                  <a:txBody>
                    <a:bodyPr/>
                    <a:lstStyle/>
                    <a:p>
                      <a:pPr marL="127000" indent="0"/>
                      <a:r>
                        <a:rPr lang="vi" sz="1200">
                          <a:latin typeface="Times New Roman"/>
                        </a:rPr>
                        <a:t>(7, 5)</a:t>
                      </a:r>
                    </a:p>
                  </a:txBody>
                  <a:tcPr marL="0" marR="0" marT="0" marB="0" anchor="ctr"/>
                </a:tc>
                <a:tc>
                  <a:txBody>
                    <a:bodyPr/>
                    <a:lstStyle/>
                    <a:p>
                      <a:pPr marL="127000" indent="0"/>
                      <a:r>
                        <a:rPr lang="vi" sz="1200">
                          <a:latin typeface="Times New Roman"/>
                        </a:rPr>
                        <a:t>5.21</a:t>
                      </a:r>
                    </a:p>
                  </a:txBody>
                  <a:tcPr marL="0" marR="0" marT="0" marB="0" anchor="ctr"/>
                </a:tc>
                <a:tc>
                  <a:txBody>
                    <a:bodyPr/>
                    <a:lstStyle/>
                    <a:p>
                      <a:pPr marL="127000" indent="0"/>
                      <a:r>
                        <a:rPr lang="vi" sz="1200">
                          <a:latin typeface="Times New Roman"/>
                        </a:rPr>
                        <a:t>5.70</a:t>
                      </a:r>
                    </a:p>
                  </a:txBody>
                  <a:tcPr marL="0" marR="0" marT="0" marB="0" anchor="ctr"/>
                </a:tc>
                <a:tc>
                  <a:txBody>
                    <a:bodyPr/>
                    <a:lstStyle/>
                    <a:p>
                      <a:pPr marL="127000" indent="0"/>
                      <a:r>
                        <a:rPr lang="vi" sz="1200" b="1">
                          <a:latin typeface="Times New Roman"/>
                        </a:rPr>
                        <a:t>0.67</a:t>
                      </a:r>
                    </a:p>
                  </a:txBody>
                  <a:tcPr marL="0" marR="0" marT="0" marB="0" anchor="ctr"/>
                </a:tc>
                <a:tc>
                  <a:txBody>
                    <a:bodyPr/>
                    <a:lstStyle/>
                    <a:p>
                      <a:pPr marL="127000" indent="0"/>
                      <a:r>
                        <a:rPr lang="vi" sz="1200" b="1">
                          <a:latin typeface="Times New Roman"/>
                        </a:rPr>
                        <a:t>3</a:t>
                      </a:r>
                    </a:p>
                  </a:txBody>
                  <a:tcPr marL="0" marR="0" marT="0" marB="0" anchor="ctr"/>
                </a:tc>
                <a:extLst>
                  <a:ext uri="{0D108BD9-81ED-4DB2-BD59-A6C34878D82A}">
                    <a16:rowId xmlns:a16="http://schemas.microsoft.com/office/drawing/2014/main" val="10002"/>
                  </a:ext>
                </a:extLst>
              </a:tr>
              <a:tr h="533400">
                <a:tc>
                  <a:txBody>
                    <a:bodyPr/>
                    <a:lstStyle/>
                    <a:p>
                      <a:pPr marL="114300" indent="0"/>
                      <a:r>
                        <a:rPr lang="vi" sz="1200">
                          <a:latin typeface="Times New Roman"/>
                        </a:rPr>
                        <a:t>A6</a:t>
                      </a:r>
                    </a:p>
                  </a:txBody>
                  <a:tcPr marL="0" marR="0" marT="0" marB="0" anchor="ctr"/>
                </a:tc>
                <a:tc>
                  <a:txBody>
                    <a:bodyPr/>
                    <a:lstStyle/>
                    <a:p>
                      <a:pPr marL="127000" indent="0"/>
                      <a:r>
                        <a:rPr lang="vi" sz="1200">
                          <a:latin typeface="Times New Roman"/>
                        </a:rPr>
                        <a:t>(6, 4)</a:t>
                      </a:r>
                    </a:p>
                  </a:txBody>
                  <a:tcPr marL="0" marR="0" marT="0" marB="0" anchor="ctr"/>
                </a:tc>
                <a:tc>
                  <a:txBody>
                    <a:bodyPr/>
                    <a:lstStyle/>
                    <a:p>
                      <a:pPr marL="127000" indent="0"/>
                      <a:r>
                        <a:rPr lang="vi" sz="1200">
                          <a:latin typeface="Times New Roman"/>
                        </a:rPr>
                        <a:t>5.52</a:t>
                      </a:r>
                    </a:p>
                  </a:txBody>
                  <a:tcPr marL="0" marR="0" marT="0" marB="0" anchor="ctr"/>
                </a:tc>
                <a:tc>
                  <a:txBody>
                    <a:bodyPr/>
                    <a:lstStyle/>
                    <a:p>
                      <a:pPr marL="127000" indent="0"/>
                      <a:r>
                        <a:rPr lang="vi" sz="1200">
                          <a:latin typeface="Times New Roman"/>
                        </a:rPr>
                        <a:t>4.53</a:t>
                      </a:r>
                    </a:p>
                  </a:txBody>
                  <a:tcPr marL="0" marR="0" marT="0" marB="0" anchor="ctr"/>
                </a:tc>
                <a:tc>
                  <a:txBody>
                    <a:bodyPr/>
                    <a:lstStyle/>
                    <a:p>
                      <a:pPr marL="127000" indent="0"/>
                      <a:r>
                        <a:rPr lang="vi" sz="1200" b="1">
                          <a:latin typeface="Times New Roman"/>
                        </a:rPr>
                        <a:t>1.05</a:t>
                      </a:r>
                    </a:p>
                  </a:txBody>
                  <a:tcPr marL="0" marR="0" marT="0" marB="0" anchor="ctr"/>
                </a:tc>
                <a:tc>
                  <a:txBody>
                    <a:bodyPr/>
                    <a:lstStyle/>
                    <a:p>
                      <a:pPr marL="127000" indent="0"/>
                      <a:r>
                        <a:rPr lang="vi" sz="1200" b="1">
                          <a:latin typeface="Times New Roman"/>
                        </a:rPr>
                        <a:t>3</a:t>
                      </a:r>
                    </a:p>
                  </a:txBody>
                  <a:tcPr marL="0" marR="0" marT="0" marB="0" anchor="ctr"/>
                </a:tc>
                <a:extLst>
                  <a:ext uri="{0D108BD9-81ED-4DB2-BD59-A6C34878D82A}">
                    <a16:rowId xmlns:a16="http://schemas.microsoft.com/office/drawing/2014/main" val="10003"/>
                  </a:ext>
                </a:extLst>
              </a:tr>
              <a:tr h="533400">
                <a:tc>
                  <a:txBody>
                    <a:bodyPr/>
                    <a:lstStyle/>
                    <a:p>
                      <a:pPr marL="114300" indent="0"/>
                      <a:r>
                        <a:rPr lang="vi" sz="1200">
                          <a:latin typeface="Times New Roman"/>
                        </a:rPr>
                        <a:t>A7</a:t>
                      </a:r>
                    </a:p>
                  </a:txBody>
                  <a:tcPr marL="0" marR="0" marT="0" marB="0" anchor="ctr"/>
                </a:tc>
                <a:tc>
                  <a:txBody>
                    <a:bodyPr/>
                    <a:lstStyle/>
                    <a:p>
                      <a:pPr marL="127000" indent="0"/>
                      <a:r>
                        <a:rPr lang="vi" sz="1200">
                          <a:latin typeface="Times New Roman"/>
                        </a:rPr>
                        <a:t>(1, 2)</a:t>
                      </a:r>
                    </a:p>
                  </a:txBody>
                  <a:tcPr marL="0" marR="0" marT="0" marB="0" anchor="ctr"/>
                </a:tc>
                <a:tc>
                  <a:txBody>
                    <a:bodyPr/>
                    <a:lstStyle/>
                    <a:p>
                      <a:pPr marL="127000" indent="0"/>
                      <a:r>
                        <a:rPr lang="vi" sz="1200">
                          <a:latin typeface="Times New Roman"/>
                        </a:rPr>
                        <a:t>7.49</a:t>
                      </a:r>
                    </a:p>
                  </a:txBody>
                  <a:tcPr marL="0" marR="0" marT="0" marB="0" anchor="ctr"/>
                </a:tc>
                <a:tc>
                  <a:txBody>
                    <a:bodyPr/>
                    <a:lstStyle/>
                    <a:p>
                      <a:pPr marL="127000" indent="0"/>
                      <a:r>
                        <a:rPr lang="vi" sz="1200" b="1">
                          <a:latin typeface="Times New Roman"/>
                        </a:rPr>
                        <a:t>1.58</a:t>
                      </a:r>
                    </a:p>
                  </a:txBody>
                  <a:tcPr marL="0" marR="0" marT="0" marB="0" anchor="ctr"/>
                </a:tc>
                <a:tc>
                  <a:txBody>
                    <a:bodyPr/>
                    <a:lstStyle/>
                    <a:p>
                      <a:pPr marL="127000" indent="0"/>
                      <a:r>
                        <a:rPr lang="vi" sz="1200">
                          <a:latin typeface="Times New Roman"/>
                        </a:rPr>
                        <a:t>6.44</a:t>
                      </a:r>
                    </a:p>
                  </a:txBody>
                  <a:tcPr marL="0" marR="0" marT="0" marB="0" anchor="ctr"/>
                </a:tc>
                <a:tc>
                  <a:txBody>
                    <a:bodyPr/>
                    <a:lstStyle/>
                    <a:p>
                      <a:pPr marL="127000" indent="0"/>
                      <a:r>
                        <a:rPr lang="vi" sz="1200" b="1">
                          <a:latin typeface="Times New Roman"/>
                        </a:rPr>
                        <a:t>2</a:t>
                      </a:r>
                    </a:p>
                  </a:txBody>
                  <a:tcPr marL="0" marR="0" marT="0" marB="0" anchor="ctr"/>
                </a:tc>
                <a:extLst>
                  <a:ext uri="{0D108BD9-81ED-4DB2-BD59-A6C34878D82A}">
                    <a16:rowId xmlns:a16="http://schemas.microsoft.com/office/drawing/2014/main" val="10004"/>
                  </a:ext>
                </a:extLst>
              </a:tr>
              <a:tr h="381000">
                <a:tc>
                  <a:txBody>
                    <a:bodyPr/>
                    <a:lstStyle/>
                    <a:p>
                      <a:pPr marL="114300" indent="0"/>
                      <a:r>
                        <a:rPr lang="vi" sz="1200">
                          <a:latin typeface="Times New Roman"/>
                        </a:rPr>
                        <a:t>A8</a:t>
                      </a:r>
                    </a:p>
                  </a:txBody>
                  <a:tcPr marL="0" marR="0" marT="0" marB="0" anchor="b"/>
                </a:tc>
                <a:tc>
                  <a:txBody>
                    <a:bodyPr/>
                    <a:lstStyle/>
                    <a:p>
                      <a:pPr marL="127000" indent="0"/>
                      <a:r>
                        <a:rPr lang="vi" sz="1200">
                          <a:latin typeface="Times New Roman"/>
                        </a:rPr>
                        <a:t>(4, 9)</a:t>
                      </a:r>
                    </a:p>
                  </a:txBody>
                  <a:tcPr marL="0" marR="0" marT="0" marB="0" anchor="b"/>
                </a:tc>
                <a:tc>
                  <a:txBody>
                    <a:bodyPr/>
                    <a:lstStyle/>
                    <a:p>
                      <a:pPr marL="127000" indent="0"/>
                      <a:r>
                        <a:rPr lang="vi" sz="1200" b="1">
                          <a:latin typeface="Times New Roman"/>
                        </a:rPr>
                        <a:t>0.33</a:t>
                      </a:r>
                    </a:p>
                  </a:txBody>
                  <a:tcPr marL="0" marR="0" marT="0" marB="0" anchor="b"/>
                </a:tc>
                <a:tc>
                  <a:txBody>
                    <a:bodyPr/>
                    <a:lstStyle/>
                    <a:p>
                      <a:pPr marL="127000" indent="0"/>
                      <a:r>
                        <a:rPr lang="vi" sz="1200">
                          <a:latin typeface="Times New Roman"/>
                        </a:rPr>
                        <a:t>6.04</a:t>
                      </a:r>
                    </a:p>
                  </a:txBody>
                  <a:tcPr marL="0" marR="0" marT="0" marB="0" anchor="b"/>
                </a:tc>
                <a:tc>
                  <a:txBody>
                    <a:bodyPr/>
                    <a:lstStyle/>
                    <a:p>
                      <a:pPr marL="127000" indent="0"/>
                      <a:r>
                        <a:rPr lang="vi" sz="1200">
                          <a:latin typeface="Times New Roman"/>
                        </a:rPr>
                        <a:t>5.54</a:t>
                      </a:r>
                    </a:p>
                  </a:txBody>
                  <a:tcPr marL="0" marR="0" marT="0" marB="0" anchor="b"/>
                </a:tc>
                <a:tc>
                  <a:txBody>
                    <a:bodyPr/>
                    <a:lstStyle/>
                    <a:p>
                      <a:pPr marL="127000" indent="0"/>
                      <a:r>
                        <a:rPr lang="vi" sz="1200" b="1">
                          <a:latin typeface="Times New Roman"/>
                        </a:rPr>
                        <a:t>1</a:t>
                      </a:r>
                    </a:p>
                  </a:txBody>
                  <a:tcPr marL="0" marR="0" marT="0" marB="0" anchor="b"/>
                </a:tc>
                <a:extLst>
                  <a:ext uri="{0D108BD9-81ED-4DB2-BD59-A6C34878D82A}">
                    <a16:rowId xmlns:a16="http://schemas.microsoft.com/office/drawing/2014/main" val="10005"/>
                  </a:ext>
                </a:extLst>
              </a:tr>
            </a:tbl>
          </a:graphicData>
        </a:graphic>
      </p:graphicFrame>
      <p:sp>
        <p:nvSpPr>
          <p:cNvPr id="3" name="Rectangle 2"/>
          <p:cNvSpPr/>
          <p:nvPr/>
        </p:nvSpPr>
        <p:spPr>
          <a:xfrm>
            <a:off x="1066800" y="3983736"/>
            <a:ext cx="5995416" cy="4126992"/>
          </a:xfrm>
          <a:prstGeom prst="rect">
            <a:avLst/>
          </a:prstGeom>
        </p:spPr>
        <p:txBody>
          <a:bodyPr lIns="0" tIns="0" rIns="0" bIns="0">
            <a:noAutofit/>
          </a:bodyPr>
          <a:lstStyle/>
          <a:p>
            <a:pPr indent="0" algn="just">
              <a:lnSpc>
                <a:spcPts val="2232"/>
              </a:lnSpc>
              <a:spcBef>
                <a:spcPts val="1470"/>
              </a:spcBef>
            </a:pPr>
            <a:r>
              <a:rPr lang="vi" sz="1200" b="1">
                <a:latin typeface="Times New Roman"/>
              </a:rPr>
              <a:t>Nhận xét:</a:t>
            </a:r>
          </a:p>
          <a:p>
            <a:pPr indent="0" algn="just">
              <a:lnSpc>
                <a:spcPts val="2232"/>
              </a:lnSpc>
            </a:pPr>
            <a:r>
              <a:rPr lang="vi" sz="1200">
                <a:latin typeface="Times New Roman"/>
              </a:rPr>
              <a:t>So sánh cột "Cụm Mới" ở Lần lặp 2 với "Gán vào Cụm" ở Lần lặp 1, ta thấy </a:t>
            </a:r>
            <a:r>
              <a:rPr lang="vi" sz="1200" b="1">
                <a:latin typeface="Times New Roman"/>
              </a:rPr>
              <a:t>không có điểm nào thay đổi nhóm</a:t>
            </a:r>
            <a:r>
              <a:rPr lang="vi" sz="1200">
                <a:latin typeface="Times New Roman"/>
              </a:rPr>
              <a:t>.</a:t>
            </a:r>
          </a:p>
          <a:p>
            <a:pPr indent="0" algn="just">
              <a:lnSpc>
                <a:spcPts val="2232"/>
              </a:lnSpc>
            </a:pPr>
            <a:r>
              <a:rPr lang="vi" sz="1200">
                <a:latin typeface="Times New Roman"/>
              </a:rPr>
              <a:t>Do đó, thuật toán </a:t>
            </a:r>
            <a:r>
              <a:rPr lang="vi" sz="1200" b="1">
                <a:latin typeface="Times New Roman"/>
              </a:rPr>
              <a:t>hội tụ </a:t>
            </a:r>
            <a:r>
              <a:rPr lang="en-US" sz="1200" b="1">
                <a:latin typeface="Times New Roman"/>
              </a:rPr>
              <a:t>(converged) </a:t>
            </a:r>
            <a:r>
              <a:rPr lang="vi" sz="1200">
                <a:latin typeface="Times New Roman"/>
              </a:rPr>
              <a:t>và dừng lại tại đây.</a:t>
            </a:r>
          </a:p>
          <a:p>
            <a:pPr indent="0" algn="just">
              <a:lnSpc>
                <a:spcPts val="2232"/>
              </a:lnSpc>
            </a:pPr>
            <a:r>
              <a:rPr lang="vi" sz="1200" b="1">
                <a:latin typeface="Times New Roman"/>
              </a:rPr>
              <a:t>4. Kết luận</a:t>
            </a:r>
          </a:p>
          <a:p>
            <a:pPr indent="0" algn="just">
              <a:lnSpc>
                <a:spcPts val="2232"/>
              </a:lnSpc>
            </a:pPr>
            <a:r>
              <a:rPr lang="vi" sz="1200">
                <a:latin typeface="Times New Roman"/>
              </a:rPr>
              <a:t>Kết quả phân cụm cuối cùng cho bài toán:</a:t>
            </a:r>
          </a:p>
          <a:p>
            <a:pPr marL="254000" indent="0">
              <a:lnSpc>
                <a:spcPts val="2232"/>
              </a:lnSpc>
            </a:pPr>
            <a:r>
              <a:rPr lang="vi" sz="1200" b="1">
                <a:latin typeface="Times New Roman"/>
              </a:rPr>
              <a:t>. </a:t>
            </a:r>
            <a:r>
              <a:rPr lang="en-US" sz="1200" b="1">
                <a:latin typeface="Times New Roman"/>
              </a:rPr>
              <a:t>Cluster </a:t>
            </a:r>
            <a:r>
              <a:rPr lang="vi" sz="1200" b="1">
                <a:latin typeface="Times New Roman"/>
              </a:rPr>
              <a:t>1: A1 (2,10), A4 (5,8), A8 (4,9)</a:t>
            </a:r>
          </a:p>
          <a:p>
            <a:pPr marL="254000" indent="0">
              <a:lnSpc>
                <a:spcPts val="2232"/>
              </a:lnSpc>
            </a:pPr>
            <a:r>
              <a:rPr lang="vi" sz="1200" b="1">
                <a:latin typeface="Times New Roman"/>
              </a:rPr>
              <a:t>. </a:t>
            </a:r>
            <a:r>
              <a:rPr lang="en-US" sz="1200" b="1">
                <a:latin typeface="Times New Roman"/>
              </a:rPr>
              <a:t>Cluster </a:t>
            </a:r>
            <a:r>
              <a:rPr lang="vi" sz="1200" b="1">
                <a:latin typeface="Times New Roman"/>
              </a:rPr>
              <a:t>2: A2 (2,5), A7 (1,2)</a:t>
            </a:r>
          </a:p>
          <a:p>
            <a:pPr marL="254000" indent="0">
              <a:lnSpc>
                <a:spcPts val="2232"/>
              </a:lnSpc>
              <a:spcAft>
                <a:spcPts val="1470"/>
              </a:spcAft>
            </a:pPr>
            <a:r>
              <a:rPr lang="vi" sz="1200" b="1">
                <a:latin typeface="Times New Roman"/>
              </a:rPr>
              <a:t>. </a:t>
            </a:r>
            <a:r>
              <a:rPr lang="en-US" sz="1200" b="1">
                <a:latin typeface="Times New Roman"/>
              </a:rPr>
              <a:t>Cluster </a:t>
            </a:r>
            <a:r>
              <a:rPr lang="vi" sz="1200" b="1">
                <a:latin typeface="Times New Roman"/>
              </a:rPr>
              <a:t>3: A3 (8,4), A5 (7,5), A6 (6,4)</a:t>
            </a:r>
          </a:p>
          <a:p>
            <a:pPr indent="0" algn="just">
              <a:spcAft>
                <a:spcPts val="1050"/>
              </a:spcAft>
            </a:pPr>
            <a:r>
              <a:rPr lang="en-US" sz="1500">
                <a:solidFill>
                  <a:srgbClr val="2980B9"/>
                </a:solidFill>
                <a:latin typeface="Times New Roman"/>
              </a:rPr>
              <a:t>Ex </a:t>
            </a:r>
            <a:r>
              <a:rPr lang="vi" sz="1500">
                <a:solidFill>
                  <a:srgbClr val="2980B9"/>
                </a:solidFill>
                <a:latin typeface="Times New Roman"/>
              </a:rPr>
              <a:t>9: </a:t>
            </a:r>
            <a:r>
              <a:rPr lang="en-US" sz="1500">
                <a:solidFill>
                  <a:srgbClr val="2980B9"/>
                </a:solidFill>
                <a:latin typeface="Times New Roman"/>
              </a:rPr>
              <a:t>Association rules</a:t>
            </a:r>
          </a:p>
          <a:p>
            <a:pPr indent="0" algn="just">
              <a:spcAft>
                <a:spcPts val="630"/>
              </a:spcAft>
            </a:pPr>
            <a:r>
              <a:rPr lang="en-US" sz="1200" b="1">
                <a:latin typeface="Times New Roman"/>
              </a:rPr>
              <a:t>1. </a:t>
            </a:r>
            <a:r>
              <a:rPr lang="vi" sz="1200" b="1">
                <a:latin typeface="Times New Roman"/>
              </a:rPr>
              <a:t>Dữ liệu đầu vào </a:t>
            </a:r>
            <a:r>
              <a:rPr lang="en-US" sz="1200" b="1">
                <a:latin typeface="Times New Roman"/>
              </a:rPr>
              <a:t>(Dataset)</a:t>
            </a:r>
          </a:p>
          <a:p>
            <a:pPr indent="0" algn="just">
              <a:spcAft>
                <a:spcPts val="1470"/>
              </a:spcAft>
            </a:pPr>
            <a:r>
              <a:rPr lang="vi" sz="1200">
                <a:latin typeface="Times New Roman"/>
              </a:rPr>
              <a:t>Tổng số giao dịch </a:t>
            </a:r>
            <a:r>
              <a:rPr lang="en-US" sz="1200">
                <a:latin typeface="Times New Roman"/>
              </a:rPr>
              <a:t>(Transactions </a:t>
            </a:r>
            <a:r>
              <a:rPr lang="vi" sz="1200">
                <a:latin typeface="Times New Roman"/>
              </a:rPr>
              <a:t>- </a:t>
            </a:r>
            <a:r>
              <a:rPr lang="en-US" sz="1200">
                <a:latin typeface="Times New Roman"/>
              </a:rPr>
              <a:t>N): </a:t>
            </a:r>
            <a:r>
              <a:rPr lang="vi" sz="1200" b="1">
                <a:latin typeface="Times New Roman"/>
              </a:rPr>
              <a:t>10</a:t>
            </a:r>
          </a:p>
          <a:p>
            <a:pPr marL="139700" indent="0" algn="just"/>
            <a:r>
              <a:rPr lang="vi" sz="1200" b="1">
                <a:latin typeface="Times New Roman"/>
              </a:rPr>
              <a:t>STT    </a:t>
            </a:r>
            <a:r>
              <a:rPr lang="en-US" sz="1200" b="1">
                <a:latin typeface="Times New Roman"/>
              </a:rPr>
              <a:t>Transaction ID    Items Bought </a:t>
            </a:r>
            <a:r>
              <a:rPr lang="vi" sz="1200" b="1">
                <a:latin typeface="Times New Roman"/>
              </a:rPr>
              <a:t>(Giỏ hàng)</a:t>
            </a:r>
          </a:p>
        </p:txBody>
      </p:sp>
      <p:sp>
        <p:nvSpPr>
          <p:cNvPr id="4" name="Rectangle 3"/>
          <p:cNvSpPr/>
          <p:nvPr/>
        </p:nvSpPr>
        <p:spPr>
          <a:xfrm>
            <a:off x="1203960" y="8446008"/>
            <a:ext cx="82296" cy="146304"/>
          </a:xfrm>
          <a:prstGeom prst="rect">
            <a:avLst/>
          </a:prstGeom>
        </p:spPr>
        <p:txBody>
          <a:bodyPr wrap="none" lIns="0" tIns="0" rIns="0" bIns="0">
            <a:noAutofit/>
          </a:bodyPr>
          <a:lstStyle/>
          <a:p>
            <a:pPr indent="0"/>
            <a:r>
              <a:rPr lang="vi" sz="1200">
                <a:latin typeface="Times New Roman"/>
              </a:rPr>
              <a:t>1</a:t>
            </a:r>
          </a:p>
        </p:txBody>
      </p:sp>
      <p:sp>
        <p:nvSpPr>
          <p:cNvPr id="5" name="Rectangle 4"/>
          <p:cNvSpPr/>
          <p:nvPr/>
        </p:nvSpPr>
        <p:spPr>
          <a:xfrm>
            <a:off x="2029968" y="8446008"/>
            <a:ext cx="344424" cy="146304"/>
          </a:xfrm>
          <a:prstGeom prst="rect">
            <a:avLst/>
          </a:prstGeom>
        </p:spPr>
        <p:txBody>
          <a:bodyPr wrap="none" lIns="0" tIns="0" rIns="0" bIns="0">
            <a:noAutofit/>
          </a:bodyPr>
          <a:lstStyle/>
          <a:p>
            <a:pPr indent="0"/>
            <a:r>
              <a:rPr lang="vi" sz="1200">
                <a:latin typeface="Times New Roman"/>
              </a:rPr>
              <a:t>0001</a:t>
            </a:r>
          </a:p>
        </p:txBody>
      </p:sp>
      <p:sp>
        <p:nvSpPr>
          <p:cNvPr id="6" name="Rectangle 5"/>
          <p:cNvSpPr/>
          <p:nvPr/>
        </p:nvSpPr>
        <p:spPr>
          <a:xfrm>
            <a:off x="4078224" y="8439912"/>
            <a:ext cx="557784" cy="188976"/>
          </a:xfrm>
          <a:prstGeom prst="rect">
            <a:avLst/>
          </a:prstGeom>
        </p:spPr>
        <p:txBody>
          <a:bodyPr wrap="none" lIns="0" tIns="0" rIns="0" bIns="0">
            <a:noAutofit/>
          </a:bodyPr>
          <a:lstStyle/>
          <a:p>
            <a:pPr indent="0"/>
            <a:r>
              <a:rPr lang="en-US" sz="1200" b="1">
                <a:latin typeface="Times New Roman"/>
              </a:rPr>
              <a:t>{a, </a:t>
            </a:r>
            <a:r>
              <a:rPr lang="vi" sz="1200" b="1">
                <a:latin typeface="Times New Roman"/>
              </a:rPr>
              <a:t>d, e}</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069848" y="731520"/>
          <a:ext cx="4925568" cy="5026152"/>
        </p:xfrm>
        <a:graphic>
          <a:graphicData uri="http://schemas.openxmlformats.org/drawingml/2006/table">
            <a:tbl>
              <a:tblPr/>
              <a:tblGrid>
                <a:gridCol w="856488">
                  <a:extLst>
                    <a:ext uri="{9D8B030D-6E8A-4147-A177-3AD203B41FA5}">
                      <a16:colId xmlns:a16="http://schemas.microsoft.com/office/drawing/2014/main" val="20000"/>
                    </a:ext>
                  </a:extLst>
                </a:gridCol>
                <a:gridCol w="1304544">
                  <a:extLst>
                    <a:ext uri="{9D8B030D-6E8A-4147-A177-3AD203B41FA5}">
                      <a16:colId xmlns:a16="http://schemas.microsoft.com/office/drawing/2014/main" val="20001"/>
                    </a:ext>
                  </a:extLst>
                </a:gridCol>
                <a:gridCol w="2764536">
                  <a:extLst>
                    <a:ext uri="{9D8B030D-6E8A-4147-A177-3AD203B41FA5}">
                      <a16:colId xmlns:a16="http://schemas.microsoft.com/office/drawing/2014/main" val="20002"/>
                    </a:ext>
                  </a:extLst>
                </a:gridCol>
              </a:tblGrid>
              <a:tr h="512064">
                <a:tc>
                  <a:txBody>
                    <a:bodyPr/>
                    <a:lstStyle/>
                    <a:p>
                      <a:pPr marL="139700" indent="0"/>
                      <a:r>
                        <a:rPr lang="vi" sz="1200" b="1">
                          <a:latin typeface="Times New Roman"/>
                        </a:rPr>
                        <a:t>STT</a:t>
                      </a:r>
                    </a:p>
                  </a:txBody>
                  <a:tcPr marL="0" marR="0" marT="0" marB="0" anchor="ctr"/>
                </a:tc>
                <a:tc>
                  <a:txBody>
                    <a:bodyPr/>
                    <a:lstStyle/>
                    <a:p>
                      <a:pPr marL="127000" indent="0"/>
                      <a:r>
                        <a:rPr lang="en-US" sz="1200" b="1">
                          <a:latin typeface="Times New Roman"/>
                        </a:rPr>
                        <a:t>Transaction ID</a:t>
                      </a:r>
                    </a:p>
                  </a:txBody>
                  <a:tcPr marL="0" marR="0" marT="0" marB="0" anchor="ctr"/>
                </a:tc>
                <a:tc>
                  <a:txBody>
                    <a:bodyPr/>
                    <a:lstStyle/>
                    <a:p>
                      <a:pPr marL="863600" indent="0"/>
                      <a:r>
                        <a:rPr lang="en-US" sz="1200" b="1">
                          <a:latin typeface="Times New Roman"/>
                        </a:rPr>
                        <a:t>Items Bought </a:t>
                      </a:r>
                      <a:r>
                        <a:rPr lang="vi" sz="1200" b="1">
                          <a:latin typeface="Times New Roman"/>
                        </a:rPr>
                        <a:t>(Giỏ hàng)</a:t>
                      </a:r>
                    </a:p>
                  </a:txBody>
                  <a:tcPr marL="0" marR="0" marT="0" marB="0" anchor="ctr"/>
                </a:tc>
                <a:extLst>
                  <a:ext uri="{0D108BD9-81ED-4DB2-BD59-A6C34878D82A}">
                    <a16:rowId xmlns:a16="http://schemas.microsoft.com/office/drawing/2014/main" val="10000"/>
                  </a:ext>
                </a:extLst>
              </a:tr>
              <a:tr h="493776">
                <a:tc>
                  <a:txBody>
                    <a:bodyPr/>
                    <a:lstStyle/>
                    <a:p>
                      <a:pPr marL="139700" indent="0"/>
                      <a:r>
                        <a:rPr lang="vi" sz="1200">
                          <a:latin typeface="Times New Roman"/>
                        </a:rPr>
                        <a:t>2</a:t>
                      </a:r>
                    </a:p>
                  </a:txBody>
                  <a:tcPr marL="0" marR="0" marT="0" marB="0" anchor="ctr"/>
                </a:tc>
                <a:tc>
                  <a:txBody>
                    <a:bodyPr/>
                    <a:lstStyle/>
                    <a:p>
                      <a:pPr marL="127000" indent="0"/>
                      <a:r>
                        <a:rPr lang="vi" sz="1200" b="1">
                          <a:latin typeface="Times New Roman"/>
                        </a:rPr>
                        <a:t>0024</a:t>
                      </a:r>
                    </a:p>
                  </a:txBody>
                  <a:tcPr marL="0" marR="0" marT="0" marB="0" anchor="ctr"/>
                </a:tc>
                <a:tc>
                  <a:txBody>
                    <a:bodyPr/>
                    <a:lstStyle/>
                    <a:p>
                      <a:pPr marL="863600" indent="0"/>
                      <a:r>
                        <a:rPr lang="vi" sz="1200" b="1">
                          <a:latin typeface="Times New Roman"/>
                        </a:rPr>
                        <a:t>{a, b, c, e}</a:t>
                      </a:r>
                    </a:p>
                  </a:txBody>
                  <a:tcPr marL="0" marR="0" marT="0" marB="0" anchor="ctr"/>
                </a:tc>
                <a:extLst>
                  <a:ext uri="{0D108BD9-81ED-4DB2-BD59-A6C34878D82A}">
                    <a16:rowId xmlns:a16="http://schemas.microsoft.com/office/drawing/2014/main" val="10001"/>
                  </a:ext>
                </a:extLst>
              </a:tr>
              <a:tr h="521208">
                <a:tc>
                  <a:txBody>
                    <a:bodyPr/>
                    <a:lstStyle/>
                    <a:p>
                      <a:pPr marL="139700" indent="0"/>
                      <a:r>
                        <a:rPr lang="vi" sz="1200" b="1">
                          <a:latin typeface="Times New Roman"/>
                        </a:rPr>
                        <a:t>3</a:t>
                      </a:r>
                    </a:p>
                  </a:txBody>
                  <a:tcPr marL="0" marR="0" marT="0" marB="0" anchor="ctr"/>
                </a:tc>
                <a:tc>
                  <a:txBody>
                    <a:bodyPr/>
                    <a:lstStyle/>
                    <a:p>
                      <a:pPr marL="127000" indent="0"/>
                      <a:r>
                        <a:rPr lang="vi" sz="1200">
                          <a:latin typeface="Times New Roman"/>
                        </a:rPr>
                        <a:t>0012</a:t>
                      </a:r>
                    </a:p>
                  </a:txBody>
                  <a:tcPr marL="0" marR="0" marT="0" marB="0" anchor="ctr"/>
                </a:tc>
                <a:tc>
                  <a:txBody>
                    <a:bodyPr/>
                    <a:lstStyle/>
                    <a:p>
                      <a:pPr marL="863600" indent="0"/>
                      <a:r>
                        <a:rPr lang="vi" sz="1200" b="1">
                          <a:latin typeface="Times New Roman"/>
                        </a:rPr>
                        <a:t>{a, b, d, e}</a:t>
                      </a:r>
                    </a:p>
                  </a:txBody>
                  <a:tcPr marL="0" marR="0" marT="0" marB="0" anchor="ctr"/>
                </a:tc>
                <a:extLst>
                  <a:ext uri="{0D108BD9-81ED-4DB2-BD59-A6C34878D82A}">
                    <a16:rowId xmlns:a16="http://schemas.microsoft.com/office/drawing/2014/main" val="10002"/>
                  </a:ext>
                </a:extLst>
              </a:tr>
              <a:tr h="524256">
                <a:tc>
                  <a:txBody>
                    <a:bodyPr/>
                    <a:lstStyle/>
                    <a:p>
                      <a:pPr marL="139700" indent="0"/>
                      <a:r>
                        <a:rPr lang="vi" sz="1200" b="1">
                          <a:latin typeface="Times New Roman"/>
                        </a:rPr>
                        <a:t>4</a:t>
                      </a:r>
                    </a:p>
                  </a:txBody>
                  <a:tcPr marL="0" marR="0" marT="0" marB="0" anchor="ctr"/>
                </a:tc>
                <a:tc>
                  <a:txBody>
                    <a:bodyPr/>
                    <a:lstStyle/>
                    <a:p>
                      <a:pPr marL="127000" indent="0"/>
                      <a:r>
                        <a:rPr lang="vi" sz="1200" b="1">
                          <a:latin typeface="Times New Roman"/>
                        </a:rPr>
                        <a:t>0031</a:t>
                      </a:r>
                    </a:p>
                  </a:txBody>
                  <a:tcPr marL="0" marR="0" marT="0" marB="0" anchor="ctr"/>
                </a:tc>
                <a:tc>
                  <a:txBody>
                    <a:bodyPr/>
                    <a:lstStyle/>
                    <a:p>
                      <a:pPr marL="863600" indent="0"/>
                      <a:r>
                        <a:rPr lang="vi" sz="1200" b="1">
                          <a:latin typeface="Times New Roman"/>
                        </a:rPr>
                        <a:t>{a, c, d, e}</a:t>
                      </a:r>
                    </a:p>
                  </a:txBody>
                  <a:tcPr marL="0" marR="0" marT="0" marB="0" anchor="ctr"/>
                </a:tc>
                <a:extLst>
                  <a:ext uri="{0D108BD9-81ED-4DB2-BD59-A6C34878D82A}">
                    <a16:rowId xmlns:a16="http://schemas.microsoft.com/office/drawing/2014/main" val="10003"/>
                  </a:ext>
                </a:extLst>
              </a:tr>
              <a:tr h="521208">
                <a:tc>
                  <a:txBody>
                    <a:bodyPr/>
                    <a:lstStyle/>
                    <a:p>
                      <a:pPr marL="139700" indent="0"/>
                      <a:r>
                        <a:rPr lang="vi" sz="1200" b="1">
                          <a:latin typeface="Times New Roman"/>
                        </a:rPr>
                        <a:t>5</a:t>
                      </a:r>
                    </a:p>
                  </a:txBody>
                  <a:tcPr marL="0" marR="0" marT="0" marB="0" anchor="ctr"/>
                </a:tc>
                <a:tc>
                  <a:txBody>
                    <a:bodyPr/>
                    <a:lstStyle/>
                    <a:p>
                      <a:pPr marL="127000" indent="0"/>
                      <a:r>
                        <a:rPr lang="vi" sz="1200" b="1">
                          <a:latin typeface="Times New Roman"/>
                        </a:rPr>
                        <a:t>0015</a:t>
                      </a:r>
                    </a:p>
                  </a:txBody>
                  <a:tcPr marL="0" marR="0" marT="0" marB="0" anchor="ctr"/>
                </a:tc>
                <a:tc>
                  <a:txBody>
                    <a:bodyPr/>
                    <a:lstStyle/>
                    <a:p>
                      <a:pPr marL="863600" indent="0"/>
                      <a:r>
                        <a:rPr lang="vi" sz="1200" b="1">
                          <a:latin typeface="Times New Roman"/>
                        </a:rPr>
                        <a:t>{b, c, e}</a:t>
                      </a:r>
                    </a:p>
                  </a:txBody>
                  <a:tcPr marL="0" marR="0" marT="0" marB="0" anchor="ctr"/>
                </a:tc>
                <a:extLst>
                  <a:ext uri="{0D108BD9-81ED-4DB2-BD59-A6C34878D82A}">
                    <a16:rowId xmlns:a16="http://schemas.microsoft.com/office/drawing/2014/main" val="10004"/>
                  </a:ext>
                </a:extLst>
              </a:tr>
              <a:tr h="524256">
                <a:tc>
                  <a:txBody>
                    <a:bodyPr/>
                    <a:lstStyle/>
                    <a:p>
                      <a:pPr marL="139700" indent="0"/>
                      <a:r>
                        <a:rPr lang="vi" sz="1200">
                          <a:latin typeface="Times New Roman"/>
                        </a:rPr>
                        <a:t>6</a:t>
                      </a:r>
                    </a:p>
                  </a:txBody>
                  <a:tcPr marL="0" marR="0" marT="0" marB="0" anchor="ctr"/>
                </a:tc>
                <a:tc>
                  <a:txBody>
                    <a:bodyPr/>
                    <a:lstStyle/>
                    <a:p>
                      <a:pPr marL="127000" indent="0"/>
                      <a:r>
                        <a:rPr lang="vi" sz="1200">
                          <a:latin typeface="Times New Roman"/>
                        </a:rPr>
                        <a:t>0022</a:t>
                      </a:r>
                    </a:p>
                  </a:txBody>
                  <a:tcPr marL="0" marR="0" marT="0" marB="0" anchor="ctr"/>
                </a:tc>
                <a:tc>
                  <a:txBody>
                    <a:bodyPr/>
                    <a:lstStyle/>
                    <a:p>
                      <a:pPr marL="863600" indent="0"/>
                      <a:r>
                        <a:rPr lang="vi" sz="1200" b="1">
                          <a:latin typeface="Times New Roman"/>
                        </a:rPr>
                        <a:t>{b, d, e}</a:t>
                      </a:r>
                    </a:p>
                  </a:txBody>
                  <a:tcPr marL="0" marR="0" marT="0" marB="0" anchor="ctr"/>
                </a:tc>
                <a:extLst>
                  <a:ext uri="{0D108BD9-81ED-4DB2-BD59-A6C34878D82A}">
                    <a16:rowId xmlns:a16="http://schemas.microsoft.com/office/drawing/2014/main" val="10005"/>
                  </a:ext>
                </a:extLst>
              </a:tr>
              <a:tr h="524256">
                <a:tc>
                  <a:txBody>
                    <a:bodyPr/>
                    <a:lstStyle/>
                    <a:p>
                      <a:pPr marL="139700" indent="0"/>
                      <a:r>
                        <a:rPr lang="vi" sz="1200" b="1">
                          <a:latin typeface="Times New Roman"/>
                        </a:rPr>
                        <a:t>7</a:t>
                      </a:r>
                    </a:p>
                  </a:txBody>
                  <a:tcPr marL="0" marR="0" marT="0" marB="0" anchor="ctr"/>
                </a:tc>
                <a:tc>
                  <a:txBody>
                    <a:bodyPr/>
                    <a:lstStyle/>
                    <a:p>
                      <a:pPr marL="127000" indent="0"/>
                      <a:r>
                        <a:rPr lang="vi" sz="1200" b="1">
                          <a:latin typeface="Times New Roman"/>
                        </a:rPr>
                        <a:t>0029</a:t>
                      </a:r>
                    </a:p>
                  </a:txBody>
                  <a:tcPr marL="0" marR="0" marT="0" marB="0" anchor="ctr"/>
                </a:tc>
                <a:tc>
                  <a:txBody>
                    <a:bodyPr/>
                    <a:lstStyle/>
                    <a:p>
                      <a:pPr marL="863600" indent="0"/>
                      <a:r>
                        <a:rPr lang="vi" sz="1200" b="1">
                          <a:latin typeface="Times New Roman"/>
                        </a:rPr>
                        <a:t>{c, d}</a:t>
                      </a:r>
                    </a:p>
                  </a:txBody>
                  <a:tcPr marL="0" marR="0" marT="0" marB="0" anchor="ctr"/>
                </a:tc>
                <a:extLst>
                  <a:ext uri="{0D108BD9-81ED-4DB2-BD59-A6C34878D82A}">
                    <a16:rowId xmlns:a16="http://schemas.microsoft.com/office/drawing/2014/main" val="10006"/>
                  </a:ext>
                </a:extLst>
              </a:tr>
              <a:tr h="521208">
                <a:tc>
                  <a:txBody>
                    <a:bodyPr/>
                    <a:lstStyle/>
                    <a:p>
                      <a:pPr marL="139700" indent="0"/>
                      <a:r>
                        <a:rPr lang="vi" sz="1200">
                          <a:latin typeface="Times New Roman"/>
                        </a:rPr>
                        <a:t>8</a:t>
                      </a:r>
                    </a:p>
                  </a:txBody>
                  <a:tcPr marL="0" marR="0" marT="0" marB="0" anchor="ctr"/>
                </a:tc>
                <a:tc>
                  <a:txBody>
                    <a:bodyPr/>
                    <a:lstStyle/>
                    <a:p>
                      <a:pPr marL="127000" indent="0"/>
                      <a:r>
                        <a:rPr lang="vi" sz="1200" b="1">
                          <a:latin typeface="Times New Roman"/>
                        </a:rPr>
                        <a:t>0040</a:t>
                      </a:r>
                    </a:p>
                  </a:txBody>
                  <a:tcPr marL="0" marR="0" marT="0" marB="0" anchor="ctr"/>
                </a:tc>
                <a:tc>
                  <a:txBody>
                    <a:bodyPr/>
                    <a:lstStyle/>
                    <a:p>
                      <a:pPr marL="863600" indent="0"/>
                      <a:r>
                        <a:rPr lang="vi" sz="1200" b="1">
                          <a:latin typeface="Times New Roman"/>
                        </a:rPr>
                        <a:t>{a, b, c}</a:t>
                      </a:r>
                    </a:p>
                  </a:txBody>
                  <a:tcPr marL="0" marR="0" marT="0" marB="0" anchor="ctr"/>
                </a:tc>
                <a:extLst>
                  <a:ext uri="{0D108BD9-81ED-4DB2-BD59-A6C34878D82A}">
                    <a16:rowId xmlns:a16="http://schemas.microsoft.com/office/drawing/2014/main" val="10007"/>
                  </a:ext>
                </a:extLst>
              </a:tr>
              <a:tr h="524256">
                <a:tc>
                  <a:txBody>
                    <a:bodyPr/>
                    <a:lstStyle/>
                    <a:p>
                      <a:pPr marL="139700" indent="0"/>
                      <a:r>
                        <a:rPr lang="vi" sz="1200" b="1">
                          <a:latin typeface="Times New Roman"/>
                        </a:rPr>
                        <a:t>9</a:t>
                      </a:r>
                    </a:p>
                  </a:txBody>
                  <a:tcPr marL="0" marR="0" marT="0" marB="0" anchor="ctr"/>
                </a:tc>
                <a:tc>
                  <a:txBody>
                    <a:bodyPr/>
                    <a:lstStyle/>
                    <a:p>
                      <a:pPr marL="127000" indent="0"/>
                      <a:r>
                        <a:rPr lang="vi" sz="1200" b="1">
                          <a:latin typeface="Times New Roman"/>
                        </a:rPr>
                        <a:t>0033</a:t>
                      </a:r>
                    </a:p>
                  </a:txBody>
                  <a:tcPr marL="0" marR="0" marT="0" marB="0" anchor="ctr"/>
                </a:tc>
                <a:tc>
                  <a:txBody>
                    <a:bodyPr/>
                    <a:lstStyle/>
                    <a:p>
                      <a:pPr marL="863600" indent="0"/>
                      <a:r>
                        <a:rPr lang="vi" sz="1200" b="1">
                          <a:latin typeface="Times New Roman"/>
                        </a:rPr>
                        <a:t>{a, d, e}</a:t>
                      </a:r>
                    </a:p>
                  </a:txBody>
                  <a:tcPr marL="0" marR="0" marT="0" marB="0" anchor="ctr"/>
                </a:tc>
                <a:extLst>
                  <a:ext uri="{0D108BD9-81ED-4DB2-BD59-A6C34878D82A}">
                    <a16:rowId xmlns:a16="http://schemas.microsoft.com/office/drawing/2014/main" val="10008"/>
                  </a:ext>
                </a:extLst>
              </a:tr>
              <a:tr h="359664">
                <a:tc>
                  <a:txBody>
                    <a:bodyPr/>
                    <a:lstStyle/>
                    <a:p>
                      <a:pPr marL="139700" indent="0"/>
                      <a:r>
                        <a:rPr lang="vi" sz="1200">
                          <a:latin typeface="Times New Roman"/>
                        </a:rPr>
                        <a:t>10</a:t>
                      </a:r>
                    </a:p>
                  </a:txBody>
                  <a:tcPr marL="0" marR="0" marT="0" marB="0" anchor="b"/>
                </a:tc>
                <a:tc>
                  <a:txBody>
                    <a:bodyPr/>
                    <a:lstStyle/>
                    <a:p>
                      <a:pPr marL="127000" indent="0"/>
                      <a:r>
                        <a:rPr lang="vi" sz="1200" b="1">
                          <a:latin typeface="Times New Roman"/>
                        </a:rPr>
                        <a:t>0038</a:t>
                      </a:r>
                    </a:p>
                  </a:txBody>
                  <a:tcPr marL="0" marR="0" marT="0" marB="0" anchor="b"/>
                </a:tc>
                <a:tc>
                  <a:txBody>
                    <a:bodyPr/>
                    <a:lstStyle/>
                    <a:p>
                      <a:pPr marL="863600" indent="0"/>
                      <a:r>
                        <a:rPr lang="vi" sz="1200" b="1">
                          <a:latin typeface="Times New Roman"/>
                        </a:rPr>
                        <a:t>{a, b, e}</a:t>
                      </a:r>
                    </a:p>
                  </a:txBody>
                  <a:tcPr marL="0" marR="0" marT="0" marB="0" anchor="b"/>
                </a:tc>
                <a:extLst>
                  <a:ext uri="{0D108BD9-81ED-4DB2-BD59-A6C34878D82A}">
                    <a16:rowId xmlns:a16="http://schemas.microsoft.com/office/drawing/2014/main" val="10009"/>
                  </a:ext>
                </a:extLst>
              </a:tr>
            </a:tbl>
          </a:graphicData>
        </a:graphic>
      </p:graphicFrame>
      <p:sp>
        <p:nvSpPr>
          <p:cNvPr id="3" name="Rectangle 2"/>
          <p:cNvSpPr/>
          <p:nvPr/>
        </p:nvSpPr>
        <p:spPr>
          <a:xfrm>
            <a:off x="1085088" y="5971032"/>
            <a:ext cx="2426208" cy="179832"/>
          </a:xfrm>
          <a:prstGeom prst="rect">
            <a:avLst/>
          </a:prstGeom>
        </p:spPr>
        <p:txBody>
          <a:bodyPr wrap="none" lIns="0" tIns="0" rIns="0" bIns="0">
            <a:noAutofit/>
          </a:bodyPr>
          <a:lstStyle/>
          <a:p>
            <a:pPr indent="0" algn="just">
              <a:lnSpc>
                <a:spcPts val="2232"/>
              </a:lnSpc>
            </a:pPr>
            <a:r>
              <a:rPr lang="en-US" sz="1200" b="1">
                <a:latin typeface="Times New Roman"/>
              </a:rPr>
              <a:t>2. </a:t>
            </a:r>
            <a:r>
              <a:rPr lang="vi" sz="1200" b="1">
                <a:latin typeface="Times New Roman"/>
              </a:rPr>
              <a:t>Câu a: Tính độ hỗ trợ </a:t>
            </a:r>
            <a:r>
              <a:rPr lang="en-US" sz="1200" b="1">
                <a:latin typeface="Times New Roman"/>
              </a:rPr>
              <a:t>(Support)</a:t>
            </a:r>
          </a:p>
        </p:txBody>
      </p:sp>
      <p:sp>
        <p:nvSpPr>
          <p:cNvPr id="4" name="Rectangle 3"/>
          <p:cNvSpPr/>
          <p:nvPr/>
        </p:nvSpPr>
        <p:spPr>
          <a:xfrm>
            <a:off x="1088136" y="6248400"/>
            <a:ext cx="5160264" cy="182880"/>
          </a:xfrm>
          <a:prstGeom prst="rect">
            <a:avLst/>
          </a:prstGeom>
        </p:spPr>
        <p:txBody>
          <a:bodyPr wrap="none" lIns="0" tIns="0" rIns="0" bIns="0">
            <a:noAutofit/>
          </a:bodyPr>
          <a:lstStyle/>
          <a:p>
            <a:pPr indent="0" algn="just">
              <a:lnSpc>
                <a:spcPts val="2232"/>
              </a:lnSpc>
            </a:pPr>
            <a:r>
              <a:rPr lang="vi" sz="1200" b="1">
                <a:latin typeface="Times New Roman"/>
              </a:rPr>
              <a:t>Công thức: Support(X) = (Số lượng giao dịch chứa X) / (Tổng số giao dịch N)</a:t>
            </a:r>
          </a:p>
        </p:txBody>
      </p:sp>
      <p:sp>
        <p:nvSpPr>
          <p:cNvPr id="5" name="Rectangle 4"/>
          <p:cNvSpPr/>
          <p:nvPr/>
        </p:nvSpPr>
        <p:spPr>
          <a:xfrm>
            <a:off x="1085088" y="6565392"/>
            <a:ext cx="1938528" cy="152400"/>
          </a:xfrm>
          <a:prstGeom prst="rect">
            <a:avLst/>
          </a:prstGeom>
        </p:spPr>
        <p:txBody>
          <a:bodyPr wrap="none" lIns="0" tIns="0" rIns="0" bIns="0">
            <a:noAutofit/>
          </a:bodyPr>
          <a:lstStyle/>
          <a:p>
            <a:pPr indent="0" algn="just">
              <a:lnSpc>
                <a:spcPts val="2232"/>
              </a:lnSpc>
            </a:pPr>
            <a:r>
              <a:rPr lang="vi" sz="1200" b="1">
                <a:latin typeface="Times New Roman"/>
              </a:rPr>
              <a:t>2.1.    Tính </a:t>
            </a:r>
            <a:r>
              <a:rPr lang="en-US" sz="1200" b="1">
                <a:latin typeface="Times New Roman"/>
              </a:rPr>
              <a:t>Support </a:t>
            </a:r>
            <a:r>
              <a:rPr lang="vi" sz="1200" b="1">
                <a:latin typeface="Times New Roman"/>
              </a:rPr>
              <a:t>cho tập {e}</a:t>
            </a:r>
          </a:p>
        </p:txBody>
      </p:sp>
      <p:sp>
        <p:nvSpPr>
          <p:cNvPr id="6" name="Rectangle 5"/>
          <p:cNvSpPr/>
          <p:nvPr/>
        </p:nvSpPr>
        <p:spPr>
          <a:xfrm>
            <a:off x="1316736" y="6818376"/>
            <a:ext cx="2731008" cy="182880"/>
          </a:xfrm>
          <a:prstGeom prst="rect">
            <a:avLst/>
          </a:prstGeom>
        </p:spPr>
        <p:txBody>
          <a:bodyPr wrap="none" lIns="0" tIns="0" rIns="0" bIns="0">
            <a:noAutofit/>
          </a:bodyPr>
          <a:lstStyle/>
          <a:p>
            <a:pPr indent="0" algn="just">
              <a:lnSpc>
                <a:spcPts val="2232"/>
              </a:lnSpc>
            </a:pPr>
            <a:r>
              <a:rPr lang="vi" sz="1200" b="1">
                <a:latin typeface="Times New Roman"/>
              </a:rPr>
              <a:t>•    Bước 1: Đếm số giao dịch có chứa 'e'.</a:t>
            </a:r>
          </a:p>
        </p:txBody>
      </p:sp>
      <p:sp>
        <p:nvSpPr>
          <p:cNvPr id="7" name="Rectangle 6"/>
          <p:cNvSpPr/>
          <p:nvPr/>
        </p:nvSpPr>
        <p:spPr>
          <a:xfrm>
            <a:off x="1316736" y="7132320"/>
            <a:ext cx="4992624" cy="152400"/>
          </a:xfrm>
          <a:prstGeom prst="rect">
            <a:avLst/>
          </a:prstGeom>
        </p:spPr>
        <p:txBody>
          <a:bodyPr wrap="none" lIns="0" tIns="0" rIns="0" bIns="0">
            <a:noAutofit/>
          </a:bodyPr>
          <a:lstStyle/>
          <a:p>
            <a:pPr indent="0" algn="just">
              <a:lnSpc>
                <a:spcPts val="2232"/>
              </a:lnSpc>
            </a:pPr>
            <a:r>
              <a:rPr lang="vi" sz="1200" b="1">
                <a:latin typeface="Times New Roman"/>
              </a:rPr>
              <a:t>. Các giao dịch chứa 'e': 0001, 0024, 0012, 0031, 0015, 0022, 0033, 0038.</a:t>
            </a:r>
          </a:p>
        </p:txBody>
      </p:sp>
      <p:sp>
        <p:nvSpPr>
          <p:cNvPr id="8" name="Rectangle 7"/>
          <p:cNvSpPr/>
          <p:nvPr/>
        </p:nvSpPr>
        <p:spPr>
          <a:xfrm>
            <a:off x="1316736" y="7385304"/>
            <a:ext cx="1609344" cy="185928"/>
          </a:xfrm>
          <a:prstGeom prst="rect">
            <a:avLst/>
          </a:prstGeom>
        </p:spPr>
        <p:txBody>
          <a:bodyPr wrap="none" lIns="0" tIns="0" rIns="0" bIns="0">
            <a:noAutofit/>
          </a:bodyPr>
          <a:lstStyle/>
          <a:p>
            <a:pPr indent="0" algn="just">
              <a:lnSpc>
                <a:spcPts val="2232"/>
              </a:lnSpc>
            </a:pPr>
            <a:r>
              <a:rPr lang="vi" sz="1200" b="1">
                <a:latin typeface="Times New Roman"/>
              </a:rPr>
              <a:t>•    Số lượng </a:t>
            </a:r>
            <a:r>
              <a:rPr lang="en-US" sz="1200" b="1">
                <a:latin typeface="Times New Roman"/>
              </a:rPr>
              <a:t>(Count): </a:t>
            </a:r>
            <a:r>
              <a:rPr lang="vi" sz="1200" b="1">
                <a:latin typeface="Times New Roman"/>
              </a:rPr>
              <a:t>8</a:t>
            </a:r>
          </a:p>
        </p:txBody>
      </p:sp>
      <p:sp>
        <p:nvSpPr>
          <p:cNvPr id="9" name="Rectangle 8"/>
          <p:cNvSpPr/>
          <p:nvPr/>
        </p:nvSpPr>
        <p:spPr>
          <a:xfrm>
            <a:off x="1316736" y="7702296"/>
            <a:ext cx="2801112" cy="152400"/>
          </a:xfrm>
          <a:prstGeom prst="rect">
            <a:avLst/>
          </a:prstGeom>
        </p:spPr>
        <p:txBody>
          <a:bodyPr wrap="none" lIns="0" tIns="0" rIns="0" bIns="0">
            <a:noAutofit/>
          </a:bodyPr>
          <a:lstStyle/>
          <a:p>
            <a:pPr indent="0" algn="just">
              <a:lnSpc>
                <a:spcPts val="2232"/>
              </a:lnSpc>
            </a:pPr>
            <a:r>
              <a:rPr lang="vi" sz="1200" b="1">
                <a:latin typeface="Times New Roman"/>
              </a:rPr>
              <a:t>•    Tính toán: Support({e}) = 8 / 10 = 0.8</a:t>
            </a:r>
          </a:p>
        </p:txBody>
      </p:sp>
      <p:sp>
        <p:nvSpPr>
          <p:cNvPr id="10" name="Rectangle 9"/>
          <p:cNvSpPr/>
          <p:nvPr/>
        </p:nvSpPr>
        <p:spPr>
          <a:xfrm>
            <a:off x="1085088" y="7988808"/>
            <a:ext cx="2112264" cy="152400"/>
          </a:xfrm>
          <a:prstGeom prst="rect">
            <a:avLst/>
          </a:prstGeom>
        </p:spPr>
        <p:txBody>
          <a:bodyPr wrap="none" lIns="0" tIns="0" rIns="0" bIns="0">
            <a:noAutofit/>
          </a:bodyPr>
          <a:lstStyle/>
          <a:p>
            <a:pPr indent="0" algn="just">
              <a:lnSpc>
                <a:spcPts val="2232"/>
              </a:lnSpc>
            </a:pPr>
            <a:r>
              <a:rPr lang="vi" sz="1200" b="1">
                <a:latin typeface="Times New Roman"/>
              </a:rPr>
              <a:t>2.2.    Tính </a:t>
            </a:r>
            <a:r>
              <a:rPr lang="en-US" sz="1200" b="1">
                <a:latin typeface="Times New Roman"/>
              </a:rPr>
              <a:t>Support </a:t>
            </a:r>
            <a:r>
              <a:rPr lang="vi" sz="1200" b="1">
                <a:latin typeface="Times New Roman"/>
              </a:rPr>
              <a:t>cho tập {b, d}</a:t>
            </a:r>
          </a:p>
        </p:txBody>
      </p:sp>
      <p:sp>
        <p:nvSpPr>
          <p:cNvPr id="11" name="Rectangle 10"/>
          <p:cNvSpPr/>
          <p:nvPr/>
        </p:nvSpPr>
        <p:spPr>
          <a:xfrm>
            <a:off x="1316736" y="8241792"/>
            <a:ext cx="3194304" cy="182880"/>
          </a:xfrm>
          <a:prstGeom prst="rect">
            <a:avLst/>
          </a:prstGeom>
        </p:spPr>
        <p:txBody>
          <a:bodyPr wrap="none" lIns="0" tIns="0" rIns="0" bIns="0">
            <a:noAutofit/>
          </a:bodyPr>
          <a:lstStyle/>
          <a:p>
            <a:pPr indent="0" algn="just">
              <a:lnSpc>
                <a:spcPts val="2232"/>
              </a:lnSpc>
            </a:pPr>
            <a:r>
              <a:rPr lang="vi" sz="1200" b="1">
                <a:latin typeface="Times New Roman"/>
              </a:rPr>
              <a:t>•    Bước 1: Đếm số giao dịch chứa cả 'b' VÀ 'd'.</a:t>
            </a:r>
          </a:p>
        </p:txBody>
      </p:sp>
      <p:sp>
        <p:nvSpPr>
          <p:cNvPr id="12" name="Rectangle 11"/>
          <p:cNvSpPr/>
          <p:nvPr/>
        </p:nvSpPr>
        <p:spPr>
          <a:xfrm>
            <a:off x="1316736" y="8558784"/>
            <a:ext cx="1965960" cy="152400"/>
          </a:xfrm>
          <a:prstGeom prst="rect">
            <a:avLst/>
          </a:prstGeom>
        </p:spPr>
        <p:txBody>
          <a:bodyPr wrap="none" lIns="0" tIns="0" rIns="0" bIns="0">
            <a:noAutofit/>
          </a:bodyPr>
          <a:lstStyle/>
          <a:p>
            <a:pPr indent="0" algn="just">
              <a:lnSpc>
                <a:spcPts val="2232"/>
              </a:lnSpc>
            </a:pPr>
            <a:r>
              <a:rPr lang="vi" sz="1200" b="1">
                <a:latin typeface="Times New Roman"/>
              </a:rPr>
              <a:t>•    Các giao dịch chứa {b, </a:t>
            </a:r>
            <a:r>
              <a:rPr lang="en-US" sz="1200" b="1">
                <a:latin typeface="Times New Roman"/>
              </a:rPr>
              <a:t>d}:</a:t>
            </a:r>
          </a:p>
        </p:txBody>
      </p:sp>
      <p:sp>
        <p:nvSpPr>
          <p:cNvPr id="13" name="Rectangle 12"/>
          <p:cNvSpPr/>
          <p:nvPr/>
        </p:nvSpPr>
        <p:spPr>
          <a:xfrm>
            <a:off x="1776984" y="8842248"/>
            <a:ext cx="1569720" cy="152400"/>
          </a:xfrm>
          <a:prstGeom prst="rect">
            <a:avLst/>
          </a:prstGeom>
        </p:spPr>
        <p:txBody>
          <a:bodyPr wrap="none" lIns="0" tIns="0" rIns="0" bIns="0">
            <a:noAutofit/>
          </a:bodyPr>
          <a:lstStyle/>
          <a:p>
            <a:pPr indent="0">
              <a:lnSpc>
                <a:spcPts val="2232"/>
              </a:lnSpc>
            </a:pPr>
            <a:r>
              <a:rPr lang="vi" sz="900" spc="-150">
                <a:latin typeface="Courier New"/>
              </a:rPr>
              <a:t>o </a:t>
            </a:r>
            <a:r>
              <a:rPr lang="en-US" sz="1200" b="1">
                <a:latin typeface="Times New Roman"/>
              </a:rPr>
              <a:t>ID </a:t>
            </a:r>
            <a:r>
              <a:rPr lang="vi" sz="1200" b="1">
                <a:latin typeface="Times New Roman"/>
              </a:rPr>
              <a:t>0012: {a, b, d, e}</a:t>
            </a:r>
          </a:p>
        </p:txBody>
      </p:sp>
      <p:sp>
        <p:nvSpPr>
          <p:cNvPr id="14" name="Rectangle 13"/>
          <p:cNvSpPr/>
          <p:nvPr/>
        </p:nvSpPr>
        <p:spPr>
          <a:xfrm>
            <a:off x="1999488" y="9125712"/>
            <a:ext cx="1191768" cy="152400"/>
          </a:xfrm>
          <a:prstGeom prst="rect">
            <a:avLst/>
          </a:prstGeom>
        </p:spPr>
        <p:txBody>
          <a:bodyPr wrap="none" lIns="0" tIns="0" rIns="0" bIns="0">
            <a:noAutofit/>
          </a:bodyPr>
          <a:lstStyle/>
          <a:p>
            <a:pPr indent="0" algn="just">
              <a:lnSpc>
                <a:spcPts val="2232"/>
              </a:lnSpc>
            </a:pPr>
            <a:r>
              <a:rPr lang="en-US" sz="1200" b="1">
                <a:latin typeface="Times New Roman"/>
              </a:rPr>
              <a:t>ID </a:t>
            </a:r>
            <a:r>
              <a:rPr lang="vi" sz="1200" b="1">
                <a:latin typeface="Times New Roman"/>
              </a:rPr>
              <a:t>0022: {b, d, e}</a:t>
            </a:r>
          </a:p>
        </p:txBody>
      </p:sp>
      <p:sp>
        <p:nvSpPr>
          <p:cNvPr id="15" name="Rectangle 14"/>
          <p:cNvSpPr/>
          <p:nvPr/>
        </p:nvSpPr>
        <p:spPr>
          <a:xfrm>
            <a:off x="1758696" y="9168384"/>
            <a:ext cx="94488" cy="91440"/>
          </a:xfrm>
          <a:prstGeom prst="rect">
            <a:avLst/>
          </a:prstGeom>
        </p:spPr>
        <p:txBody>
          <a:bodyPr wrap="none" lIns="0" tIns="0" rIns="0" bIns="0">
            <a:noAutofit/>
          </a:bodyPr>
          <a:lstStyle/>
          <a:p>
            <a:pPr indent="0"/>
            <a:r>
              <a:rPr lang="vi" sz="900" spc="-150">
                <a:latin typeface="Courier New"/>
              </a:rPr>
              <a:t>o</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066800" y="704088"/>
            <a:ext cx="5257800" cy="7732776"/>
          </a:xfrm>
          <a:prstGeom prst="rect">
            <a:avLst/>
          </a:prstGeom>
        </p:spPr>
        <p:txBody>
          <a:bodyPr lIns="0" tIns="0" rIns="0" bIns="0">
            <a:noAutofit/>
          </a:bodyPr>
          <a:lstStyle/>
          <a:p>
            <a:pPr marL="254000" indent="0" algn="just">
              <a:lnSpc>
                <a:spcPts val="2232"/>
              </a:lnSpc>
            </a:pPr>
            <a:r>
              <a:rPr lang="en-US" sz="1200">
                <a:latin typeface="Times New Roman"/>
              </a:rPr>
              <a:t>•</a:t>
            </a:r>
            <a:r>
              <a:rPr lang="en-US" sz="1200" b="1">
                <a:latin typeface="Times New Roman"/>
              </a:rPr>
              <a:t>    </a:t>
            </a:r>
            <a:r>
              <a:rPr lang="vi" sz="1200" b="1">
                <a:latin typeface="Times New Roman"/>
              </a:rPr>
              <a:t>Số lượng </a:t>
            </a:r>
            <a:r>
              <a:rPr lang="en-US" sz="1200" b="1">
                <a:latin typeface="Times New Roman"/>
              </a:rPr>
              <a:t>(Count): </a:t>
            </a:r>
            <a:r>
              <a:rPr lang="vi" sz="1200">
                <a:latin typeface="Times New Roman"/>
              </a:rPr>
              <a:t>2</a:t>
            </a:r>
          </a:p>
          <a:p>
            <a:pPr marL="254000" indent="0" algn="just">
              <a:lnSpc>
                <a:spcPts val="2232"/>
              </a:lnSpc>
            </a:pPr>
            <a:r>
              <a:rPr lang="vi" sz="1200">
                <a:latin typeface="Times New Roman"/>
              </a:rPr>
              <a:t>•</a:t>
            </a:r>
            <a:r>
              <a:rPr lang="vi" sz="1200" b="1">
                <a:latin typeface="Times New Roman"/>
              </a:rPr>
              <a:t>    Tính toán: </a:t>
            </a:r>
            <a:r>
              <a:rPr lang="vi" sz="1200">
                <a:latin typeface="Times New Roman"/>
              </a:rPr>
              <a:t>Support({b, d}) = 2 / 10 = </a:t>
            </a:r>
            <a:r>
              <a:rPr lang="vi" sz="1200" b="1">
                <a:latin typeface="Times New Roman"/>
              </a:rPr>
              <a:t>0.2</a:t>
            </a:r>
          </a:p>
          <a:p>
            <a:pPr indent="0" algn="just">
              <a:lnSpc>
                <a:spcPts val="2232"/>
              </a:lnSpc>
            </a:pPr>
            <a:r>
              <a:rPr lang="vi" sz="1200">
                <a:latin typeface="Times New Roman"/>
              </a:rPr>
              <a:t>2.3. Tính </a:t>
            </a:r>
            <a:r>
              <a:rPr lang="en-US" sz="1200">
                <a:latin typeface="Times New Roman"/>
              </a:rPr>
              <a:t>Support </a:t>
            </a:r>
            <a:r>
              <a:rPr lang="vi" sz="1200">
                <a:latin typeface="Times New Roman"/>
              </a:rPr>
              <a:t>cho tập {b, d, e}</a:t>
            </a:r>
          </a:p>
          <a:p>
            <a:pPr marL="254000" indent="0" algn="just">
              <a:lnSpc>
                <a:spcPts val="2232"/>
              </a:lnSpc>
            </a:pPr>
            <a:r>
              <a:rPr lang="vi" sz="1200">
                <a:latin typeface="Times New Roman"/>
              </a:rPr>
              <a:t>•</a:t>
            </a:r>
            <a:r>
              <a:rPr lang="vi" sz="1200" b="1">
                <a:latin typeface="Times New Roman"/>
              </a:rPr>
              <a:t>    Bước 1: </a:t>
            </a:r>
            <a:r>
              <a:rPr lang="vi" sz="1200">
                <a:latin typeface="Times New Roman"/>
              </a:rPr>
              <a:t>Đếm số giao dịch chứa cả 'b', 'd' VÀ 'e'.</a:t>
            </a:r>
          </a:p>
          <a:p>
            <a:pPr marL="254000" indent="0" algn="just">
              <a:lnSpc>
                <a:spcPts val="2232"/>
              </a:lnSpc>
            </a:pPr>
            <a:r>
              <a:rPr lang="vi" sz="1200">
                <a:latin typeface="Times New Roman"/>
              </a:rPr>
              <a:t>•    Các giao dịch chứa {b, d, e}:</a:t>
            </a:r>
          </a:p>
          <a:p>
            <a:pPr marL="711200" marR="2971800" indent="0">
              <a:lnSpc>
                <a:spcPts val="2232"/>
              </a:lnSpc>
            </a:pPr>
            <a:r>
              <a:rPr lang="vi" sz="900" spc="-150">
                <a:latin typeface="Courier New"/>
              </a:rPr>
              <a:t>o </a:t>
            </a:r>
            <a:r>
              <a:rPr lang="en-US" sz="1200">
                <a:latin typeface="Times New Roman"/>
              </a:rPr>
              <a:t>ID </a:t>
            </a:r>
            <a:r>
              <a:rPr lang="vi" sz="1200">
                <a:latin typeface="Times New Roman"/>
              </a:rPr>
              <a:t>0012: {a, </a:t>
            </a:r>
            <a:r>
              <a:rPr lang="vi" sz="1200" b="1">
                <a:latin typeface="Times New Roman"/>
              </a:rPr>
              <a:t>b, d, e</a:t>
            </a:r>
            <a:r>
              <a:rPr lang="vi" sz="1200">
                <a:latin typeface="Times New Roman"/>
              </a:rPr>
              <a:t>} </a:t>
            </a:r>
            <a:r>
              <a:rPr lang="vi" sz="900" spc="-150">
                <a:latin typeface="Courier New"/>
              </a:rPr>
              <a:t>o </a:t>
            </a:r>
            <a:r>
              <a:rPr lang="en-US" sz="1200">
                <a:latin typeface="Times New Roman"/>
              </a:rPr>
              <a:t>ID </a:t>
            </a:r>
            <a:r>
              <a:rPr lang="vi" sz="1200">
                <a:latin typeface="Times New Roman"/>
              </a:rPr>
              <a:t>0022: {</a:t>
            </a:r>
            <a:r>
              <a:rPr lang="vi" sz="1200" b="1">
                <a:latin typeface="Times New Roman"/>
              </a:rPr>
              <a:t>b, d, e</a:t>
            </a:r>
            <a:r>
              <a:rPr lang="vi" sz="1200">
                <a:latin typeface="Times New Roman"/>
              </a:rPr>
              <a:t>}</a:t>
            </a:r>
          </a:p>
          <a:p>
            <a:pPr marL="254000" indent="0" algn="just">
              <a:lnSpc>
                <a:spcPts val="2232"/>
              </a:lnSpc>
            </a:pPr>
            <a:r>
              <a:rPr lang="vi" sz="1200">
                <a:latin typeface="Times New Roman"/>
              </a:rPr>
              <a:t>•</a:t>
            </a:r>
            <a:r>
              <a:rPr lang="vi" sz="1200" b="1">
                <a:latin typeface="Times New Roman"/>
              </a:rPr>
              <a:t>    Số lượng </a:t>
            </a:r>
            <a:r>
              <a:rPr lang="en-US" sz="1200" b="1">
                <a:latin typeface="Times New Roman"/>
              </a:rPr>
              <a:t>(Count): </a:t>
            </a:r>
            <a:r>
              <a:rPr lang="vi" sz="1200">
                <a:latin typeface="Times New Roman"/>
              </a:rPr>
              <a:t>2</a:t>
            </a:r>
          </a:p>
          <a:p>
            <a:pPr marL="254000" indent="0" algn="just">
              <a:lnSpc>
                <a:spcPts val="2232"/>
              </a:lnSpc>
            </a:pPr>
            <a:r>
              <a:rPr lang="vi" sz="1200">
                <a:latin typeface="Times New Roman"/>
              </a:rPr>
              <a:t>•</a:t>
            </a:r>
            <a:r>
              <a:rPr lang="vi" sz="1200" b="1">
                <a:latin typeface="Times New Roman"/>
              </a:rPr>
              <a:t>    Tính toán: </a:t>
            </a:r>
            <a:r>
              <a:rPr lang="vi" sz="1200">
                <a:latin typeface="Times New Roman"/>
              </a:rPr>
              <a:t>Support({b, d, e}) = 2 / 10 = </a:t>
            </a:r>
            <a:r>
              <a:rPr lang="vi" sz="1200" b="1">
                <a:latin typeface="Times New Roman"/>
              </a:rPr>
              <a:t>0.2</a:t>
            </a:r>
          </a:p>
          <a:p>
            <a:pPr indent="0" algn="just">
              <a:lnSpc>
                <a:spcPts val="2232"/>
              </a:lnSpc>
            </a:pPr>
            <a:r>
              <a:rPr lang="vi" sz="1200" b="1">
                <a:latin typeface="Times New Roman"/>
              </a:rPr>
              <a:t>3.    Câu b: Tính độ tin cậy </a:t>
            </a:r>
            <a:r>
              <a:rPr lang="en-US" sz="1200" b="1">
                <a:latin typeface="Times New Roman"/>
              </a:rPr>
              <a:t>(Confidence)</a:t>
            </a:r>
          </a:p>
          <a:p>
            <a:pPr indent="0" algn="just">
              <a:lnSpc>
                <a:spcPts val="2232"/>
              </a:lnSpc>
            </a:pPr>
            <a:r>
              <a:rPr lang="vi" sz="1200">
                <a:latin typeface="Times New Roman"/>
              </a:rPr>
              <a:t>Công thức: Confidence(X ^ Y) = Support(X u Y) / Support(X)</a:t>
            </a:r>
          </a:p>
          <a:p>
            <a:pPr indent="0" algn="just">
              <a:lnSpc>
                <a:spcPts val="2232"/>
              </a:lnSpc>
            </a:pPr>
            <a:r>
              <a:rPr lang="vi" sz="1200">
                <a:latin typeface="Times New Roman"/>
              </a:rPr>
              <a:t>3.1.    Luật: {b, d} ^ {e}</a:t>
            </a:r>
          </a:p>
          <a:p>
            <a:pPr marL="254000" indent="0" algn="just">
              <a:lnSpc>
                <a:spcPts val="2232"/>
              </a:lnSpc>
            </a:pPr>
            <a:r>
              <a:rPr lang="vi" sz="1200">
                <a:latin typeface="Times New Roman"/>
              </a:rPr>
              <a:t>•</a:t>
            </a:r>
            <a:r>
              <a:rPr lang="vi" sz="1200" b="1">
                <a:latin typeface="Times New Roman"/>
              </a:rPr>
              <a:t>    X (Vế trái): </a:t>
            </a:r>
            <a:r>
              <a:rPr lang="vi" sz="1200">
                <a:latin typeface="Times New Roman"/>
              </a:rPr>
              <a:t>{b, d} ^ Support({b, d}) = 0.2 (đã tính ở trên)</a:t>
            </a:r>
          </a:p>
          <a:p>
            <a:pPr marL="254000" indent="0" algn="just">
              <a:lnSpc>
                <a:spcPts val="2232"/>
              </a:lnSpc>
            </a:pPr>
            <a:r>
              <a:rPr lang="vi" sz="1200">
                <a:latin typeface="Times New Roman"/>
              </a:rPr>
              <a:t>•</a:t>
            </a:r>
            <a:r>
              <a:rPr lang="vi" sz="1200" b="1">
                <a:latin typeface="Times New Roman"/>
              </a:rPr>
              <a:t>    X u Y (Hợp): </a:t>
            </a:r>
            <a:r>
              <a:rPr lang="vi" sz="1200">
                <a:latin typeface="Times New Roman"/>
              </a:rPr>
              <a:t>{b, d, e} ^ Support({b, d, e}) = 0.2 (đã tính ở trên)</a:t>
            </a:r>
          </a:p>
          <a:p>
            <a:pPr marL="254000" indent="0" algn="just">
              <a:lnSpc>
                <a:spcPts val="2232"/>
              </a:lnSpc>
            </a:pPr>
            <a:r>
              <a:rPr lang="vi" sz="1200">
                <a:latin typeface="Times New Roman"/>
              </a:rPr>
              <a:t>•</a:t>
            </a:r>
            <a:r>
              <a:rPr lang="vi" sz="1200" b="1">
                <a:latin typeface="Times New Roman"/>
              </a:rPr>
              <a:t>    Tính toán:</a:t>
            </a:r>
          </a:p>
          <a:p>
            <a:pPr marL="482600" indent="0">
              <a:lnSpc>
                <a:spcPts val="2232"/>
              </a:lnSpc>
            </a:pPr>
            <a:r>
              <a:rPr lang="en-US" sz="1200">
                <a:latin typeface="Times New Roman"/>
              </a:rPr>
              <a:t>Confidence </a:t>
            </a:r>
            <a:r>
              <a:rPr lang="vi" sz="1200">
                <a:latin typeface="Times New Roman"/>
              </a:rPr>
              <a:t>= 0.2 / 0.2 = </a:t>
            </a:r>
            <a:r>
              <a:rPr lang="vi" sz="1200" b="1">
                <a:latin typeface="Times New Roman"/>
              </a:rPr>
              <a:t>1.0 </a:t>
            </a:r>
            <a:r>
              <a:rPr lang="vi" sz="1200">
                <a:latin typeface="Times New Roman"/>
              </a:rPr>
              <a:t>(hay 100%)</a:t>
            </a:r>
          </a:p>
          <a:p>
            <a:pPr marL="254000" indent="0" algn="just">
              <a:lnSpc>
                <a:spcPts val="2232"/>
              </a:lnSpc>
            </a:pPr>
            <a:r>
              <a:rPr lang="vi" sz="1200">
                <a:latin typeface="Times New Roman"/>
              </a:rPr>
              <a:t>•</a:t>
            </a:r>
            <a:r>
              <a:rPr lang="vi" sz="1200" b="1">
                <a:latin typeface="Times New Roman"/>
              </a:rPr>
              <a:t>    Ý nghĩa: </a:t>
            </a:r>
            <a:r>
              <a:rPr lang="vi" sz="1200">
                <a:latin typeface="Times New Roman"/>
              </a:rPr>
              <a:t>Khách hàng mua b và d chắc chắn 100% sẽ mua e.</a:t>
            </a:r>
          </a:p>
          <a:p>
            <a:pPr indent="0" algn="just">
              <a:lnSpc>
                <a:spcPts val="2232"/>
              </a:lnSpc>
            </a:pPr>
            <a:r>
              <a:rPr lang="vi" sz="1200">
                <a:latin typeface="Times New Roman"/>
              </a:rPr>
              <a:t>3.2.    Luật: {e} ^ {b, d}</a:t>
            </a:r>
          </a:p>
          <a:p>
            <a:pPr marL="254000" indent="0" algn="just">
              <a:lnSpc>
                <a:spcPts val="2232"/>
              </a:lnSpc>
            </a:pPr>
            <a:r>
              <a:rPr lang="vi" sz="1200">
                <a:latin typeface="Times New Roman"/>
              </a:rPr>
              <a:t>•</a:t>
            </a:r>
            <a:r>
              <a:rPr lang="vi" sz="1200" b="1">
                <a:latin typeface="Times New Roman"/>
              </a:rPr>
              <a:t>    X (Vế trái): </a:t>
            </a:r>
            <a:r>
              <a:rPr lang="vi" sz="1200">
                <a:latin typeface="Times New Roman"/>
              </a:rPr>
              <a:t>{e} ^ Support({e}) = 0.8 (đã tính ở trên)</a:t>
            </a:r>
          </a:p>
          <a:p>
            <a:pPr marL="254000" indent="0" algn="just">
              <a:lnSpc>
                <a:spcPts val="2232"/>
              </a:lnSpc>
            </a:pPr>
            <a:r>
              <a:rPr lang="vi" sz="1200">
                <a:latin typeface="Times New Roman"/>
              </a:rPr>
              <a:t>•</a:t>
            </a:r>
            <a:r>
              <a:rPr lang="vi" sz="1200" b="1">
                <a:latin typeface="Times New Roman"/>
              </a:rPr>
              <a:t>    X u Y (Hợp): </a:t>
            </a:r>
            <a:r>
              <a:rPr lang="vi" sz="1200">
                <a:latin typeface="Times New Roman"/>
              </a:rPr>
              <a:t>{b, d, e} ^ Support({b, d, e}) = 0.2 (đã tính ở trên)</a:t>
            </a:r>
          </a:p>
          <a:p>
            <a:pPr marL="254000" indent="0" algn="just">
              <a:lnSpc>
                <a:spcPts val="2232"/>
              </a:lnSpc>
            </a:pPr>
            <a:r>
              <a:rPr lang="vi" sz="1200">
                <a:latin typeface="Times New Roman"/>
              </a:rPr>
              <a:t>•</a:t>
            </a:r>
            <a:r>
              <a:rPr lang="vi" sz="1200" b="1">
                <a:latin typeface="Times New Roman"/>
              </a:rPr>
              <a:t>    Tính toán:</a:t>
            </a:r>
          </a:p>
          <a:p>
            <a:pPr marL="482600" indent="0">
              <a:lnSpc>
                <a:spcPts val="2232"/>
              </a:lnSpc>
            </a:pPr>
            <a:r>
              <a:rPr lang="en-US" sz="1200">
                <a:latin typeface="Times New Roman"/>
              </a:rPr>
              <a:t>Confidence </a:t>
            </a:r>
            <a:r>
              <a:rPr lang="vi" sz="1200">
                <a:latin typeface="Times New Roman"/>
              </a:rPr>
              <a:t>= 0.2 / 0.8 = </a:t>
            </a:r>
            <a:r>
              <a:rPr lang="vi" sz="1200" b="1">
                <a:latin typeface="Times New Roman"/>
              </a:rPr>
              <a:t>0.25 </a:t>
            </a:r>
            <a:r>
              <a:rPr lang="vi" sz="1200">
                <a:latin typeface="Times New Roman"/>
              </a:rPr>
              <a:t>(hay 25%)</a:t>
            </a:r>
          </a:p>
          <a:p>
            <a:pPr marL="254000" indent="0" algn="just">
              <a:lnSpc>
                <a:spcPts val="2232"/>
              </a:lnSpc>
            </a:pPr>
            <a:r>
              <a:rPr lang="vi" sz="1200">
                <a:latin typeface="Times New Roman"/>
              </a:rPr>
              <a:t>•</a:t>
            </a:r>
            <a:r>
              <a:rPr lang="vi" sz="1200" b="1">
                <a:latin typeface="Times New Roman"/>
              </a:rPr>
              <a:t>    Ý nghĩa: </a:t>
            </a:r>
            <a:r>
              <a:rPr lang="vi" sz="1200">
                <a:latin typeface="Times New Roman"/>
              </a:rPr>
              <a:t>Khách hàng mua e chỉ có 25% khả năng sẽ mua kèm b và d.</a:t>
            </a:r>
          </a:p>
          <a:p>
            <a:pPr indent="0" algn="just">
              <a:lnSpc>
                <a:spcPts val="2232"/>
              </a:lnSpc>
              <a:spcAft>
                <a:spcPts val="420"/>
              </a:spcAft>
            </a:pPr>
            <a:r>
              <a:rPr lang="vi" sz="1200" b="1">
                <a:latin typeface="Times New Roman"/>
              </a:rPr>
              <a:t>4.    Tổng kết kết quả</a:t>
            </a:r>
          </a:p>
          <a:p>
            <a:pPr marL="139700" indent="0" algn="just">
              <a:spcAft>
                <a:spcPts val="2100"/>
              </a:spcAft>
            </a:pPr>
            <a:r>
              <a:rPr lang="vi" sz="1200" b="1">
                <a:latin typeface="Times New Roman"/>
              </a:rPr>
              <a:t>Mục tính toán    Giá trị    Phần trăm</a:t>
            </a:r>
          </a:p>
          <a:p>
            <a:pPr marL="139700" indent="0" algn="just"/>
            <a:r>
              <a:rPr lang="vi" sz="1200">
                <a:latin typeface="Times New Roman"/>
              </a:rPr>
              <a:t>Support({e})    0.8    80%</a:t>
            </a:r>
          </a:p>
        </p:txBody>
      </p:sp>
      <p:sp>
        <p:nvSpPr>
          <p:cNvPr id="3" name="Rectangle 2"/>
          <p:cNvSpPr/>
          <p:nvPr/>
        </p:nvSpPr>
        <p:spPr>
          <a:xfrm>
            <a:off x="1191768" y="8769096"/>
            <a:ext cx="1057656" cy="188976"/>
          </a:xfrm>
          <a:prstGeom prst="rect">
            <a:avLst/>
          </a:prstGeom>
        </p:spPr>
        <p:txBody>
          <a:bodyPr wrap="none" lIns="0" tIns="0" rIns="0" bIns="0">
            <a:noAutofit/>
          </a:bodyPr>
          <a:lstStyle/>
          <a:p>
            <a:pPr indent="0"/>
            <a:r>
              <a:rPr lang="vi" sz="1200">
                <a:latin typeface="Times New Roman"/>
              </a:rPr>
              <a:t>Support({b, d})</a:t>
            </a:r>
          </a:p>
        </p:txBody>
      </p:sp>
      <p:sp>
        <p:nvSpPr>
          <p:cNvPr id="4" name="Rectangle 3"/>
          <p:cNvSpPr/>
          <p:nvPr/>
        </p:nvSpPr>
        <p:spPr>
          <a:xfrm>
            <a:off x="4413504" y="8775192"/>
            <a:ext cx="228600" cy="149352"/>
          </a:xfrm>
          <a:prstGeom prst="rect">
            <a:avLst/>
          </a:prstGeom>
        </p:spPr>
        <p:txBody>
          <a:bodyPr wrap="none" lIns="0" tIns="0" rIns="0" bIns="0">
            <a:noAutofit/>
          </a:bodyPr>
          <a:lstStyle/>
          <a:p>
            <a:pPr indent="0"/>
            <a:r>
              <a:rPr lang="vi" sz="1200">
                <a:latin typeface="Times New Roman"/>
              </a:rPr>
              <a:t>0.2</a:t>
            </a:r>
          </a:p>
        </p:txBody>
      </p:sp>
      <p:sp>
        <p:nvSpPr>
          <p:cNvPr id="5" name="Rectangle 4"/>
          <p:cNvSpPr/>
          <p:nvPr/>
        </p:nvSpPr>
        <p:spPr>
          <a:xfrm>
            <a:off x="5547360" y="8772144"/>
            <a:ext cx="335280" cy="152400"/>
          </a:xfrm>
          <a:prstGeom prst="rect">
            <a:avLst/>
          </a:prstGeom>
        </p:spPr>
        <p:txBody>
          <a:bodyPr wrap="none" lIns="0" tIns="0" rIns="0" bIns="0">
            <a:noAutofit/>
          </a:bodyPr>
          <a:lstStyle/>
          <a:p>
            <a:pPr indent="0"/>
            <a:r>
              <a:rPr lang="vi" sz="1200">
                <a:latin typeface="Times New Roman"/>
              </a:rPr>
              <a:t>20%</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066800" y="725424"/>
          <a:ext cx="5398008" cy="1892808"/>
        </p:xfrm>
        <a:graphic>
          <a:graphicData uri="http://schemas.openxmlformats.org/drawingml/2006/table">
            <a:tbl>
              <a:tblPr/>
              <a:tblGrid>
                <a:gridCol w="2621280">
                  <a:extLst>
                    <a:ext uri="{9D8B030D-6E8A-4147-A177-3AD203B41FA5}">
                      <a16:colId xmlns:a16="http://schemas.microsoft.com/office/drawing/2014/main" val="20000"/>
                    </a:ext>
                  </a:extLst>
                </a:gridCol>
                <a:gridCol w="1536192">
                  <a:extLst>
                    <a:ext uri="{9D8B030D-6E8A-4147-A177-3AD203B41FA5}">
                      <a16:colId xmlns:a16="http://schemas.microsoft.com/office/drawing/2014/main" val="20001"/>
                    </a:ext>
                  </a:extLst>
                </a:gridCol>
                <a:gridCol w="1240536">
                  <a:extLst>
                    <a:ext uri="{9D8B030D-6E8A-4147-A177-3AD203B41FA5}">
                      <a16:colId xmlns:a16="http://schemas.microsoft.com/office/drawing/2014/main" val="20002"/>
                    </a:ext>
                  </a:extLst>
                </a:gridCol>
              </a:tblGrid>
              <a:tr h="521208">
                <a:tc>
                  <a:txBody>
                    <a:bodyPr/>
                    <a:lstStyle/>
                    <a:p>
                      <a:pPr marL="139700" indent="0"/>
                      <a:r>
                        <a:rPr lang="vi" sz="1200" b="1">
                          <a:latin typeface="Times New Roman"/>
                        </a:rPr>
                        <a:t>Mục tính toán</a:t>
                      </a:r>
                    </a:p>
                  </a:txBody>
                  <a:tcPr marL="0" marR="0" marT="0" marB="0" anchor="ctr"/>
                </a:tc>
                <a:tc>
                  <a:txBody>
                    <a:bodyPr/>
                    <a:lstStyle/>
                    <a:p>
                      <a:pPr marL="749300" indent="0"/>
                      <a:r>
                        <a:rPr lang="vi" sz="1200" b="1">
                          <a:latin typeface="Times New Roman"/>
                        </a:rPr>
                        <a:t>Giá trị</a:t>
                      </a:r>
                    </a:p>
                  </a:txBody>
                  <a:tcPr marL="0" marR="0" marT="0" marB="0" anchor="ctr"/>
                </a:tc>
                <a:tc>
                  <a:txBody>
                    <a:bodyPr/>
                    <a:lstStyle/>
                    <a:p>
                      <a:pPr marL="342900" indent="0"/>
                      <a:r>
                        <a:rPr lang="vi" sz="1200" b="1">
                          <a:latin typeface="Times New Roman"/>
                        </a:rPr>
                        <a:t>Phần trăm</a:t>
                      </a:r>
                    </a:p>
                  </a:txBody>
                  <a:tcPr marL="0" marR="0" marT="0" marB="0" anchor="ctr"/>
                </a:tc>
                <a:extLst>
                  <a:ext uri="{0D108BD9-81ED-4DB2-BD59-A6C34878D82A}">
                    <a16:rowId xmlns:a16="http://schemas.microsoft.com/office/drawing/2014/main" val="10000"/>
                  </a:ext>
                </a:extLst>
              </a:tr>
              <a:tr h="490728">
                <a:tc>
                  <a:txBody>
                    <a:bodyPr/>
                    <a:lstStyle/>
                    <a:p>
                      <a:pPr marL="139700" indent="0"/>
                      <a:r>
                        <a:rPr lang="vi" sz="1200">
                          <a:latin typeface="Times New Roman"/>
                        </a:rPr>
                        <a:t>Support({b, d, e})</a:t>
                      </a:r>
                    </a:p>
                  </a:txBody>
                  <a:tcPr marL="0" marR="0" marT="0" marB="0" anchor="ctr"/>
                </a:tc>
                <a:tc>
                  <a:txBody>
                    <a:bodyPr/>
                    <a:lstStyle/>
                    <a:p>
                      <a:pPr marL="749300" indent="0"/>
                      <a:r>
                        <a:rPr lang="vi" sz="1200">
                          <a:latin typeface="Times New Roman"/>
                        </a:rPr>
                        <a:t>0.2</a:t>
                      </a:r>
                    </a:p>
                  </a:txBody>
                  <a:tcPr marL="0" marR="0" marT="0" marB="0" anchor="ctr"/>
                </a:tc>
                <a:tc>
                  <a:txBody>
                    <a:bodyPr/>
                    <a:lstStyle/>
                    <a:p>
                      <a:pPr marL="342900" indent="0"/>
                      <a:r>
                        <a:rPr lang="vi" sz="1200">
                          <a:latin typeface="Times New Roman"/>
                        </a:rPr>
                        <a:t>20%</a:t>
                      </a:r>
                    </a:p>
                  </a:txBody>
                  <a:tcPr marL="0" marR="0" marT="0" marB="0" anchor="ctr"/>
                </a:tc>
                <a:extLst>
                  <a:ext uri="{0D108BD9-81ED-4DB2-BD59-A6C34878D82A}">
                    <a16:rowId xmlns:a16="http://schemas.microsoft.com/office/drawing/2014/main" val="10001"/>
                  </a:ext>
                </a:extLst>
              </a:tr>
              <a:tr h="524256">
                <a:tc>
                  <a:txBody>
                    <a:bodyPr/>
                    <a:lstStyle/>
                    <a:p>
                      <a:pPr marL="139700" indent="0"/>
                      <a:r>
                        <a:rPr lang="vi" sz="1200">
                          <a:latin typeface="Times New Roman"/>
                        </a:rPr>
                        <a:t>Confidence({b, d} ^ {e})</a:t>
                      </a:r>
                    </a:p>
                  </a:txBody>
                  <a:tcPr marL="0" marR="0" marT="0" marB="0" anchor="ctr"/>
                </a:tc>
                <a:tc>
                  <a:txBody>
                    <a:bodyPr/>
                    <a:lstStyle/>
                    <a:p>
                      <a:pPr marL="749300" indent="0"/>
                      <a:r>
                        <a:rPr lang="vi" sz="1200">
                          <a:latin typeface="Times New Roman"/>
                        </a:rPr>
                        <a:t>1.0</a:t>
                      </a:r>
                    </a:p>
                  </a:txBody>
                  <a:tcPr marL="0" marR="0" marT="0" marB="0" anchor="ctr"/>
                </a:tc>
                <a:tc>
                  <a:txBody>
                    <a:bodyPr/>
                    <a:lstStyle/>
                    <a:p>
                      <a:pPr marL="342900" indent="0"/>
                      <a:r>
                        <a:rPr lang="vi" sz="1200">
                          <a:latin typeface="Times New Roman"/>
                        </a:rPr>
                        <a:t>100%</a:t>
                      </a:r>
                    </a:p>
                  </a:txBody>
                  <a:tcPr marL="0" marR="0" marT="0" marB="0" anchor="ctr"/>
                </a:tc>
                <a:extLst>
                  <a:ext uri="{0D108BD9-81ED-4DB2-BD59-A6C34878D82A}">
                    <a16:rowId xmlns:a16="http://schemas.microsoft.com/office/drawing/2014/main" val="10002"/>
                  </a:ext>
                </a:extLst>
              </a:tr>
              <a:tr h="356616">
                <a:tc>
                  <a:txBody>
                    <a:bodyPr/>
                    <a:lstStyle/>
                    <a:p>
                      <a:pPr marL="139700" indent="0"/>
                      <a:r>
                        <a:rPr lang="vi" sz="1200">
                          <a:latin typeface="Times New Roman"/>
                        </a:rPr>
                        <a:t>Confidence({e} ^ {b, d})</a:t>
                      </a:r>
                    </a:p>
                  </a:txBody>
                  <a:tcPr marL="0" marR="0" marT="0" marB="0" anchor="b"/>
                </a:tc>
                <a:tc>
                  <a:txBody>
                    <a:bodyPr/>
                    <a:lstStyle/>
                    <a:p>
                      <a:pPr marL="749300" indent="0"/>
                      <a:r>
                        <a:rPr lang="vi" sz="1200">
                          <a:latin typeface="Times New Roman"/>
                        </a:rPr>
                        <a:t>0.25</a:t>
                      </a:r>
                    </a:p>
                  </a:txBody>
                  <a:tcPr marL="0" marR="0" marT="0" marB="0" anchor="b"/>
                </a:tc>
                <a:tc>
                  <a:txBody>
                    <a:bodyPr/>
                    <a:lstStyle/>
                    <a:p>
                      <a:pPr marL="342900" indent="0"/>
                      <a:r>
                        <a:rPr lang="vi" sz="1200">
                          <a:latin typeface="Times New Roman"/>
                        </a:rPr>
                        <a:t>25%</a:t>
                      </a:r>
                    </a:p>
                  </a:txBody>
                  <a:tcPr marL="0" marR="0" marT="0" marB="0" anchor="b"/>
                </a:tc>
                <a:extLst>
                  <a:ext uri="{0D108BD9-81ED-4DB2-BD59-A6C34878D82A}">
                    <a16:rowId xmlns:a16="http://schemas.microsoft.com/office/drawing/2014/main" val="10003"/>
                  </a:ext>
                </a:extLst>
              </a:tr>
            </a:tbl>
          </a:graphicData>
        </a:graphic>
      </p:graphicFrame>
      <p:sp>
        <p:nvSpPr>
          <p:cNvPr id="3" name="Rectangle 2"/>
          <p:cNvSpPr/>
          <p:nvPr/>
        </p:nvSpPr>
        <p:spPr>
          <a:xfrm>
            <a:off x="1066800" y="3419856"/>
            <a:ext cx="6004560" cy="5699760"/>
          </a:xfrm>
          <a:prstGeom prst="rect">
            <a:avLst/>
          </a:prstGeom>
        </p:spPr>
        <p:txBody>
          <a:bodyPr lIns="0" tIns="0" rIns="0" bIns="0">
            <a:noAutofit/>
          </a:bodyPr>
          <a:lstStyle/>
          <a:p>
            <a:pPr indent="0" algn="just">
              <a:lnSpc>
                <a:spcPts val="2952"/>
              </a:lnSpc>
              <a:spcBef>
                <a:spcPts val="4410"/>
              </a:spcBef>
            </a:pPr>
            <a:r>
              <a:rPr lang="en-US" sz="1500" b="1">
                <a:latin typeface="Times New Roman"/>
              </a:rPr>
              <a:t>Ex 10: Association rules</a:t>
            </a:r>
          </a:p>
          <a:p>
            <a:pPr indent="0" algn="just">
              <a:lnSpc>
                <a:spcPts val="2952"/>
              </a:lnSpc>
            </a:pPr>
            <a:r>
              <a:rPr lang="vi" sz="1200" b="1">
                <a:latin typeface="Times New Roman"/>
              </a:rPr>
              <a:t>Dữ liệu đầu vào</a:t>
            </a:r>
          </a:p>
          <a:p>
            <a:pPr indent="0" algn="just">
              <a:lnSpc>
                <a:spcPts val="2232"/>
              </a:lnSpc>
            </a:pPr>
            <a:r>
              <a:rPr lang="vi" sz="1200">
                <a:latin typeface="Times New Roman"/>
              </a:rPr>
              <a:t>Giả định tập dữ liệu có 5 </a:t>
            </a:r>
            <a:r>
              <a:rPr lang="en-US" sz="1200">
                <a:latin typeface="Times New Roman"/>
              </a:rPr>
              <a:t>items: </a:t>
            </a:r>
            <a:r>
              <a:rPr lang="vi" sz="1200" b="1">
                <a:latin typeface="Times New Roman"/>
              </a:rPr>
              <a:t>{1, 2, 3, 4, 5}</a:t>
            </a:r>
            <a:r>
              <a:rPr lang="vi" sz="1200">
                <a:latin typeface="Times New Roman"/>
              </a:rPr>
              <a:t>.</a:t>
            </a:r>
          </a:p>
          <a:p>
            <a:pPr indent="0" algn="just">
              <a:lnSpc>
                <a:spcPts val="2232"/>
              </a:lnSpc>
            </a:pPr>
            <a:r>
              <a:rPr lang="vi" sz="1200">
                <a:latin typeface="Times New Roman"/>
              </a:rPr>
              <a:t>Tập các tập phổ biến 3 phần tử </a:t>
            </a:r>
            <a:r>
              <a:rPr lang="en-US" sz="1200">
                <a:latin typeface="Times New Roman"/>
              </a:rPr>
              <a:t>(Frequent </a:t>
            </a:r>
            <a:r>
              <a:rPr lang="vi" sz="1200">
                <a:latin typeface="Times New Roman"/>
              </a:rPr>
              <a:t>3-itemsets - </a:t>
            </a:r>
            <a:r>
              <a:rPr lang="en-US" sz="1200">
                <a:latin typeface="Times New Roman"/>
              </a:rPr>
              <a:t>F</a:t>
            </a:r>
            <a:r>
              <a:rPr lang="en-US" sz="800">
                <a:latin typeface="Times New Roman"/>
              </a:rPr>
              <a:t>3</a:t>
            </a:r>
            <a:r>
              <a:rPr lang="en-US" sz="1200">
                <a:latin typeface="Times New Roman"/>
              </a:rPr>
              <a:t>):</a:t>
            </a:r>
          </a:p>
          <a:p>
            <a:pPr indent="0" algn="just">
              <a:lnSpc>
                <a:spcPts val="2232"/>
              </a:lnSpc>
            </a:pPr>
            <a:r>
              <a:rPr lang="en-US" sz="1200">
                <a:latin typeface="Times New Roman"/>
              </a:rPr>
              <a:t>F</a:t>
            </a:r>
            <a:r>
              <a:rPr lang="en-US" sz="800">
                <a:latin typeface="Times New Roman"/>
              </a:rPr>
              <a:t>3</a:t>
            </a:r>
            <a:r>
              <a:rPr lang="en-US" sz="1200">
                <a:latin typeface="Times New Roman"/>
              </a:rPr>
              <a:t> </a:t>
            </a:r>
            <a:r>
              <a:rPr lang="vi" sz="1200">
                <a:latin typeface="Times New Roman"/>
              </a:rPr>
              <a:t>= {</a:t>
            </a:r>
          </a:p>
          <a:p>
            <a:pPr marL="114300" indent="0">
              <a:lnSpc>
                <a:spcPts val="2232"/>
              </a:lnSpc>
            </a:pPr>
            <a:r>
              <a:rPr lang="vi" sz="1200">
                <a:latin typeface="Times New Roman"/>
              </a:rPr>
              <a:t>{1, 2, 3}, {1, 2, 4}, {1, 2, 5},</a:t>
            </a:r>
          </a:p>
          <a:p>
            <a:pPr marL="114300" indent="0">
              <a:lnSpc>
                <a:spcPts val="2232"/>
              </a:lnSpc>
            </a:pPr>
            <a:r>
              <a:rPr lang="vi" sz="1200">
                <a:latin typeface="Times New Roman"/>
              </a:rPr>
              <a:t>{1, 3, 4}, {1, 3, 5},</a:t>
            </a:r>
          </a:p>
          <a:p>
            <a:pPr marL="114300" indent="0">
              <a:lnSpc>
                <a:spcPts val="2232"/>
              </a:lnSpc>
            </a:pPr>
            <a:r>
              <a:rPr lang="vi" sz="1200">
                <a:latin typeface="Times New Roman"/>
              </a:rPr>
              <a:t>{2, 3, 4}, {2, 3, 5},</a:t>
            </a:r>
          </a:p>
          <a:p>
            <a:pPr marL="114300" indent="0">
              <a:lnSpc>
                <a:spcPts val="2232"/>
              </a:lnSpc>
            </a:pPr>
            <a:r>
              <a:rPr lang="vi" sz="1200">
                <a:latin typeface="Times New Roman"/>
              </a:rPr>
              <a:t>{3, 4, 5}</a:t>
            </a:r>
          </a:p>
          <a:p>
            <a:pPr indent="0" algn="just">
              <a:spcAft>
                <a:spcPts val="420"/>
              </a:spcAft>
            </a:pPr>
            <a:r>
              <a:rPr lang="vi" sz="1200" baseline="30000">
                <a:latin typeface="Times New Roman"/>
              </a:rPr>
              <a:t>}</a:t>
            </a:r>
          </a:p>
          <a:p>
            <a:pPr indent="0" algn="just">
              <a:lnSpc>
                <a:spcPts val="2232"/>
              </a:lnSpc>
            </a:pPr>
            <a:r>
              <a:rPr lang="vi" sz="1200">
                <a:latin typeface="Times New Roman"/>
              </a:rPr>
              <a:t>(a) Chiến lược sinh ứng viên </a:t>
            </a:r>
            <a:r>
              <a:rPr lang="en-US" sz="1200">
                <a:latin typeface="Times New Roman"/>
              </a:rPr>
              <a:t>Fk</a:t>
            </a:r>
            <a:r>
              <a:rPr lang="en-US" sz="800">
                <a:latin typeface="Times New Roman"/>
              </a:rPr>
              <a:t>-1</a:t>
            </a:r>
            <a:r>
              <a:rPr lang="en-US" sz="1200">
                <a:latin typeface="Times New Roman"/>
              </a:rPr>
              <a:t> </a:t>
            </a:r>
            <a:r>
              <a:rPr lang="vi" sz="1200" baseline="30000">
                <a:latin typeface="Times New Roman"/>
              </a:rPr>
              <a:t>x</a:t>
            </a:r>
            <a:r>
              <a:rPr lang="vi" sz="1200">
                <a:latin typeface="Times New Roman"/>
              </a:rPr>
              <a:t> </a:t>
            </a:r>
            <a:r>
              <a:rPr lang="en-US" sz="1200">
                <a:latin typeface="Times New Roman"/>
              </a:rPr>
              <a:t>F</a:t>
            </a:r>
            <a:r>
              <a:rPr lang="en-US" sz="800">
                <a:latin typeface="Times New Roman"/>
              </a:rPr>
              <a:t>1</a:t>
            </a:r>
          </a:p>
          <a:p>
            <a:pPr indent="0" algn="just">
              <a:lnSpc>
                <a:spcPts val="2232"/>
              </a:lnSpc>
            </a:pPr>
            <a:r>
              <a:rPr lang="vi" sz="1200" b="1">
                <a:latin typeface="Times New Roman"/>
              </a:rPr>
              <a:t>Yêu cầu: </a:t>
            </a:r>
            <a:r>
              <a:rPr lang="vi" sz="1200">
                <a:latin typeface="Times New Roman"/>
              </a:rPr>
              <a:t>Liệt kê tất cả </a:t>
            </a:r>
            <a:r>
              <a:rPr lang="en-US" sz="1200">
                <a:latin typeface="Times New Roman"/>
              </a:rPr>
              <a:t>candidate </a:t>
            </a:r>
            <a:r>
              <a:rPr lang="vi" sz="1200">
                <a:latin typeface="Times New Roman"/>
              </a:rPr>
              <a:t>4-itemsets sử dụng chiến lược hợp nhất </a:t>
            </a:r>
            <a:r>
              <a:rPr lang="en-US" sz="1200">
                <a:latin typeface="Times New Roman"/>
              </a:rPr>
              <a:t>Fk</a:t>
            </a:r>
            <a:r>
              <a:rPr lang="en-US" sz="800">
                <a:latin typeface="Times New Roman"/>
              </a:rPr>
              <a:t>-1</a:t>
            </a:r>
            <a:r>
              <a:rPr lang="en-US" sz="1200">
                <a:latin typeface="Times New Roman"/>
              </a:rPr>
              <a:t> </a:t>
            </a:r>
            <a:r>
              <a:rPr lang="vi" sz="1200">
                <a:latin typeface="Times New Roman"/>
              </a:rPr>
              <a:t>x </a:t>
            </a:r>
            <a:r>
              <a:rPr lang="en-US" sz="1200">
                <a:latin typeface="Times New Roman"/>
              </a:rPr>
              <a:t>F</a:t>
            </a:r>
            <a:r>
              <a:rPr lang="en-US" sz="800">
                <a:latin typeface="Times New Roman"/>
              </a:rPr>
              <a:t>1</a:t>
            </a:r>
            <a:r>
              <a:rPr lang="en-US" sz="1200">
                <a:latin typeface="Times New Roman"/>
              </a:rPr>
              <a:t>.</a:t>
            </a:r>
          </a:p>
          <a:p>
            <a:pPr indent="0" algn="just">
              <a:lnSpc>
                <a:spcPts val="2232"/>
              </a:lnSpc>
            </a:pPr>
            <a:r>
              <a:rPr lang="vi" sz="1200" b="1">
                <a:latin typeface="Times New Roman"/>
              </a:rPr>
              <a:t>Cách thực hiện: </a:t>
            </a:r>
            <a:r>
              <a:rPr lang="vi" sz="1200">
                <a:latin typeface="Times New Roman"/>
              </a:rPr>
              <a:t>Lấy mỗi tập trong </a:t>
            </a:r>
            <a:r>
              <a:rPr lang="en-US" sz="1200">
                <a:latin typeface="Times New Roman"/>
              </a:rPr>
              <a:t>F</a:t>
            </a:r>
            <a:r>
              <a:rPr lang="en-US" sz="800">
                <a:latin typeface="Times New Roman"/>
              </a:rPr>
              <a:t>3</a:t>
            </a:r>
            <a:r>
              <a:rPr lang="en-US" sz="1200">
                <a:latin typeface="Times New Roman"/>
              </a:rPr>
              <a:t> </a:t>
            </a:r>
            <a:r>
              <a:rPr lang="vi" sz="1200">
                <a:latin typeface="Times New Roman"/>
              </a:rPr>
              <a:t>kết hợp với 1 </a:t>
            </a:r>
            <a:r>
              <a:rPr lang="en-US" sz="1200">
                <a:latin typeface="Times New Roman"/>
              </a:rPr>
              <a:t>item </a:t>
            </a:r>
            <a:r>
              <a:rPr lang="vi" sz="1200">
                <a:latin typeface="Times New Roman"/>
              </a:rPr>
              <a:t>bất kỳ trong bộ dữ liệu (từ 1 đến 5) chưa có trong tập đó, sau đó sắp xếp và loại bỏ trùng lặp.</a:t>
            </a:r>
          </a:p>
          <a:p>
            <a:pPr marL="254000" indent="0" algn="just">
              <a:lnSpc>
                <a:spcPts val="2232"/>
              </a:lnSpc>
            </a:pPr>
            <a:r>
              <a:rPr lang="vi" sz="1200">
                <a:latin typeface="Times New Roman"/>
              </a:rPr>
              <a:t>•    Kết hợp từ {1,    2, 3}:    thêm    4    ^    {1,    2, 3,    4};    thêm 5    ^ {1, 2, 3, 5}</a:t>
            </a:r>
          </a:p>
          <a:p>
            <a:pPr marL="254000" indent="0" algn="just">
              <a:lnSpc>
                <a:spcPts val="2232"/>
              </a:lnSpc>
            </a:pPr>
            <a:r>
              <a:rPr lang="vi" sz="1200">
                <a:latin typeface="Times New Roman"/>
              </a:rPr>
              <a:t>•    Kết hợp từ {1,    2, 4}:    thêm    3    (trùng); thêm 5    ^ {1,    2, 4,    5}</a:t>
            </a:r>
          </a:p>
          <a:p>
            <a:pPr marL="254000" indent="0" algn="just">
              <a:lnSpc>
                <a:spcPts val="2232"/>
              </a:lnSpc>
            </a:pPr>
            <a:r>
              <a:rPr lang="vi" sz="1200">
                <a:latin typeface="Times New Roman"/>
              </a:rPr>
              <a:t>•    Kết hợp từ {1, 2, 5}: thêm 3 (trùng); thêm 4 (trùng)</a:t>
            </a:r>
          </a:p>
          <a:p>
            <a:pPr marL="254000" indent="0" algn="just">
              <a:lnSpc>
                <a:spcPts val="2232"/>
              </a:lnSpc>
            </a:pPr>
            <a:r>
              <a:rPr lang="vi" sz="1200">
                <a:latin typeface="Times New Roman"/>
              </a:rPr>
              <a:t>•    Kết hợp từ {1,    3, 4}:    thêm    5    ^    {1,    3, 4,    5}</a:t>
            </a:r>
          </a:p>
          <a:p>
            <a:pPr marL="254000" indent="0" algn="just">
              <a:lnSpc>
                <a:spcPts val="2232"/>
              </a:lnSpc>
            </a:pPr>
            <a:r>
              <a:rPr lang="vi" sz="1200">
                <a:latin typeface="Times New Roman"/>
              </a:rPr>
              <a:t>•    Kết hợp từ {2,    3, 4}:    thêm    5    ^    {2,    3, 4,    5}</a:t>
            </a:r>
          </a:p>
          <a:p>
            <a:pPr marL="254000" indent="0" algn="just">
              <a:lnSpc>
                <a:spcPts val="2232"/>
              </a:lnSpc>
            </a:pPr>
            <a:r>
              <a:rPr lang="vi" sz="1200">
                <a:latin typeface="Times New Roman"/>
              </a:rPr>
              <a:t>•    Các tổ hợp khác đều sinh ra các tập trùng lặp với danh sách trên.</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1063752" y="707136"/>
            <a:ext cx="6001512" cy="7848600"/>
          </a:xfrm>
          <a:prstGeom prst="rect">
            <a:avLst/>
          </a:prstGeom>
        </p:spPr>
        <p:txBody>
          <a:bodyPr lIns="0" tIns="0" rIns="0" bIns="0">
            <a:noAutofit/>
          </a:bodyPr>
          <a:lstStyle/>
          <a:p>
            <a:pPr indent="0" algn="just">
              <a:lnSpc>
                <a:spcPts val="2232"/>
              </a:lnSpc>
            </a:pPr>
            <a:r>
              <a:rPr lang="vi" sz="1200" b="1">
                <a:latin typeface="Times New Roman"/>
              </a:rPr>
              <a:t>Kết quả (Danh sách </a:t>
            </a:r>
            <a:r>
              <a:rPr lang="en-US" sz="1200" b="1">
                <a:latin typeface="Times New Roman"/>
              </a:rPr>
              <a:t>C</a:t>
            </a:r>
            <a:r>
              <a:rPr lang="en-US" sz="800" b="1">
                <a:latin typeface="Times New Roman"/>
              </a:rPr>
              <a:t>4</a:t>
            </a:r>
            <a:r>
              <a:rPr lang="en-US" sz="1200" b="1">
                <a:latin typeface="Times New Roman"/>
              </a:rPr>
              <a:t>):</a:t>
            </a:r>
          </a:p>
          <a:p>
            <a:pPr indent="0" algn="just">
              <a:lnSpc>
                <a:spcPts val="2232"/>
              </a:lnSpc>
            </a:pPr>
            <a:r>
              <a:rPr lang="vi" sz="1200">
                <a:latin typeface="Times New Roman"/>
              </a:rPr>
              <a:t>{1, 2, 3, 4}, {1, 2, 3, 5}, {1, 2, 4, 5}, {1, 3, 4, 5}, {2, 3, 4, 5}</a:t>
            </a:r>
          </a:p>
          <a:p>
            <a:pPr indent="0" algn="just">
              <a:lnSpc>
                <a:spcPts val="2232"/>
              </a:lnSpc>
            </a:pPr>
            <a:r>
              <a:rPr lang="vi" sz="1200">
                <a:latin typeface="Times New Roman"/>
              </a:rPr>
              <a:t>(b)    Chiến lược sinh ứng viên Apriori (Bước </a:t>
            </a:r>
            <a:r>
              <a:rPr lang="en-US" sz="1200">
                <a:latin typeface="Times New Roman"/>
              </a:rPr>
              <a:t>Join)</a:t>
            </a:r>
          </a:p>
          <a:p>
            <a:pPr indent="0" algn="just">
              <a:lnSpc>
                <a:spcPts val="2232"/>
              </a:lnSpc>
            </a:pPr>
            <a:r>
              <a:rPr lang="vi" sz="1200" b="1">
                <a:latin typeface="Times New Roman"/>
              </a:rPr>
              <a:t>Yêu cầu: </a:t>
            </a:r>
            <a:r>
              <a:rPr lang="vi" sz="1200">
                <a:latin typeface="Times New Roman"/>
              </a:rPr>
              <a:t>Liệt kê </a:t>
            </a:r>
            <a:r>
              <a:rPr lang="en-US" sz="1200">
                <a:latin typeface="Times New Roman"/>
              </a:rPr>
              <a:t>candidate </a:t>
            </a:r>
            <a:r>
              <a:rPr lang="vi" sz="1200">
                <a:latin typeface="Times New Roman"/>
              </a:rPr>
              <a:t>4-itemsets sử dụng thủ tục sinh của Apriori </a:t>
            </a:r>
            <a:r>
              <a:rPr lang="en-US" sz="1200">
                <a:latin typeface="Times New Roman"/>
              </a:rPr>
              <a:t>(Fk</a:t>
            </a:r>
            <a:r>
              <a:rPr lang="en-US" sz="800">
                <a:latin typeface="Times New Roman"/>
              </a:rPr>
              <a:t>-1</a:t>
            </a:r>
            <a:r>
              <a:rPr lang="en-US" sz="1200">
                <a:latin typeface="Times New Roman"/>
              </a:rPr>
              <a:t> </a:t>
            </a:r>
            <a:r>
              <a:rPr lang="vi" sz="1200" baseline="30000">
                <a:latin typeface="Times New Roman"/>
              </a:rPr>
              <a:t>x</a:t>
            </a:r>
            <a:r>
              <a:rPr lang="vi" sz="1200">
                <a:latin typeface="Times New Roman"/>
              </a:rPr>
              <a:t> </a:t>
            </a:r>
            <a:r>
              <a:rPr lang="en-US" sz="1200">
                <a:latin typeface="Times New Roman"/>
              </a:rPr>
              <a:t>Fk</a:t>
            </a:r>
            <a:r>
              <a:rPr lang="en-US" sz="800">
                <a:latin typeface="Times New Roman"/>
              </a:rPr>
              <a:t>-1</a:t>
            </a:r>
            <a:r>
              <a:rPr lang="en-US" sz="1200">
                <a:latin typeface="Times New Roman"/>
              </a:rPr>
              <a:t>).</a:t>
            </a:r>
          </a:p>
          <a:p>
            <a:pPr indent="0" algn="just">
              <a:lnSpc>
                <a:spcPts val="2232"/>
              </a:lnSpc>
            </a:pPr>
            <a:r>
              <a:rPr lang="vi" sz="1200" b="1">
                <a:latin typeface="Times New Roman"/>
              </a:rPr>
              <a:t>Quy tắc: </a:t>
            </a:r>
            <a:r>
              <a:rPr lang="vi" sz="1200">
                <a:latin typeface="Times New Roman"/>
              </a:rPr>
              <a:t>Kết hợp hai tập itemset L</a:t>
            </a:r>
            <a:r>
              <a:rPr lang="vi" sz="800">
                <a:latin typeface="Times New Roman"/>
              </a:rPr>
              <a:t>1</a:t>
            </a:r>
            <a:r>
              <a:rPr lang="vi" sz="1200">
                <a:latin typeface="Times New Roman"/>
              </a:rPr>
              <a:t> và L</a:t>
            </a:r>
            <a:r>
              <a:rPr lang="vi" sz="800">
                <a:latin typeface="Times New Roman"/>
              </a:rPr>
              <a:t>2</a:t>
            </a:r>
            <a:r>
              <a:rPr lang="vi" sz="1200">
                <a:latin typeface="Times New Roman"/>
              </a:rPr>
              <a:t> trong </a:t>
            </a:r>
            <a:r>
              <a:rPr lang="en-US" sz="1200">
                <a:latin typeface="Times New Roman"/>
              </a:rPr>
              <a:t>F</a:t>
            </a:r>
            <a:r>
              <a:rPr lang="en-US" sz="800">
                <a:latin typeface="Times New Roman"/>
              </a:rPr>
              <a:t>3</a:t>
            </a:r>
            <a:r>
              <a:rPr lang="en-US" sz="1200">
                <a:latin typeface="Times New Roman"/>
              </a:rPr>
              <a:t> </a:t>
            </a:r>
            <a:r>
              <a:rPr lang="vi" sz="1200">
                <a:latin typeface="Times New Roman"/>
              </a:rPr>
              <a:t>nếu chúng có cùng k-2 (tức là 4-2=2) phần tử đầu tiên.</a:t>
            </a:r>
          </a:p>
          <a:p>
            <a:pPr indent="0" algn="just">
              <a:lnSpc>
                <a:spcPts val="2232"/>
              </a:lnSpc>
            </a:pPr>
            <a:r>
              <a:rPr lang="vi" sz="1200" b="1">
                <a:latin typeface="Times New Roman"/>
              </a:rPr>
              <a:t>Chi tiết thực hiện:</a:t>
            </a:r>
          </a:p>
          <a:p>
            <a:pPr marL="241300" indent="0" algn="just">
              <a:lnSpc>
                <a:spcPts val="2232"/>
              </a:lnSpc>
            </a:pPr>
            <a:r>
              <a:rPr lang="vi" sz="1200" b="1">
                <a:latin typeface="Times New Roman"/>
              </a:rPr>
              <a:t>•    Tiền tố chung {1, 2}:</a:t>
            </a:r>
          </a:p>
          <a:p>
            <a:pPr marL="711200" indent="0" algn="just">
              <a:lnSpc>
                <a:spcPts val="2232"/>
              </a:lnSpc>
            </a:pPr>
            <a:r>
              <a:rPr lang="vi" sz="900" spc="-150">
                <a:latin typeface="Courier New"/>
              </a:rPr>
              <a:t>o    </a:t>
            </a:r>
            <a:r>
              <a:rPr lang="vi" sz="1200">
                <a:latin typeface="Times New Roman"/>
              </a:rPr>
              <a:t>{1,    2, </a:t>
            </a:r>
            <a:r>
              <a:rPr lang="vi" sz="1200" b="1">
                <a:latin typeface="Times New Roman"/>
              </a:rPr>
              <a:t>3</a:t>
            </a:r>
            <a:r>
              <a:rPr lang="vi" sz="1200">
                <a:latin typeface="Times New Roman"/>
              </a:rPr>
              <a:t>} + {1, 2,    </a:t>
            </a:r>
            <a:r>
              <a:rPr lang="vi" sz="1200" b="1">
                <a:latin typeface="Times New Roman"/>
              </a:rPr>
              <a:t>4</a:t>
            </a:r>
            <a:r>
              <a:rPr lang="vi" sz="1200">
                <a:latin typeface="Times New Roman"/>
              </a:rPr>
              <a:t>} ^    {1, 2, 3,    4}</a:t>
            </a:r>
          </a:p>
          <a:p>
            <a:pPr marL="711200" indent="0" algn="just">
              <a:lnSpc>
                <a:spcPts val="2232"/>
              </a:lnSpc>
            </a:pPr>
            <a:r>
              <a:rPr lang="vi" sz="900" spc="-150">
                <a:latin typeface="Courier New"/>
              </a:rPr>
              <a:t>o    </a:t>
            </a:r>
            <a:r>
              <a:rPr lang="vi" sz="1200">
                <a:latin typeface="Times New Roman"/>
              </a:rPr>
              <a:t>{1,    2, </a:t>
            </a:r>
            <a:r>
              <a:rPr lang="vi" sz="1200" b="1">
                <a:latin typeface="Times New Roman"/>
              </a:rPr>
              <a:t>3</a:t>
            </a:r>
            <a:r>
              <a:rPr lang="vi" sz="1200">
                <a:latin typeface="Times New Roman"/>
              </a:rPr>
              <a:t>} + {1, 2,    </a:t>
            </a:r>
            <a:r>
              <a:rPr lang="vi" sz="1200" b="1">
                <a:latin typeface="Times New Roman"/>
              </a:rPr>
              <a:t>5</a:t>
            </a:r>
            <a:r>
              <a:rPr lang="vi" sz="1200">
                <a:latin typeface="Times New Roman"/>
              </a:rPr>
              <a:t>} ^    {1, 2, 3,    5}</a:t>
            </a:r>
          </a:p>
          <a:p>
            <a:pPr marL="711200" indent="0" algn="just">
              <a:lnSpc>
                <a:spcPts val="2232"/>
              </a:lnSpc>
            </a:pPr>
            <a:r>
              <a:rPr lang="vi" sz="900" spc="-150">
                <a:latin typeface="Courier New"/>
              </a:rPr>
              <a:t>o    </a:t>
            </a:r>
            <a:r>
              <a:rPr lang="vi" sz="1200">
                <a:latin typeface="Times New Roman"/>
              </a:rPr>
              <a:t>{1,    2, </a:t>
            </a:r>
            <a:r>
              <a:rPr lang="vi" sz="1200" b="1">
                <a:latin typeface="Times New Roman"/>
              </a:rPr>
              <a:t>4</a:t>
            </a:r>
            <a:r>
              <a:rPr lang="vi" sz="1200">
                <a:latin typeface="Times New Roman"/>
              </a:rPr>
              <a:t>} + {1, 2,    </a:t>
            </a:r>
            <a:r>
              <a:rPr lang="vi" sz="1200" b="1">
                <a:latin typeface="Times New Roman"/>
              </a:rPr>
              <a:t>5</a:t>
            </a:r>
            <a:r>
              <a:rPr lang="vi" sz="1200">
                <a:latin typeface="Times New Roman"/>
              </a:rPr>
              <a:t>} ^    {1, 2, 4,    5}</a:t>
            </a:r>
          </a:p>
          <a:p>
            <a:pPr marL="241300" indent="0" algn="just">
              <a:lnSpc>
                <a:spcPts val="2232"/>
              </a:lnSpc>
            </a:pPr>
            <a:r>
              <a:rPr lang="vi" sz="1200" b="1">
                <a:latin typeface="Times New Roman"/>
              </a:rPr>
              <a:t>•    Tiền tố chung {1, 3}:</a:t>
            </a:r>
          </a:p>
          <a:p>
            <a:pPr marL="711200" indent="0" algn="just">
              <a:lnSpc>
                <a:spcPts val="2232"/>
              </a:lnSpc>
            </a:pPr>
            <a:r>
              <a:rPr lang="vi" sz="900" spc="-150">
                <a:latin typeface="Courier New"/>
              </a:rPr>
              <a:t>o </a:t>
            </a:r>
            <a:r>
              <a:rPr lang="vi" sz="1200">
                <a:latin typeface="Times New Roman"/>
              </a:rPr>
              <a:t>{1, 3, </a:t>
            </a:r>
            <a:r>
              <a:rPr lang="vi" sz="1200" b="1">
                <a:latin typeface="Times New Roman"/>
              </a:rPr>
              <a:t>4</a:t>
            </a:r>
            <a:r>
              <a:rPr lang="vi" sz="1200">
                <a:latin typeface="Times New Roman"/>
              </a:rPr>
              <a:t>} + {1, 3, </a:t>
            </a:r>
            <a:r>
              <a:rPr lang="vi" sz="1200" b="1">
                <a:latin typeface="Times New Roman"/>
              </a:rPr>
              <a:t>5</a:t>
            </a:r>
            <a:r>
              <a:rPr lang="vi" sz="1200">
                <a:latin typeface="Times New Roman"/>
              </a:rPr>
              <a:t>} ^ {1, 3, 4, 5}</a:t>
            </a:r>
          </a:p>
          <a:p>
            <a:pPr marL="241300" indent="0" algn="just">
              <a:lnSpc>
                <a:spcPts val="2232"/>
              </a:lnSpc>
            </a:pPr>
            <a:r>
              <a:rPr lang="vi" sz="1200" b="1">
                <a:latin typeface="Times New Roman"/>
              </a:rPr>
              <a:t>•    Tiền tố chung {2, 3}:</a:t>
            </a:r>
          </a:p>
          <a:p>
            <a:pPr marL="711200" indent="0" algn="just">
              <a:lnSpc>
                <a:spcPts val="2232"/>
              </a:lnSpc>
            </a:pPr>
            <a:r>
              <a:rPr lang="vi" sz="900" spc="-150">
                <a:latin typeface="Courier New"/>
              </a:rPr>
              <a:t>o </a:t>
            </a:r>
            <a:r>
              <a:rPr lang="vi" sz="1200">
                <a:latin typeface="Times New Roman"/>
              </a:rPr>
              <a:t>{2, 3, </a:t>
            </a:r>
            <a:r>
              <a:rPr lang="vi" sz="1200" b="1">
                <a:latin typeface="Times New Roman"/>
              </a:rPr>
              <a:t>4</a:t>
            </a:r>
            <a:r>
              <a:rPr lang="vi" sz="1200">
                <a:latin typeface="Times New Roman"/>
              </a:rPr>
              <a:t>} + {2, 3, </a:t>
            </a:r>
            <a:r>
              <a:rPr lang="vi" sz="1200" b="1">
                <a:latin typeface="Times New Roman"/>
              </a:rPr>
              <a:t>5</a:t>
            </a:r>
            <a:r>
              <a:rPr lang="vi" sz="1200">
                <a:latin typeface="Times New Roman"/>
              </a:rPr>
              <a:t>} ^ {2, 3, 4, 5}</a:t>
            </a:r>
          </a:p>
          <a:p>
            <a:pPr marL="241300" indent="0" algn="just">
              <a:lnSpc>
                <a:spcPts val="2232"/>
              </a:lnSpc>
            </a:pPr>
            <a:r>
              <a:rPr lang="vi" sz="1200" b="1">
                <a:latin typeface="Times New Roman"/>
              </a:rPr>
              <a:t>•    Tiền tố chung {3, 4}: </a:t>
            </a:r>
            <a:r>
              <a:rPr lang="vi" sz="1200">
                <a:latin typeface="Times New Roman"/>
              </a:rPr>
              <a:t>Chỉ có tập {3, 4, 5}, không có cặp để ghép.</a:t>
            </a:r>
          </a:p>
          <a:p>
            <a:pPr indent="0" algn="just">
              <a:lnSpc>
                <a:spcPts val="2232"/>
              </a:lnSpc>
            </a:pPr>
            <a:r>
              <a:rPr lang="vi" sz="1200" b="1">
                <a:latin typeface="Times New Roman"/>
              </a:rPr>
              <a:t>Kết quả (Danh sách C</a:t>
            </a:r>
            <a:r>
              <a:rPr lang="vi" sz="800" b="1">
                <a:latin typeface="Times New Roman"/>
              </a:rPr>
              <a:t>4 </a:t>
            </a:r>
            <a:r>
              <a:rPr lang="vi" sz="1200" b="1">
                <a:latin typeface="Times New Roman"/>
              </a:rPr>
              <a:t>sau bước </a:t>
            </a:r>
            <a:r>
              <a:rPr lang="en-US" sz="1200" b="1">
                <a:latin typeface="Times New Roman"/>
              </a:rPr>
              <a:t>Join):</a:t>
            </a:r>
          </a:p>
          <a:p>
            <a:pPr indent="0" algn="just">
              <a:lnSpc>
                <a:spcPts val="2232"/>
              </a:lnSpc>
            </a:pPr>
            <a:r>
              <a:rPr lang="vi" sz="1200">
                <a:latin typeface="Times New Roman"/>
              </a:rPr>
              <a:t>{1, 2, 3, 4}, {1, 2, 3, 5}, {1, 2, 4, 5}, {1, 3, 4, 5}, {2, 3, 4, 5}</a:t>
            </a:r>
          </a:p>
          <a:p>
            <a:pPr indent="0" algn="just">
              <a:lnSpc>
                <a:spcPts val="2232"/>
              </a:lnSpc>
            </a:pPr>
            <a:r>
              <a:rPr lang="vi" sz="1200">
                <a:latin typeface="Times New Roman"/>
              </a:rPr>
              <a:t>(c)    Bước Cắt tỉa </a:t>
            </a:r>
            <a:r>
              <a:rPr lang="en-US" sz="1200">
                <a:latin typeface="Times New Roman"/>
              </a:rPr>
              <a:t>(Pruning Step)</a:t>
            </a:r>
          </a:p>
          <a:p>
            <a:pPr indent="0" algn="just">
              <a:lnSpc>
                <a:spcPts val="2232"/>
              </a:lnSpc>
              <a:spcAft>
                <a:spcPts val="420"/>
              </a:spcAft>
            </a:pPr>
            <a:r>
              <a:rPr lang="vi" sz="1200" b="1">
                <a:latin typeface="Times New Roman"/>
              </a:rPr>
              <a:t>Yêu cầu: </a:t>
            </a:r>
            <a:r>
              <a:rPr lang="vi" sz="1200">
                <a:latin typeface="Times New Roman"/>
              </a:rPr>
              <a:t>Liệt kê các ứng viên 4-itemsets còn sót lại sau bước cắt tỉa của thuật toán Apriori. </a:t>
            </a:r>
            <a:r>
              <a:rPr lang="vi" sz="1200" b="1">
                <a:latin typeface="Times New Roman"/>
              </a:rPr>
              <a:t>Quy tắc </a:t>
            </a:r>
            <a:r>
              <a:rPr lang="en-US" sz="1200" b="1">
                <a:latin typeface="Times New Roman"/>
              </a:rPr>
              <a:t>Pruning: </a:t>
            </a:r>
            <a:r>
              <a:rPr lang="vi" sz="1200">
                <a:latin typeface="Times New Roman"/>
              </a:rPr>
              <a:t>Một ứng viên k-itemset bị loại bỏ nếu bất kỳ tập con (k-1)-itemset nào của nó </a:t>
            </a:r>
            <a:r>
              <a:rPr lang="vi" sz="1200" b="1">
                <a:latin typeface="Times New Roman"/>
              </a:rPr>
              <a:t>không </a:t>
            </a:r>
            <a:r>
              <a:rPr lang="vi" sz="1200">
                <a:latin typeface="Times New Roman"/>
              </a:rPr>
              <a:t>nằm trong tập phổ biến </a:t>
            </a:r>
            <a:r>
              <a:rPr lang="en-US" sz="1200">
                <a:latin typeface="Times New Roman"/>
              </a:rPr>
              <a:t>Fk</a:t>
            </a:r>
            <a:r>
              <a:rPr lang="en-US" sz="800">
                <a:latin typeface="Times New Roman"/>
              </a:rPr>
              <a:t>-1</a:t>
            </a:r>
            <a:r>
              <a:rPr lang="en-US" sz="1200">
                <a:latin typeface="Times New Roman"/>
              </a:rPr>
              <a:t> (F</a:t>
            </a:r>
            <a:r>
              <a:rPr lang="en-US" sz="800">
                <a:latin typeface="Times New Roman"/>
              </a:rPr>
              <a:t>3</a:t>
            </a:r>
            <a:r>
              <a:rPr lang="en-US" sz="1200">
                <a:latin typeface="Times New Roman"/>
              </a:rPr>
              <a:t>).</a:t>
            </a:r>
          </a:p>
          <a:p>
            <a:pPr marL="241300" indent="0" algn="just">
              <a:lnSpc>
                <a:spcPts val="1128"/>
              </a:lnSpc>
            </a:pPr>
            <a:r>
              <a:rPr lang="vi" sz="1200" b="1">
                <a:latin typeface="Times New Roman"/>
              </a:rPr>
              <a:t>Ứng viên Các tâp con kích Kiểm tra tồn tai trong    „</a:t>
            </a:r>
          </a:p>
          <a:p>
            <a:pPr marL="1651000" indent="0" algn="just">
              <a:lnSpc>
                <a:spcPts val="1128"/>
              </a:lnSpc>
            </a:pPr>
            <a:r>
              <a:rPr lang="vi" sz="1200" b="1">
                <a:latin typeface="Times New Roman"/>
              </a:rPr>
              <a:t>’    ’    Kết luân</a:t>
            </a:r>
          </a:p>
          <a:p>
            <a:pPr marL="419100" indent="0" algn="just">
              <a:lnSpc>
                <a:spcPts val="1128"/>
              </a:lnSpc>
              <a:spcAft>
                <a:spcPts val="1680"/>
              </a:spcAft>
            </a:pPr>
            <a:r>
              <a:rPr lang="vi" sz="1200" b="1">
                <a:latin typeface="Times New Roman"/>
              </a:rPr>
              <a:t>C</a:t>
            </a:r>
            <a:r>
              <a:rPr lang="vi" sz="800" b="1">
                <a:latin typeface="Times New Roman"/>
              </a:rPr>
              <a:t>4    </a:t>
            </a:r>
            <a:r>
              <a:rPr lang="vi" sz="1200" b="1">
                <a:latin typeface="Times New Roman"/>
              </a:rPr>
              <a:t>thước 3    </a:t>
            </a:r>
            <a:r>
              <a:rPr lang="en-US" sz="1200" b="1">
                <a:latin typeface="Times New Roman"/>
              </a:rPr>
              <a:t>F</a:t>
            </a:r>
            <a:r>
              <a:rPr lang="en-US" sz="800" b="1">
                <a:latin typeface="Times New Roman"/>
              </a:rPr>
              <a:t>3</a:t>
            </a:r>
          </a:p>
          <a:p>
            <a:pPr marL="1574800" indent="0" algn="just">
              <a:spcAft>
                <a:spcPts val="1680"/>
              </a:spcAft>
            </a:pPr>
            <a:r>
              <a:rPr lang="vi" sz="1200">
                <a:latin typeface="Times New Roman"/>
              </a:rPr>
              <a:t>{1, 2, 3}    Có</a:t>
            </a:r>
          </a:p>
          <a:p>
            <a:pPr marL="152400" indent="0" algn="just">
              <a:spcAft>
                <a:spcPts val="1680"/>
              </a:spcAft>
            </a:pPr>
            <a:r>
              <a:rPr lang="vi" sz="1200">
                <a:latin typeface="Times New Roman"/>
              </a:rPr>
              <a:t>{1, 2, 3, 4}    {1, 2, 4}    Có    </a:t>
            </a:r>
            <a:r>
              <a:rPr lang="vi" sz="1200" b="1">
                <a:latin typeface="Times New Roman"/>
              </a:rPr>
              <a:t>GIỮ LẠI</a:t>
            </a:r>
          </a:p>
        </p:txBody>
      </p:sp>
      <p:sp>
        <p:nvSpPr>
          <p:cNvPr id="3" name="Rectangle 2"/>
          <p:cNvSpPr/>
          <p:nvPr/>
        </p:nvSpPr>
        <p:spPr>
          <a:xfrm>
            <a:off x="2624328" y="8845296"/>
            <a:ext cx="576072" cy="188976"/>
          </a:xfrm>
          <a:prstGeom prst="rect">
            <a:avLst/>
          </a:prstGeom>
        </p:spPr>
        <p:txBody>
          <a:bodyPr wrap="none" lIns="0" tIns="0" rIns="0" bIns="0">
            <a:noAutofit/>
          </a:bodyPr>
          <a:lstStyle/>
          <a:p>
            <a:pPr indent="0" algn="just">
              <a:spcBef>
                <a:spcPts val="1680"/>
              </a:spcBef>
            </a:pPr>
            <a:r>
              <a:rPr lang="vi" sz="1200">
                <a:latin typeface="Times New Roman"/>
              </a:rPr>
              <a:t>{1, 3, 4}</a:t>
            </a:r>
          </a:p>
        </p:txBody>
      </p:sp>
      <p:sp>
        <p:nvSpPr>
          <p:cNvPr id="4" name="Rectangle 3"/>
          <p:cNvSpPr/>
          <p:nvPr/>
        </p:nvSpPr>
        <p:spPr>
          <a:xfrm>
            <a:off x="4559808" y="8848344"/>
            <a:ext cx="216408" cy="152400"/>
          </a:xfrm>
          <a:prstGeom prst="rect">
            <a:avLst/>
          </a:prstGeom>
        </p:spPr>
        <p:txBody>
          <a:bodyPr wrap="none" lIns="0" tIns="0" rIns="0" bIns="0">
            <a:noAutofit/>
          </a:bodyPr>
          <a:lstStyle/>
          <a:p>
            <a:pPr indent="0"/>
            <a:r>
              <a:rPr lang="vi" sz="1200">
                <a:latin typeface="Times New Roman"/>
              </a:rPr>
              <a:t>Có</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085088" y="722376"/>
          <a:ext cx="5961888" cy="8351520"/>
        </p:xfrm>
        <a:graphic>
          <a:graphicData uri="http://schemas.openxmlformats.org/drawingml/2006/table">
            <a:tbl>
              <a:tblPr/>
              <a:tblGrid>
                <a:gridCol w="96012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70888">
                  <a:extLst>
                    <a:ext uri="{9D8B030D-6E8A-4147-A177-3AD203B41FA5}">
                      <a16:colId xmlns:a16="http://schemas.microsoft.com/office/drawing/2014/main" val="20002"/>
                    </a:ext>
                  </a:extLst>
                </a:gridCol>
                <a:gridCol w="1493520">
                  <a:extLst>
                    <a:ext uri="{9D8B030D-6E8A-4147-A177-3AD203B41FA5}">
                      <a16:colId xmlns:a16="http://schemas.microsoft.com/office/drawing/2014/main" val="20003"/>
                    </a:ext>
                  </a:extLst>
                </a:gridCol>
              </a:tblGrid>
              <a:tr h="771144">
                <a:tc>
                  <a:txBody>
                    <a:bodyPr/>
                    <a:lstStyle/>
                    <a:p>
                      <a:pPr indent="0" algn="ctr">
                        <a:lnSpc>
                          <a:spcPts val="2280"/>
                        </a:lnSpc>
                      </a:pPr>
                      <a:r>
                        <a:rPr lang="vi" sz="1200" b="1">
                          <a:latin typeface="Times New Roman"/>
                        </a:rPr>
                        <a:t>Ứng viên C</a:t>
                      </a:r>
                      <a:r>
                        <a:rPr lang="vi" sz="800" b="1">
                          <a:latin typeface="Times New Roman"/>
                        </a:rPr>
                        <a:t>4</a:t>
                      </a:r>
                    </a:p>
                  </a:txBody>
                  <a:tcPr marL="0" marR="0" marT="0" marB="0" anchor="ctr"/>
                </a:tc>
                <a:tc>
                  <a:txBody>
                    <a:bodyPr/>
                    <a:lstStyle/>
                    <a:p>
                      <a:pPr indent="0" algn="ctr">
                        <a:lnSpc>
                          <a:spcPts val="2232"/>
                        </a:lnSpc>
                      </a:pPr>
                      <a:r>
                        <a:rPr lang="vi" sz="1200" b="1">
                          <a:latin typeface="Times New Roman"/>
                        </a:rPr>
                        <a:t>Các tập con kích thước 3</a:t>
                      </a:r>
                    </a:p>
                  </a:txBody>
                  <a:tcPr marL="0" marR="0" marT="0" marB="0" anchor="ctr"/>
                </a:tc>
                <a:tc>
                  <a:txBody>
                    <a:bodyPr/>
                    <a:lstStyle/>
                    <a:p>
                      <a:pPr marL="114300" indent="0">
                        <a:spcAft>
                          <a:spcPts val="840"/>
                        </a:spcAft>
                      </a:pPr>
                      <a:r>
                        <a:rPr lang="vi" sz="1200" b="1">
                          <a:latin typeface="Times New Roman"/>
                        </a:rPr>
                        <a:t>Kiểm tra tồn tại trong</a:t>
                      </a:r>
                    </a:p>
                    <a:p>
                      <a:pPr indent="0" algn="ctr"/>
                      <a:r>
                        <a:rPr lang="vi" sz="1200" b="1">
                          <a:latin typeface="Times New Roman"/>
                        </a:rPr>
                        <a:t>F</a:t>
                      </a:r>
                      <a:r>
                        <a:rPr lang="vi" sz="800" b="1">
                          <a:latin typeface="Times New Roman"/>
                        </a:rPr>
                        <a:t>3</a:t>
                      </a:r>
                    </a:p>
                  </a:txBody>
                  <a:tcPr marL="0" marR="0" marT="0" marB="0" anchor="ctr"/>
                </a:tc>
                <a:tc>
                  <a:txBody>
                    <a:bodyPr/>
                    <a:lstStyle/>
                    <a:p>
                      <a:pPr indent="0" algn="ctr"/>
                      <a:r>
                        <a:rPr lang="vi" sz="1200" b="1">
                          <a:latin typeface="Times New Roman"/>
                        </a:rPr>
                        <a:t>Kết luận</a:t>
                      </a:r>
                    </a:p>
                  </a:txBody>
                  <a:tcPr marL="0" marR="0" marT="0" marB="0" anchor="ctr"/>
                </a:tc>
                <a:extLst>
                  <a:ext uri="{0D108BD9-81ED-4DB2-BD59-A6C34878D82A}">
                    <a16:rowId xmlns:a16="http://schemas.microsoft.com/office/drawing/2014/main" val="10000"/>
                  </a:ext>
                </a:extLst>
              </a:tr>
              <a:tr h="454152">
                <a:tc>
                  <a:txBody>
                    <a:bodyPr/>
                    <a:lstStyle/>
                    <a:p>
                      <a:endParaRPr sz="2200"/>
                    </a:p>
                  </a:txBody>
                  <a:tcPr marL="0" marR="0" marT="0" marB="0"/>
                </a:tc>
                <a:tc>
                  <a:txBody>
                    <a:bodyPr/>
                    <a:lstStyle/>
                    <a:p>
                      <a:pPr indent="0" algn="ctr"/>
                      <a:r>
                        <a:rPr lang="vi" sz="1200">
                          <a:latin typeface="Times New Roman"/>
                        </a:rPr>
                        <a:t>{2, 3, 4}</a:t>
                      </a:r>
                    </a:p>
                  </a:txBody>
                  <a:tcPr marL="0" marR="0" marT="0" marB="0" anchor="ctr"/>
                </a:tc>
                <a:tc>
                  <a:txBody>
                    <a:bodyPr/>
                    <a:lstStyle/>
                    <a:p>
                      <a:pPr indent="0" algn="ctr"/>
                      <a:r>
                        <a:rPr lang="vi" sz="1200">
                          <a:latin typeface="Times New Roman"/>
                        </a:rPr>
                        <a:t>Có</a:t>
                      </a:r>
                    </a:p>
                  </a:txBody>
                  <a:tcPr marL="0" marR="0" marT="0" marB="0" anchor="ctr"/>
                </a:tc>
                <a:tc>
                  <a:txBody>
                    <a:bodyPr/>
                    <a:lstStyle/>
                    <a:p>
                      <a:endParaRPr sz="2200"/>
                    </a:p>
                  </a:txBody>
                  <a:tcPr marL="0" marR="0" marT="0" marB="0"/>
                </a:tc>
                <a:extLst>
                  <a:ext uri="{0D108BD9-81ED-4DB2-BD59-A6C34878D82A}">
                    <a16:rowId xmlns:a16="http://schemas.microsoft.com/office/drawing/2014/main" val="10001"/>
                  </a:ext>
                </a:extLst>
              </a:tr>
              <a:tr h="484632">
                <a:tc>
                  <a:txBody>
                    <a:bodyPr/>
                    <a:lstStyle/>
                    <a:p>
                      <a:endParaRPr sz="2300"/>
                    </a:p>
                  </a:txBody>
                  <a:tcPr marL="0" marR="0" marT="0" marB="0"/>
                </a:tc>
                <a:tc>
                  <a:txBody>
                    <a:bodyPr/>
                    <a:lstStyle/>
                    <a:p>
                      <a:pPr indent="0" algn="ctr"/>
                      <a:r>
                        <a:rPr lang="vi" sz="1200">
                          <a:latin typeface="Times New Roman"/>
                        </a:rPr>
                        <a:t>{1, 2, 3}</a:t>
                      </a:r>
                    </a:p>
                  </a:txBody>
                  <a:tcPr marL="0" marR="0" marT="0" marB="0" anchor="ctr"/>
                </a:tc>
                <a:tc>
                  <a:txBody>
                    <a:bodyPr/>
                    <a:lstStyle/>
                    <a:p>
                      <a:pPr indent="0" algn="ctr"/>
                      <a:r>
                        <a:rPr lang="vi" sz="1200">
                          <a:latin typeface="Times New Roman"/>
                        </a:rPr>
                        <a:t>Có</a:t>
                      </a:r>
                    </a:p>
                  </a:txBody>
                  <a:tcPr marL="0" marR="0" marT="0" marB="0" anchor="ctr"/>
                </a:tc>
                <a:tc>
                  <a:txBody>
                    <a:bodyPr/>
                    <a:lstStyle/>
                    <a:p>
                      <a:endParaRPr sz="2300"/>
                    </a:p>
                  </a:txBody>
                  <a:tcPr marL="0" marR="0" marT="0" marB="0"/>
                </a:tc>
                <a:extLst>
                  <a:ext uri="{0D108BD9-81ED-4DB2-BD59-A6C34878D82A}">
                    <a16:rowId xmlns:a16="http://schemas.microsoft.com/office/drawing/2014/main" val="10002"/>
                  </a:ext>
                </a:extLst>
              </a:tr>
              <a:tr h="356616">
                <a:tc>
                  <a:txBody>
                    <a:bodyPr/>
                    <a:lstStyle/>
                    <a:p>
                      <a:endParaRPr sz="1700"/>
                    </a:p>
                  </a:txBody>
                  <a:tcPr marL="0" marR="0" marT="0" marB="0"/>
                </a:tc>
                <a:tc>
                  <a:txBody>
                    <a:bodyPr/>
                    <a:lstStyle/>
                    <a:p>
                      <a:pPr indent="0" algn="ctr"/>
                      <a:r>
                        <a:rPr lang="vi" sz="1200">
                          <a:latin typeface="Times New Roman"/>
                        </a:rPr>
                        <a:t>{1, 2, 5}</a:t>
                      </a:r>
                    </a:p>
                  </a:txBody>
                  <a:tcPr marL="0" marR="0" marT="0" marB="0" anchor="b"/>
                </a:tc>
                <a:tc>
                  <a:txBody>
                    <a:bodyPr/>
                    <a:lstStyle/>
                    <a:p>
                      <a:pPr indent="0" algn="ctr"/>
                      <a:r>
                        <a:rPr lang="vi" sz="1200">
                          <a:latin typeface="Times New Roman"/>
                        </a:rPr>
                        <a:t>Có</a:t>
                      </a:r>
                    </a:p>
                  </a:txBody>
                  <a:tcPr marL="0" marR="0" marT="0" marB="0" anchor="b"/>
                </a:tc>
                <a:tc>
                  <a:txBody>
                    <a:bodyPr/>
                    <a:lstStyle/>
                    <a:p>
                      <a:endParaRPr sz="1700"/>
                    </a:p>
                  </a:txBody>
                  <a:tcPr marL="0" marR="0" marT="0" marB="0"/>
                </a:tc>
                <a:extLst>
                  <a:ext uri="{0D108BD9-81ED-4DB2-BD59-A6C34878D82A}">
                    <a16:rowId xmlns:a16="http://schemas.microsoft.com/office/drawing/2014/main" val="10003"/>
                  </a:ext>
                </a:extLst>
              </a:tr>
              <a:tr h="612648">
                <a:tc>
                  <a:txBody>
                    <a:bodyPr/>
                    <a:lstStyle/>
                    <a:p>
                      <a:pPr marL="139700" indent="0"/>
                      <a:r>
                        <a:rPr lang="vi" sz="1200">
                          <a:latin typeface="Times New Roman"/>
                        </a:rPr>
                        <a:t>{1, 2, 3, 5}</a:t>
                      </a:r>
                    </a:p>
                  </a:txBody>
                  <a:tcPr marL="0" marR="0" marT="0" marB="0"/>
                </a:tc>
                <a:tc>
                  <a:txBody>
                    <a:bodyPr/>
                    <a:lstStyle/>
                    <a:p>
                      <a:pPr indent="0" algn="ctr"/>
                      <a:r>
                        <a:rPr lang="vi" sz="1200">
                          <a:latin typeface="Times New Roman"/>
                        </a:rPr>
                        <a:t>{1, 3, 5}</a:t>
                      </a:r>
                    </a:p>
                  </a:txBody>
                  <a:tcPr marL="0" marR="0" marT="0" marB="0" anchor="ctr"/>
                </a:tc>
                <a:tc>
                  <a:txBody>
                    <a:bodyPr/>
                    <a:lstStyle/>
                    <a:p>
                      <a:pPr indent="0" algn="ctr"/>
                      <a:r>
                        <a:rPr lang="vi" sz="1200">
                          <a:latin typeface="Times New Roman"/>
                        </a:rPr>
                        <a:t>Có</a:t>
                      </a:r>
                    </a:p>
                  </a:txBody>
                  <a:tcPr marL="0" marR="0" marT="0" marB="0" anchor="ctr"/>
                </a:tc>
                <a:tc>
                  <a:txBody>
                    <a:bodyPr/>
                    <a:lstStyle/>
                    <a:p>
                      <a:pPr indent="0" algn="ctr"/>
                      <a:r>
                        <a:rPr lang="vi" sz="1200" b="1">
                          <a:latin typeface="Times New Roman"/>
                        </a:rPr>
                        <a:t>GIỮ LẠI</a:t>
                      </a:r>
                    </a:p>
                  </a:txBody>
                  <a:tcPr marL="0" marR="0" marT="0" marB="0"/>
                </a:tc>
                <a:extLst>
                  <a:ext uri="{0D108BD9-81ED-4DB2-BD59-A6C34878D82A}">
                    <a16:rowId xmlns:a16="http://schemas.microsoft.com/office/drawing/2014/main" val="10004"/>
                  </a:ext>
                </a:extLst>
              </a:tr>
              <a:tr h="484632">
                <a:tc>
                  <a:txBody>
                    <a:bodyPr/>
                    <a:lstStyle/>
                    <a:p>
                      <a:endParaRPr sz="2300"/>
                    </a:p>
                  </a:txBody>
                  <a:tcPr marL="0" marR="0" marT="0" marB="0"/>
                </a:tc>
                <a:tc>
                  <a:txBody>
                    <a:bodyPr/>
                    <a:lstStyle/>
                    <a:p>
                      <a:pPr indent="0" algn="ctr"/>
                      <a:r>
                        <a:rPr lang="vi" sz="1200">
                          <a:latin typeface="Times New Roman"/>
                        </a:rPr>
                        <a:t>{2, 3, 5}</a:t>
                      </a:r>
                    </a:p>
                  </a:txBody>
                  <a:tcPr marL="0" marR="0" marT="0" marB="0" anchor="ctr"/>
                </a:tc>
                <a:tc>
                  <a:txBody>
                    <a:bodyPr/>
                    <a:lstStyle/>
                    <a:p>
                      <a:pPr indent="0" algn="ctr"/>
                      <a:r>
                        <a:rPr lang="vi" sz="1200">
                          <a:latin typeface="Times New Roman"/>
                        </a:rPr>
                        <a:t>Có</a:t>
                      </a:r>
                    </a:p>
                  </a:txBody>
                  <a:tcPr marL="0" marR="0" marT="0" marB="0" anchor="ctr"/>
                </a:tc>
                <a:tc>
                  <a:txBody>
                    <a:bodyPr/>
                    <a:lstStyle/>
                    <a:p>
                      <a:endParaRPr sz="2300"/>
                    </a:p>
                  </a:txBody>
                  <a:tcPr marL="0" marR="0" marT="0" marB="0"/>
                </a:tc>
                <a:extLst>
                  <a:ext uri="{0D108BD9-81ED-4DB2-BD59-A6C34878D82A}">
                    <a16:rowId xmlns:a16="http://schemas.microsoft.com/office/drawing/2014/main" val="10005"/>
                  </a:ext>
                </a:extLst>
              </a:tr>
              <a:tr h="484632">
                <a:tc>
                  <a:txBody>
                    <a:bodyPr/>
                    <a:lstStyle/>
                    <a:p>
                      <a:endParaRPr sz="2300"/>
                    </a:p>
                  </a:txBody>
                  <a:tcPr marL="0" marR="0" marT="0" marB="0"/>
                </a:tc>
                <a:tc>
                  <a:txBody>
                    <a:bodyPr/>
                    <a:lstStyle/>
                    <a:p>
                      <a:pPr indent="0" algn="ctr"/>
                      <a:r>
                        <a:rPr lang="vi" sz="1200">
                          <a:latin typeface="Times New Roman"/>
                        </a:rPr>
                        <a:t>{1, 2, 4}</a:t>
                      </a:r>
                    </a:p>
                  </a:txBody>
                  <a:tcPr marL="0" marR="0" marT="0" marB="0" anchor="ctr"/>
                </a:tc>
                <a:tc>
                  <a:txBody>
                    <a:bodyPr/>
                    <a:lstStyle/>
                    <a:p>
                      <a:pPr indent="0" algn="ctr"/>
                      <a:r>
                        <a:rPr lang="vi" sz="1200">
                          <a:latin typeface="Times New Roman"/>
                        </a:rPr>
                        <a:t>Có</a:t>
                      </a:r>
                    </a:p>
                  </a:txBody>
                  <a:tcPr marL="0" marR="0" marT="0" marB="0" anchor="ctr"/>
                </a:tc>
                <a:tc>
                  <a:txBody>
                    <a:bodyPr/>
                    <a:lstStyle/>
                    <a:p>
                      <a:endParaRPr sz="2300"/>
                    </a:p>
                  </a:txBody>
                  <a:tcPr marL="0" marR="0" marT="0" marB="0"/>
                </a:tc>
                <a:extLst>
                  <a:ext uri="{0D108BD9-81ED-4DB2-BD59-A6C34878D82A}">
                    <a16:rowId xmlns:a16="http://schemas.microsoft.com/office/drawing/2014/main" val="10006"/>
                  </a:ext>
                </a:extLst>
              </a:tr>
              <a:tr h="966216">
                <a:tc>
                  <a:txBody>
                    <a:bodyPr/>
                    <a:lstStyle/>
                    <a:p>
                      <a:pPr marL="139700" indent="0"/>
                      <a:r>
                        <a:rPr lang="vi" sz="1200">
                          <a:latin typeface="Times New Roman"/>
                        </a:rPr>
                        <a:t>{1, 2, 4, 5}</a:t>
                      </a:r>
                    </a:p>
                  </a:txBody>
                  <a:tcPr marL="0" marR="0" marT="0" marB="0" anchor="ctr"/>
                </a:tc>
                <a:tc>
                  <a:txBody>
                    <a:bodyPr/>
                    <a:lstStyle/>
                    <a:p>
                      <a:pPr indent="0" algn="ctr">
                        <a:lnSpc>
                          <a:spcPts val="3816"/>
                        </a:lnSpc>
                      </a:pPr>
                      <a:r>
                        <a:rPr lang="vi" sz="1200">
                          <a:latin typeface="Times New Roman"/>
                        </a:rPr>
                        <a:t>{1, 2, 5} {1, 4, 5}</a:t>
                      </a:r>
                    </a:p>
                  </a:txBody>
                  <a:tcPr marL="0" marR="0" marT="0" marB="0" anchor="ctr"/>
                </a:tc>
                <a:tc>
                  <a:txBody>
                    <a:bodyPr/>
                    <a:lstStyle/>
                    <a:p>
                      <a:pPr indent="0" algn="ctr">
                        <a:spcAft>
                          <a:spcPts val="1680"/>
                        </a:spcAft>
                      </a:pPr>
                      <a:r>
                        <a:rPr lang="vi" sz="1200">
                          <a:latin typeface="Times New Roman"/>
                        </a:rPr>
                        <a:t>Có</a:t>
                      </a:r>
                    </a:p>
                    <a:p>
                      <a:pPr indent="0" algn="ctr"/>
                      <a:r>
                        <a:rPr lang="vi" sz="1200" b="1">
                          <a:latin typeface="Times New Roman"/>
                        </a:rPr>
                        <a:t>KHÔNG</a:t>
                      </a:r>
                    </a:p>
                  </a:txBody>
                  <a:tcPr marL="0" marR="0" marT="0" marB="0" anchor="ctr"/>
                </a:tc>
                <a:tc>
                  <a:txBody>
                    <a:bodyPr/>
                    <a:lstStyle/>
                    <a:p>
                      <a:pPr indent="0" algn="ctr">
                        <a:spcAft>
                          <a:spcPts val="840"/>
                        </a:spcAft>
                      </a:pPr>
                      <a:r>
                        <a:rPr lang="vi" sz="1200" b="1">
                          <a:latin typeface="Times New Roman"/>
                        </a:rPr>
                        <a:t>LOẠI BỎ</a:t>
                      </a:r>
                    </a:p>
                    <a:p>
                      <a:pPr indent="0" algn="ctr"/>
                      <a:r>
                        <a:rPr lang="en-US" sz="1200" b="1">
                          <a:latin typeface="Times New Roman"/>
                        </a:rPr>
                        <a:t>(PRUNE)</a:t>
                      </a:r>
                    </a:p>
                  </a:txBody>
                  <a:tcPr marL="0" marR="0" marT="0" marB="0" anchor="ctr"/>
                </a:tc>
                <a:extLst>
                  <a:ext uri="{0D108BD9-81ED-4DB2-BD59-A6C34878D82A}">
                    <a16:rowId xmlns:a16="http://schemas.microsoft.com/office/drawing/2014/main" val="10007"/>
                  </a:ext>
                </a:extLst>
              </a:tr>
              <a:tr h="481584">
                <a:tc>
                  <a:txBody>
                    <a:bodyPr/>
                    <a:lstStyle/>
                    <a:p>
                      <a:endParaRPr sz="2300"/>
                    </a:p>
                  </a:txBody>
                  <a:tcPr marL="0" marR="0" marT="0" marB="0"/>
                </a:tc>
                <a:tc>
                  <a:txBody>
                    <a:bodyPr/>
                    <a:lstStyle/>
                    <a:p>
                      <a:pPr indent="0" algn="ctr"/>
                      <a:r>
                        <a:rPr lang="vi" sz="1200">
                          <a:latin typeface="Times New Roman"/>
                        </a:rPr>
                        <a:t>{2, 4, 5}</a:t>
                      </a:r>
                    </a:p>
                  </a:txBody>
                  <a:tcPr marL="0" marR="0" marT="0" marB="0" anchor="ctr"/>
                </a:tc>
                <a:tc>
                  <a:txBody>
                    <a:bodyPr/>
                    <a:lstStyle/>
                    <a:p>
                      <a:pPr indent="0" algn="ctr"/>
                      <a:r>
                        <a:rPr lang="vi" sz="1200" b="1">
                          <a:latin typeface="Times New Roman"/>
                        </a:rPr>
                        <a:t>KHÔNG</a:t>
                      </a:r>
                    </a:p>
                  </a:txBody>
                  <a:tcPr marL="0" marR="0" marT="0" marB="0" anchor="ctr"/>
                </a:tc>
                <a:tc>
                  <a:txBody>
                    <a:bodyPr/>
                    <a:lstStyle/>
                    <a:p>
                      <a:endParaRPr sz="2300"/>
                    </a:p>
                  </a:txBody>
                  <a:tcPr marL="0" marR="0" marT="0" marB="0"/>
                </a:tc>
                <a:extLst>
                  <a:ext uri="{0D108BD9-81ED-4DB2-BD59-A6C34878D82A}">
                    <a16:rowId xmlns:a16="http://schemas.microsoft.com/office/drawing/2014/main" val="10008"/>
                  </a:ext>
                </a:extLst>
              </a:tr>
              <a:tr h="490728">
                <a:tc>
                  <a:txBody>
                    <a:bodyPr/>
                    <a:lstStyle/>
                    <a:p>
                      <a:endParaRPr sz="2400"/>
                    </a:p>
                  </a:txBody>
                  <a:tcPr marL="0" marR="0" marT="0" marB="0"/>
                </a:tc>
                <a:tc>
                  <a:txBody>
                    <a:bodyPr/>
                    <a:lstStyle/>
                    <a:p>
                      <a:pPr indent="0" algn="ctr"/>
                      <a:r>
                        <a:rPr lang="vi" sz="1200">
                          <a:latin typeface="Times New Roman"/>
                        </a:rPr>
                        <a:t>{1, 3, 4}</a:t>
                      </a:r>
                    </a:p>
                  </a:txBody>
                  <a:tcPr marL="0" marR="0" marT="0" marB="0" anchor="ctr"/>
                </a:tc>
                <a:tc>
                  <a:txBody>
                    <a:bodyPr/>
                    <a:lstStyle/>
                    <a:p>
                      <a:pPr indent="0" algn="ctr"/>
                      <a:r>
                        <a:rPr lang="vi" sz="1200">
                          <a:latin typeface="Times New Roman"/>
                        </a:rPr>
                        <a:t>Có</a:t>
                      </a:r>
                    </a:p>
                  </a:txBody>
                  <a:tcPr marL="0" marR="0" marT="0" marB="0" anchor="ctr"/>
                </a:tc>
                <a:tc>
                  <a:txBody>
                    <a:bodyPr/>
                    <a:lstStyle/>
                    <a:p>
                      <a:endParaRPr sz="2400"/>
                    </a:p>
                  </a:txBody>
                  <a:tcPr marL="0" marR="0" marT="0" marB="0"/>
                </a:tc>
                <a:extLst>
                  <a:ext uri="{0D108BD9-81ED-4DB2-BD59-A6C34878D82A}">
                    <a16:rowId xmlns:a16="http://schemas.microsoft.com/office/drawing/2014/main" val="10009"/>
                  </a:ext>
                </a:extLst>
              </a:tr>
              <a:tr h="966216">
                <a:tc>
                  <a:txBody>
                    <a:bodyPr/>
                    <a:lstStyle/>
                    <a:p>
                      <a:pPr marL="139700" indent="0"/>
                      <a:r>
                        <a:rPr lang="vi" sz="1200">
                          <a:latin typeface="Times New Roman"/>
                        </a:rPr>
                        <a:t>{1, 3, 4, 5}</a:t>
                      </a:r>
                    </a:p>
                  </a:txBody>
                  <a:tcPr marL="0" marR="0" marT="0" marB="0" anchor="ctr"/>
                </a:tc>
                <a:tc>
                  <a:txBody>
                    <a:bodyPr/>
                    <a:lstStyle/>
                    <a:p>
                      <a:pPr indent="0" algn="ctr">
                        <a:lnSpc>
                          <a:spcPts val="3864"/>
                        </a:lnSpc>
                      </a:pPr>
                      <a:r>
                        <a:rPr lang="vi" sz="1200">
                          <a:latin typeface="Times New Roman"/>
                        </a:rPr>
                        <a:t>{1, 3, 5} {1, 4, 5}</a:t>
                      </a:r>
                    </a:p>
                  </a:txBody>
                  <a:tcPr marL="0" marR="0" marT="0" marB="0" anchor="ctr"/>
                </a:tc>
                <a:tc>
                  <a:txBody>
                    <a:bodyPr/>
                    <a:lstStyle/>
                    <a:p>
                      <a:pPr indent="0" algn="ctr">
                        <a:spcAft>
                          <a:spcPts val="1680"/>
                        </a:spcAft>
                      </a:pPr>
                      <a:r>
                        <a:rPr lang="vi" sz="1200">
                          <a:latin typeface="Times New Roman"/>
                        </a:rPr>
                        <a:t>Có</a:t>
                      </a:r>
                    </a:p>
                    <a:p>
                      <a:pPr indent="0" algn="ctr"/>
                      <a:r>
                        <a:rPr lang="vi" sz="1200" b="1">
                          <a:latin typeface="Times New Roman"/>
                        </a:rPr>
                        <a:t>KHÔNG</a:t>
                      </a:r>
                    </a:p>
                  </a:txBody>
                  <a:tcPr marL="0" marR="0" marT="0" marB="0" anchor="ctr"/>
                </a:tc>
                <a:tc>
                  <a:txBody>
                    <a:bodyPr/>
                    <a:lstStyle/>
                    <a:p>
                      <a:pPr indent="0" algn="ctr">
                        <a:spcAft>
                          <a:spcPts val="840"/>
                        </a:spcAft>
                      </a:pPr>
                      <a:r>
                        <a:rPr lang="vi" sz="1200" b="1">
                          <a:latin typeface="Times New Roman"/>
                        </a:rPr>
                        <a:t>LOẠI BỎ</a:t>
                      </a:r>
                    </a:p>
                    <a:p>
                      <a:pPr indent="0" algn="ctr"/>
                      <a:r>
                        <a:rPr lang="en-US" sz="1200" b="1">
                          <a:latin typeface="Times New Roman"/>
                        </a:rPr>
                        <a:t>(PRUNE)</a:t>
                      </a:r>
                    </a:p>
                  </a:txBody>
                  <a:tcPr marL="0" marR="0" marT="0" marB="0" anchor="ctr"/>
                </a:tc>
                <a:extLst>
                  <a:ext uri="{0D108BD9-81ED-4DB2-BD59-A6C34878D82A}">
                    <a16:rowId xmlns:a16="http://schemas.microsoft.com/office/drawing/2014/main" val="10010"/>
                  </a:ext>
                </a:extLst>
              </a:tr>
              <a:tr h="490728">
                <a:tc>
                  <a:txBody>
                    <a:bodyPr/>
                    <a:lstStyle/>
                    <a:p>
                      <a:endParaRPr sz="2400"/>
                    </a:p>
                  </a:txBody>
                  <a:tcPr marL="0" marR="0" marT="0" marB="0"/>
                </a:tc>
                <a:tc>
                  <a:txBody>
                    <a:bodyPr/>
                    <a:lstStyle/>
                    <a:p>
                      <a:pPr indent="0" algn="ctr"/>
                      <a:r>
                        <a:rPr lang="vi" sz="1200">
                          <a:latin typeface="Times New Roman"/>
                        </a:rPr>
                        <a:t>{3, 4, 5}</a:t>
                      </a:r>
                    </a:p>
                  </a:txBody>
                  <a:tcPr marL="0" marR="0" marT="0" marB="0" anchor="ctr"/>
                </a:tc>
                <a:tc>
                  <a:txBody>
                    <a:bodyPr/>
                    <a:lstStyle/>
                    <a:p>
                      <a:pPr indent="0" algn="ctr"/>
                      <a:r>
                        <a:rPr lang="vi" sz="1200">
                          <a:latin typeface="Times New Roman"/>
                        </a:rPr>
                        <a:t>Có</a:t>
                      </a:r>
                    </a:p>
                  </a:txBody>
                  <a:tcPr marL="0" marR="0" marT="0" marB="0" anchor="ctr"/>
                </a:tc>
                <a:tc>
                  <a:txBody>
                    <a:bodyPr/>
                    <a:lstStyle/>
                    <a:p>
                      <a:endParaRPr sz="2400"/>
                    </a:p>
                  </a:txBody>
                  <a:tcPr marL="0" marR="0" marT="0" marB="0"/>
                </a:tc>
                <a:extLst>
                  <a:ext uri="{0D108BD9-81ED-4DB2-BD59-A6C34878D82A}">
                    <a16:rowId xmlns:a16="http://schemas.microsoft.com/office/drawing/2014/main" val="10011"/>
                  </a:ext>
                </a:extLst>
              </a:tr>
              <a:tr h="414528">
                <a:tc>
                  <a:txBody>
                    <a:bodyPr/>
                    <a:lstStyle/>
                    <a:p>
                      <a:endParaRPr sz="2000"/>
                    </a:p>
                  </a:txBody>
                  <a:tcPr marL="0" marR="0" marT="0" marB="0"/>
                </a:tc>
                <a:tc>
                  <a:txBody>
                    <a:bodyPr/>
                    <a:lstStyle/>
                    <a:p>
                      <a:pPr indent="0" algn="ctr"/>
                      <a:r>
                        <a:rPr lang="vi" sz="1200">
                          <a:latin typeface="Times New Roman"/>
                        </a:rPr>
                        <a:t>{2, 3, 4}</a:t>
                      </a:r>
                    </a:p>
                  </a:txBody>
                  <a:tcPr marL="0" marR="0" marT="0" marB="0" anchor="ctr"/>
                </a:tc>
                <a:tc>
                  <a:txBody>
                    <a:bodyPr/>
                    <a:lstStyle/>
                    <a:p>
                      <a:pPr indent="0" algn="ctr"/>
                      <a:r>
                        <a:rPr lang="vi" sz="1200">
                          <a:latin typeface="Times New Roman"/>
                        </a:rPr>
                        <a:t>Có</a:t>
                      </a:r>
                    </a:p>
                  </a:txBody>
                  <a:tcPr marL="0" marR="0" marT="0" marB="0" anchor="ctr"/>
                </a:tc>
                <a:tc>
                  <a:txBody>
                    <a:bodyPr/>
                    <a:lstStyle/>
                    <a:p>
                      <a:endParaRPr sz="2000"/>
                    </a:p>
                  </a:txBody>
                  <a:tcPr marL="0" marR="0" marT="0" marB="0"/>
                </a:tc>
                <a:extLst>
                  <a:ext uri="{0D108BD9-81ED-4DB2-BD59-A6C34878D82A}">
                    <a16:rowId xmlns:a16="http://schemas.microsoft.com/office/drawing/2014/main" val="10012"/>
                  </a:ext>
                </a:extLst>
              </a:tr>
              <a:tr h="627888">
                <a:tc>
                  <a:txBody>
                    <a:bodyPr/>
                    <a:lstStyle/>
                    <a:p>
                      <a:pPr marL="139700" indent="0"/>
                      <a:r>
                        <a:rPr lang="vi" sz="1200">
                          <a:latin typeface="Times New Roman"/>
                        </a:rPr>
                        <a:t>{2, 3, 4, 5}</a:t>
                      </a:r>
                    </a:p>
                  </a:txBody>
                  <a:tcPr marL="0" marR="0" marT="0" marB="0" anchor="ctr"/>
                </a:tc>
                <a:tc>
                  <a:txBody>
                    <a:bodyPr/>
                    <a:lstStyle/>
                    <a:p>
                      <a:pPr indent="0" algn="ctr"/>
                      <a:r>
                        <a:rPr lang="vi" sz="1200">
                          <a:latin typeface="Times New Roman"/>
                        </a:rPr>
                        <a:t>{2, 3, 5}</a:t>
                      </a:r>
                    </a:p>
                  </a:txBody>
                  <a:tcPr marL="0" marR="0" marT="0" marB="0" anchor="ctr"/>
                </a:tc>
                <a:tc>
                  <a:txBody>
                    <a:bodyPr/>
                    <a:lstStyle/>
                    <a:p>
                      <a:pPr indent="0" algn="ctr"/>
                      <a:r>
                        <a:rPr lang="vi" sz="1200">
                          <a:latin typeface="Times New Roman"/>
                        </a:rPr>
                        <a:t>Có</a:t>
                      </a:r>
                    </a:p>
                  </a:txBody>
                  <a:tcPr marL="0" marR="0" marT="0" marB="0" anchor="ctr"/>
                </a:tc>
                <a:tc>
                  <a:txBody>
                    <a:bodyPr/>
                    <a:lstStyle/>
                    <a:p>
                      <a:pPr indent="0" algn="ctr">
                        <a:spcAft>
                          <a:spcPts val="840"/>
                        </a:spcAft>
                      </a:pPr>
                      <a:r>
                        <a:rPr lang="vi" sz="1200" b="1">
                          <a:latin typeface="Times New Roman"/>
                        </a:rPr>
                        <a:t>LOẠI BỎ</a:t>
                      </a:r>
                    </a:p>
                    <a:p>
                      <a:pPr indent="0" algn="ctr"/>
                      <a:r>
                        <a:rPr lang="en-US" sz="1200" b="1">
                          <a:latin typeface="Times New Roman"/>
                        </a:rPr>
                        <a:t>(PRUNE)</a:t>
                      </a:r>
                    </a:p>
                  </a:txBody>
                  <a:tcPr marL="0" marR="0" marT="0" marB="0"/>
                </a:tc>
                <a:extLst>
                  <a:ext uri="{0D108BD9-81ED-4DB2-BD59-A6C34878D82A}">
                    <a16:rowId xmlns:a16="http://schemas.microsoft.com/office/drawing/2014/main" val="10013"/>
                  </a:ext>
                </a:extLst>
              </a:tr>
              <a:tr h="265176">
                <a:tc>
                  <a:txBody>
                    <a:bodyPr/>
                    <a:lstStyle/>
                    <a:p>
                      <a:endParaRPr sz="1300"/>
                    </a:p>
                  </a:txBody>
                  <a:tcPr marL="0" marR="0" marT="0" marB="0"/>
                </a:tc>
                <a:tc>
                  <a:txBody>
                    <a:bodyPr/>
                    <a:lstStyle/>
                    <a:p>
                      <a:pPr indent="0" algn="ctr"/>
                      <a:r>
                        <a:rPr lang="vi" sz="1200">
                          <a:latin typeface="Times New Roman"/>
                        </a:rPr>
                        <a:t>{2, 4, 5}</a:t>
                      </a:r>
                    </a:p>
                  </a:txBody>
                  <a:tcPr marL="0" marR="0" marT="0" marB="0" anchor="b"/>
                </a:tc>
                <a:tc>
                  <a:txBody>
                    <a:bodyPr/>
                    <a:lstStyle/>
                    <a:p>
                      <a:pPr indent="0" algn="ctr"/>
                      <a:r>
                        <a:rPr lang="vi" sz="1200" b="1">
                          <a:latin typeface="Times New Roman"/>
                        </a:rPr>
                        <a:t>KHÔNG</a:t>
                      </a:r>
                    </a:p>
                  </a:txBody>
                  <a:tcPr marL="0" marR="0" marT="0" marB="0" anchor="b"/>
                </a:tc>
                <a:tc>
                  <a:txBody>
                    <a:bodyPr/>
                    <a:lstStyle/>
                    <a:p>
                      <a:endParaRPr sz="1300"/>
                    </a:p>
                  </a:txBody>
                  <a:tcPr marL="0" marR="0" marT="0" marB="0"/>
                </a:tc>
                <a:extLst>
                  <a:ext uri="{0D108BD9-81ED-4DB2-BD59-A6C34878D82A}">
                    <a16:rowId xmlns:a16="http://schemas.microsoft.com/office/drawing/2014/main" val="10014"/>
                  </a:ext>
                </a:extLst>
              </a:tr>
            </a:tbl>
          </a:graphicData>
        </a:graphic>
      </p:graphicFrame>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085088" y="722376"/>
          <a:ext cx="4559808" cy="1078992"/>
        </p:xfrm>
        <a:graphic>
          <a:graphicData uri="http://schemas.openxmlformats.org/drawingml/2006/table">
            <a:tbl>
              <a:tblPr/>
              <a:tblGrid>
                <a:gridCol w="96012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862328">
                  <a:extLst>
                    <a:ext uri="{9D8B030D-6E8A-4147-A177-3AD203B41FA5}">
                      <a16:colId xmlns:a16="http://schemas.microsoft.com/office/drawing/2014/main" val="20002"/>
                    </a:ext>
                  </a:extLst>
                </a:gridCol>
              </a:tblGrid>
              <a:tr h="356616">
                <a:tc>
                  <a:txBody>
                    <a:bodyPr/>
                    <a:lstStyle/>
                    <a:p>
                      <a:pPr marL="165100" indent="0"/>
                      <a:r>
                        <a:rPr lang="vi" sz="1200" b="1">
                          <a:latin typeface="Times New Roman"/>
                        </a:rPr>
                        <a:t>Ứng viên</a:t>
                      </a:r>
                    </a:p>
                  </a:txBody>
                  <a:tcPr marL="0" marR="0" marT="0" marB="0" anchor="b"/>
                </a:tc>
                <a:tc>
                  <a:txBody>
                    <a:bodyPr/>
                    <a:lstStyle/>
                    <a:p>
                      <a:pPr indent="0" algn="ctr"/>
                      <a:r>
                        <a:rPr lang="vi" sz="1200" b="1">
                          <a:latin typeface="Times New Roman"/>
                        </a:rPr>
                        <a:t>Các tập con kích</a:t>
                      </a:r>
                    </a:p>
                  </a:txBody>
                  <a:tcPr marL="0" marR="0" marT="0" marB="0" anchor="b"/>
                </a:tc>
                <a:tc>
                  <a:txBody>
                    <a:bodyPr/>
                    <a:lstStyle/>
                    <a:p>
                      <a:pPr marL="114300" indent="0"/>
                      <a:r>
                        <a:rPr lang="vi" sz="1200" b="1">
                          <a:latin typeface="Times New Roman"/>
                        </a:rPr>
                        <a:t>Kiểm tra tồn tại trong</a:t>
                      </a:r>
                    </a:p>
                  </a:txBody>
                  <a:tcPr marL="0" marR="0" marT="0" marB="0" anchor="b"/>
                </a:tc>
                <a:extLst>
                  <a:ext uri="{0D108BD9-81ED-4DB2-BD59-A6C34878D82A}">
                    <a16:rowId xmlns:a16="http://schemas.microsoft.com/office/drawing/2014/main" val="10000"/>
                  </a:ext>
                </a:extLst>
              </a:tr>
              <a:tr h="414528">
                <a:tc>
                  <a:txBody>
                    <a:bodyPr/>
                    <a:lstStyle/>
                    <a:p>
                      <a:pPr indent="0" algn="ctr"/>
                      <a:r>
                        <a:rPr lang="vi" sz="1200" b="1">
                          <a:latin typeface="Times New Roman"/>
                        </a:rPr>
                        <a:t>C</a:t>
                      </a:r>
                      <a:r>
                        <a:rPr lang="vi" sz="800" b="1">
                          <a:latin typeface="Times New Roman"/>
                        </a:rPr>
                        <a:t>4</a:t>
                      </a:r>
                    </a:p>
                  </a:txBody>
                  <a:tcPr marL="0" marR="0" marT="0" marB="0"/>
                </a:tc>
                <a:tc>
                  <a:txBody>
                    <a:bodyPr/>
                    <a:lstStyle/>
                    <a:p>
                      <a:pPr indent="0" algn="ctr"/>
                      <a:r>
                        <a:rPr lang="vi" sz="1200" b="1">
                          <a:latin typeface="Times New Roman"/>
                        </a:rPr>
                        <a:t>thước 3</a:t>
                      </a:r>
                    </a:p>
                  </a:txBody>
                  <a:tcPr marL="0" marR="0" marT="0" marB="0"/>
                </a:tc>
                <a:tc>
                  <a:txBody>
                    <a:bodyPr/>
                    <a:lstStyle/>
                    <a:p>
                      <a:pPr marL="88900" indent="0" algn="ctr"/>
                      <a:r>
                        <a:rPr lang="vi" sz="1200" b="1">
                          <a:latin typeface="Times New Roman"/>
                        </a:rPr>
                        <a:t>F</a:t>
                      </a:r>
                      <a:r>
                        <a:rPr lang="vi" sz="800" b="1">
                          <a:latin typeface="Times New Roman"/>
                        </a:rPr>
                        <a:t>3</a:t>
                      </a:r>
                    </a:p>
                  </a:txBody>
                  <a:tcPr marL="0" marR="0" marT="0" marB="0"/>
                </a:tc>
                <a:extLst>
                  <a:ext uri="{0D108BD9-81ED-4DB2-BD59-A6C34878D82A}">
                    <a16:rowId xmlns:a16="http://schemas.microsoft.com/office/drawing/2014/main" val="10001"/>
                  </a:ext>
                </a:extLst>
              </a:tr>
              <a:tr h="307848">
                <a:tc>
                  <a:txBody>
                    <a:bodyPr/>
                    <a:lstStyle/>
                    <a:p>
                      <a:endParaRPr sz="1500"/>
                    </a:p>
                  </a:txBody>
                  <a:tcPr marL="0" marR="0" marT="0" marB="0"/>
                </a:tc>
                <a:tc>
                  <a:txBody>
                    <a:bodyPr/>
                    <a:lstStyle/>
                    <a:p>
                      <a:pPr indent="0" algn="ctr"/>
                      <a:r>
                        <a:rPr lang="vi" sz="1200">
                          <a:latin typeface="Times New Roman"/>
                        </a:rPr>
                        <a:t>{3, 4, 5}</a:t>
                      </a:r>
                    </a:p>
                  </a:txBody>
                  <a:tcPr marL="0" marR="0" marT="0" marB="0" anchor="b"/>
                </a:tc>
                <a:tc>
                  <a:txBody>
                    <a:bodyPr/>
                    <a:lstStyle/>
                    <a:p>
                      <a:pPr marL="88900" indent="0" algn="ctr"/>
                      <a:r>
                        <a:rPr lang="vi" sz="1200">
                          <a:latin typeface="Times New Roman"/>
                        </a:rPr>
                        <a:t>Có</a:t>
                      </a:r>
                    </a:p>
                  </a:txBody>
                  <a:tcPr marL="0" marR="0" marT="0" marB="0" anchor="b"/>
                </a:tc>
                <a:extLst>
                  <a:ext uri="{0D108BD9-81ED-4DB2-BD59-A6C34878D82A}">
                    <a16:rowId xmlns:a16="http://schemas.microsoft.com/office/drawing/2014/main" val="10002"/>
                  </a:ext>
                </a:extLst>
              </a:tr>
            </a:tbl>
          </a:graphicData>
        </a:graphic>
      </p:graphicFrame>
      <p:sp>
        <p:nvSpPr>
          <p:cNvPr id="3" name="Rectangle 2"/>
          <p:cNvSpPr/>
          <p:nvPr/>
        </p:nvSpPr>
        <p:spPr>
          <a:xfrm>
            <a:off x="1066800" y="1972056"/>
            <a:ext cx="3130296" cy="789432"/>
          </a:xfrm>
          <a:prstGeom prst="rect">
            <a:avLst/>
          </a:prstGeom>
        </p:spPr>
        <p:txBody>
          <a:bodyPr lIns="0" tIns="0" rIns="0" bIns="0">
            <a:noAutofit/>
          </a:bodyPr>
          <a:lstStyle/>
          <a:p>
            <a:pPr indent="0" algn="just">
              <a:lnSpc>
                <a:spcPts val="2208"/>
              </a:lnSpc>
            </a:pPr>
            <a:r>
              <a:rPr lang="vi" sz="1200" b="1" dirty="0" smtClean="0">
                <a:latin typeface="Times New Roman"/>
              </a:rPr>
              <a:t>Kết </a:t>
            </a:r>
            <a:r>
              <a:rPr lang="vi" sz="1200" b="1" dirty="0">
                <a:latin typeface="Times New Roman"/>
              </a:rPr>
              <a:t>quả cuối cùng (các tập ứng viên hợp lệ):</a:t>
            </a:r>
          </a:p>
          <a:p>
            <a:pPr indent="0" algn="just">
              <a:lnSpc>
                <a:spcPts val="2208"/>
              </a:lnSpc>
            </a:pPr>
            <a:r>
              <a:rPr lang="vi" sz="1200" dirty="0">
                <a:latin typeface="Times New Roman"/>
              </a:rPr>
              <a:t>1.    {1, 2, 3, 4}</a:t>
            </a:r>
          </a:p>
          <a:p>
            <a:pPr indent="0" algn="just">
              <a:lnSpc>
                <a:spcPts val="2208"/>
              </a:lnSpc>
            </a:pPr>
            <a:r>
              <a:rPr lang="vi" sz="1200" dirty="0">
                <a:latin typeface="Times New Roman"/>
              </a:rPr>
              <a:t>2.    {1, 2, 3, 5}</a:t>
            </a:r>
          </a:p>
        </p:txBody>
      </p:sp>
      <p:sp>
        <p:nvSpPr>
          <p:cNvPr id="4" name="Rectangle 3"/>
          <p:cNvSpPr/>
          <p:nvPr/>
        </p:nvSpPr>
        <p:spPr>
          <a:xfrm>
            <a:off x="5980176" y="957072"/>
            <a:ext cx="630936" cy="222504"/>
          </a:xfrm>
          <a:prstGeom prst="rect">
            <a:avLst/>
          </a:prstGeom>
        </p:spPr>
        <p:txBody>
          <a:bodyPr wrap="none" lIns="0" tIns="0" rIns="0" bIns="0">
            <a:noAutofit/>
          </a:bodyPr>
          <a:lstStyle/>
          <a:p>
            <a:pPr indent="0"/>
            <a:r>
              <a:rPr lang="vi" sz="1200" b="1">
                <a:latin typeface="Times New Roman"/>
              </a:rPr>
              <a:t>Kết luận</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6863</Words>
  <Application>Microsoft Office PowerPoint</Application>
  <PresentationFormat>Custom</PresentationFormat>
  <Paragraphs>1015</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Tam Nguyen</dc:creator>
  <cp:keywords/>
  <cp:lastModifiedBy>Tam Nguyen</cp:lastModifiedBy>
  <cp:revision>1</cp:revision>
  <dcterms:modified xsi:type="dcterms:W3CDTF">2025-12-23T04:09:13Z</dcterms:modified>
</cp:coreProperties>
</file>